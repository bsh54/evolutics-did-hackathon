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notesSlide+xml" PartName="/ppt/notesSlides/notesSlide3.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21"/>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Lst>
  <p:sldSz cx="18288000" cy="10287000"/>
  <p:notesSz cx="6858000" cy="9144000"/>
  <p:embeddedFontLst>
    <p:embeddedFont>
      <p:font typeface="Trebuchet MS Bold Italics" charset="1" panose="020B0703020202090204"/>
      <p:regular r:id="rId18"/>
    </p:embeddedFont>
    <p:embeddedFont>
      <p:font typeface="Trebuchet MS" charset="1" panose="020B0603020202020204"/>
      <p:regular r:id="rId19"/>
    </p:embeddedFont>
    <p:embeddedFont>
      <p:font typeface="Arial Italics" charset="1" panose="020B0604020202090204"/>
      <p:regular r:id="rId20"/>
    </p:embeddedFont>
    <p:embeddedFont>
      <p:font typeface="Trebuchet MS Italics" charset="1" panose="020B0603020202090204"/>
      <p:regular r:id="rId24"/>
    </p:embeddedFont>
    <p:embeddedFont>
      <p:font typeface="Trebuchet MS Bold" charset="1" panose="020B0703020202020204"/>
      <p:regular r:id="rId2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notesMasters/notesMaster1.xml" Type="http://schemas.openxmlformats.org/officeDocument/2006/relationships/notesMaster"/><Relationship Id="rId22" Target="theme/theme2.xml" Type="http://schemas.openxmlformats.org/officeDocument/2006/relationships/theme"/><Relationship Id="rId23" Target="notesSlides/notesSlide1.xml" Type="http://schemas.openxmlformats.org/officeDocument/2006/relationships/notesSlide"/><Relationship Id="rId24" Target="fonts/font24.fntdata" Type="http://schemas.openxmlformats.org/officeDocument/2006/relationships/font"/><Relationship Id="rId25" Target="fonts/font25.fntdata" Type="http://schemas.openxmlformats.org/officeDocument/2006/relationships/font"/><Relationship Id="rId26" Target="notesSlides/notesSlide2.xml" Type="http://schemas.openxmlformats.org/officeDocument/2006/relationships/notesSlide"/><Relationship Id="rId27" Target="notesSlides/notesSlide3.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2.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8.xml" Type="http://schemas.openxmlformats.org/officeDocument/2006/relationships/slide"/></Relationships>
</file>

<file path=ppt/notesSlides/_rels/notesSlide3.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9.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1.7.2013</a:t>
            </a:r>
          </a:p>
          <a:p>
            <a:r>
              <a:rPr lang="en-US"/>
              <a:t/>
            </a:r>
          </a:p>
          <a:p>
            <a:r>
              <a:rPr lang="en-US"/>
              <a:t/>
            </a:r>
          </a:p>
          <a:p>
            <a:r>
              <a:rPr lang="en-US"/>
              <a:t/>
            </a:r>
          </a:p>
          <a:p>
            <a:r>
              <a:rPr lang="en-US"/>
              <a:t>‹#›</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png" Type="http://schemas.openxmlformats.org/officeDocument/2006/relationships/image"/><Relationship Id="rId5" Target="../media/image4.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5.png" Type="http://schemas.openxmlformats.org/officeDocument/2006/relationships/image"/><Relationship Id="rId4" Target="../media/image6.jpeg" Type="http://schemas.openxmlformats.org/officeDocument/2006/relationships/image"/><Relationship Id="rId5" Target="../media/image4.jpeg" Type="http://schemas.openxmlformats.org/officeDocument/2006/relationships/image"/><Relationship Id="rId6" Target="../media/image7.png" Type="http://schemas.openxmlformats.org/officeDocument/2006/relationships/image"/><Relationship Id="rId7" Target="../media/image8.jpeg" Type="http://schemas.openxmlformats.org/officeDocument/2006/relationships/image"/><Relationship Id="rId8" Target="../media/image9.jpeg" Type="http://schemas.openxmlformats.org/officeDocument/2006/relationships/image"/><Relationship Id="rId9" Target="../media/image10.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7.svg" Type="http://schemas.openxmlformats.org/officeDocument/2006/relationships/image"/><Relationship Id="rId11" Target="../media/image18.png" Type="http://schemas.openxmlformats.org/officeDocument/2006/relationships/image"/><Relationship Id="rId12" Target="../media/image19.png" Type="http://schemas.openxmlformats.org/officeDocument/2006/relationships/image"/><Relationship Id="rId13" Target="../media/image20.svg" Type="http://schemas.openxmlformats.org/officeDocument/2006/relationships/image"/><Relationship Id="rId2" Target="../notesSlides/notesSlide2.xml" Type="http://schemas.openxmlformats.org/officeDocument/2006/relationships/notesSlide"/><Relationship Id="rId3" Target="../media/image6.jpeg" Type="http://schemas.openxmlformats.org/officeDocument/2006/relationships/image"/><Relationship Id="rId4" Target="../media/image4.jpe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4.png" Type="http://schemas.openxmlformats.org/officeDocument/2006/relationships/image"/><Relationship Id="rId8" Target="../media/image15.svg" Type="http://schemas.openxmlformats.org/officeDocument/2006/relationships/image"/><Relationship Id="rId9" Target="../media/image16.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3.xml" Type="http://schemas.openxmlformats.org/officeDocument/2006/relationships/notesSlid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1.jpe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2.jpeg" Type="http://schemas.openxmlformats.org/officeDocument/2006/relationships/image"/><Relationship Id="rId3" Target="../media/image23.png" Type="http://schemas.openxmlformats.org/officeDocument/2006/relationships/image"/><Relationship Id="rId4" Target="../media/image4.jpe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5135"/>
            <a:ext cx="18295839" cy="10302135"/>
            <a:chOff x="0" y="0"/>
            <a:chExt cx="24394452" cy="13736180"/>
          </a:xfrm>
        </p:grpSpPr>
        <p:sp>
          <p:nvSpPr>
            <p:cNvPr name="Freeform 3" id="3"/>
            <p:cNvSpPr/>
            <p:nvPr/>
          </p:nvSpPr>
          <p:spPr>
            <a:xfrm flipH="false" flipV="false" rot="0">
              <a:off x="0" y="0"/>
              <a:ext cx="24394413" cy="13736193"/>
            </a:xfrm>
            <a:custGeom>
              <a:avLst/>
              <a:gdLst/>
              <a:ahLst/>
              <a:cxnLst/>
              <a:rect r="r" b="b" t="t" l="l"/>
              <a:pathLst>
                <a:path h="13736193" w="24394413">
                  <a:moveTo>
                    <a:pt x="0" y="0"/>
                  </a:moveTo>
                  <a:lnTo>
                    <a:pt x="24394413" y="0"/>
                  </a:lnTo>
                  <a:lnTo>
                    <a:pt x="24394413" y="13736193"/>
                  </a:lnTo>
                  <a:lnTo>
                    <a:pt x="0" y="13736193"/>
                  </a:lnTo>
                  <a:lnTo>
                    <a:pt x="0" y="0"/>
                  </a:lnTo>
                  <a:close/>
                </a:path>
              </a:pathLst>
            </a:custGeom>
            <a:blipFill>
              <a:blip r:embed="rId2"/>
              <a:stretch>
                <a:fillRect l="0" t="0" r="-26" b="0"/>
              </a:stretch>
            </a:blipFill>
          </p:spPr>
        </p:sp>
      </p:grpSp>
      <p:grpSp>
        <p:nvGrpSpPr>
          <p:cNvPr name="Group 4" id="4"/>
          <p:cNvGrpSpPr/>
          <p:nvPr/>
        </p:nvGrpSpPr>
        <p:grpSpPr>
          <a:xfrm rot="0">
            <a:off x="10179644" y="8720928"/>
            <a:ext cx="2845822" cy="802862"/>
            <a:chOff x="0" y="0"/>
            <a:chExt cx="3794430" cy="1070483"/>
          </a:xfrm>
        </p:grpSpPr>
        <p:sp>
          <p:nvSpPr>
            <p:cNvPr name="Freeform 5" id="5"/>
            <p:cNvSpPr/>
            <p:nvPr/>
          </p:nvSpPr>
          <p:spPr>
            <a:xfrm flipH="false" flipV="false" rot="0">
              <a:off x="0" y="0"/>
              <a:ext cx="3794379" cy="1070483"/>
            </a:xfrm>
            <a:custGeom>
              <a:avLst/>
              <a:gdLst/>
              <a:ahLst/>
              <a:cxnLst/>
              <a:rect r="r" b="b" t="t" l="l"/>
              <a:pathLst>
                <a:path h="1070483" w="3794379">
                  <a:moveTo>
                    <a:pt x="0" y="0"/>
                  </a:moveTo>
                  <a:lnTo>
                    <a:pt x="3794379" y="0"/>
                  </a:lnTo>
                  <a:lnTo>
                    <a:pt x="3794379" y="1070483"/>
                  </a:lnTo>
                  <a:lnTo>
                    <a:pt x="0" y="1070483"/>
                  </a:lnTo>
                  <a:lnTo>
                    <a:pt x="0" y="0"/>
                  </a:lnTo>
                  <a:close/>
                </a:path>
              </a:pathLst>
            </a:custGeom>
            <a:blipFill>
              <a:blip r:embed="rId3"/>
              <a:stretch>
                <a:fillRect l="0" t="0" r="-1" b="0"/>
              </a:stretch>
            </a:blipFill>
          </p:spPr>
        </p:sp>
      </p:grpSp>
      <p:grpSp>
        <p:nvGrpSpPr>
          <p:cNvPr name="Group 6" id="6"/>
          <p:cNvGrpSpPr/>
          <p:nvPr/>
        </p:nvGrpSpPr>
        <p:grpSpPr>
          <a:xfrm rot="0">
            <a:off x="13658793" y="8338385"/>
            <a:ext cx="1418577" cy="1179471"/>
            <a:chOff x="0" y="0"/>
            <a:chExt cx="1891436" cy="1572628"/>
          </a:xfrm>
        </p:grpSpPr>
        <p:sp>
          <p:nvSpPr>
            <p:cNvPr name="Freeform 7" id="7"/>
            <p:cNvSpPr/>
            <p:nvPr/>
          </p:nvSpPr>
          <p:spPr>
            <a:xfrm flipH="false" flipV="false" rot="0">
              <a:off x="0" y="0"/>
              <a:ext cx="1891411" cy="1572641"/>
            </a:xfrm>
            <a:custGeom>
              <a:avLst/>
              <a:gdLst/>
              <a:ahLst/>
              <a:cxnLst/>
              <a:rect r="r" b="b" t="t" l="l"/>
              <a:pathLst>
                <a:path h="1572641" w="1891411">
                  <a:moveTo>
                    <a:pt x="0" y="0"/>
                  </a:moveTo>
                  <a:lnTo>
                    <a:pt x="1891411" y="0"/>
                  </a:lnTo>
                  <a:lnTo>
                    <a:pt x="1891411" y="1572641"/>
                  </a:lnTo>
                  <a:lnTo>
                    <a:pt x="0" y="1572641"/>
                  </a:lnTo>
                  <a:lnTo>
                    <a:pt x="0" y="0"/>
                  </a:lnTo>
                  <a:close/>
                </a:path>
              </a:pathLst>
            </a:custGeom>
            <a:blipFill>
              <a:blip r:embed="rId4"/>
              <a:stretch>
                <a:fillRect l="0" t="0" r="-1" b="0"/>
              </a:stretch>
            </a:blipFill>
          </p:spPr>
        </p:sp>
      </p:grpSp>
      <p:sp>
        <p:nvSpPr>
          <p:cNvPr name="AutoShape 8" id="8"/>
          <p:cNvSpPr/>
          <p:nvPr/>
        </p:nvSpPr>
        <p:spPr>
          <a:xfrm rot="5373840">
            <a:off x="14768370" y="8892216"/>
            <a:ext cx="1251318" cy="0"/>
          </a:xfrm>
          <a:prstGeom prst="line">
            <a:avLst/>
          </a:prstGeom>
          <a:ln cap="rnd" w="9525">
            <a:solidFill>
              <a:srgbClr val="D1D3D4"/>
            </a:solidFill>
            <a:prstDash val="solid"/>
            <a:headEnd type="none" len="sm" w="sm"/>
            <a:tailEnd type="none" len="sm" w="sm"/>
          </a:ln>
        </p:spPr>
      </p:sp>
      <p:sp>
        <p:nvSpPr>
          <p:cNvPr name="AutoShape 9" id="9"/>
          <p:cNvSpPr/>
          <p:nvPr/>
        </p:nvSpPr>
        <p:spPr>
          <a:xfrm rot="5373840">
            <a:off x="12716466" y="8892216"/>
            <a:ext cx="1251318" cy="0"/>
          </a:xfrm>
          <a:prstGeom prst="line">
            <a:avLst/>
          </a:prstGeom>
          <a:ln cap="rnd" w="9525">
            <a:solidFill>
              <a:srgbClr val="D1D3D4"/>
            </a:solidFill>
            <a:prstDash val="solid"/>
            <a:headEnd type="none" len="sm" w="sm"/>
            <a:tailEnd type="none" len="sm" w="sm"/>
          </a:ln>
        </p:spPr>
      </p:sp>
      <p:grpSp>
        <p:nvGrpSpPr>
          <p:cNvPr name="Group 10" id="10"/>
          <p:cNvGrpSpPr/>
          <p:nvPr/>
        </p:nvGrpSpPr>
        <p:grpSpPr>
          <a:xfrm rot="0">
            <a:off x="797890" y="6858000"/>
            <a:ext cx="8346110" cy="1308287"/>
            <a:chOff x="0" y="0"/>
            <a:chExt cx="11128146" cy="1744382"/>
          </a:xfrm>
        </p:grpSpPr>
        <p:sp>
          <p:nvSpPr>
            <p:cNvPr name="Freeform 11" id="11"/>
            <p:cNvSpPr/>
            <p:nvPr/>
          </p:nvSpPr>
          <p:spPr>
            <a:xfrm flipH="false" flipV="false" rot="0">
              <a:off x="0" y="0"/>
              <a:ext cx="11128142" cy="1744381"/>
            </a:xfrm>
            <a:custGeom>
              <a:avLst/>
              <a:gdLst/>
              <a:ahLst/>
              <a:cxnLst/>
              <a:rect r="r" b="b" t="t" l="l"/>
              <a:pathLst>
                <a:path h="1744381" w="11128142">
                  <a:moveTo>
                    <a:pt x="0" y="0"/>
                  </a:moveTo>
                  <a:lnTo>
                    <a:pt x="11128142" y="0"/>
                  </a:lnTo>
                  <a:lnTo>
                    <a:pt x="11128142" y="1744381"/>
                  </a:lnTo>
                  <a:lnTo>
                    <a:pt x="0" y="1744381"/>
                  </a:lnTo>
                  <a:close/>
                </a:path>
              </a:pathLst>
            </a:custGeom>
            <a:blipFill>
              <a:blip r:embed="rId5">
                <a:alphaModFix amt="0"/>
              </a:blip>
              <a:stretch>
                <a:fillRect l="0" t="-74303" r="0" b="-74303"/>
              </a:stretch>
            </a:blipFill>
          </p:spPr>
        </p:sp>
        <p:sp>
          <p:nvSpPr>
            <p:cNvPr name="TextBox 12" id="12"/>
            <p:cNvSpPr txBox="true"/>
            <p:nvPr/>
          </p:nvSpPr>
          <p:spPr>
            <a:xfrm>
              <a:off x="0" y="38100"/>
              <a:ext cx="11128146" cy="1706282"/>
            </a:xfrm>
            <a:prstGeom prst="rect">
              <a:avLst/>
            </a:prstGeom>
          </p:spPr>
          <p:txBody>
            <a:bodyPr anchor="b" rtlCol="false" tIns="0" lIns="0" bIns="0" rIns="0"/>
            <a:lstStyle/>
            <a:p>
              <a:pPr algn="l">
                <a:lnSpc>
                  <a:spcPts val="4536"/>
                </a:lnSpc>
              </a:pPr>
              <a:r>
                <a:rPr lang="en-US" b="true" sz="4200" i="true">
                  <a:solidFill>
                    <a:srgbClr val="FFFFFF"/>
                  </a:solidFill>
                  <a:latin typeface="Trebuchet MS Bold Italics"/>
                  <a:ea typeface="Trebuchet MS Bold Italics"/>
                  <a:cs typeface="Trebuchet MS Bold Italics"/>
                  <a:sym typeface="Trebuchet MS Bold Italics"/>
                </a:rPr>
                <a:t>EVOLUTICS</a:t>
              </a:r>
            </a:p>
          </p:txBody>
        </p:sp>
      </p:grpSp>
      <p:grpSp>
        <p:nvGrpSpPr>
          <p:cNvPr name="Group 13" id="13"/>
          <p:cNvGrpSpPr/>
          <p:nvPr/>
        </p:nvGrpSpPr>
        <p:grpSpPr>
          <a:xfrm rot="0">
            <a:off x="797890" y="8166286"/>
            <a:ext cx="8346110" cy="1764059"/>
            <a:chOff x="0" y="0"/>
            <a:chExt cx="11128146" cy="2352078"/>
          </a:xfrm>
        </p:grpSpPr>
        <p:sp>
          <p:nvSpPr>
            <p:cNvPr name="Freeform 14" id="14"/>
            <p:cNvSpPr/>
            <p:nvPr/>
          </p:nvSpPr>
          <p:spPr>
            <a:xfrm flipH="false" flipV="false" rot="0">
              <a:off x="0" y="0"/>
              <a:ext cx="11128142" cy="2352078"/>
            </a:xfrm>
            <a:custGeom>
              <a:avLst/>
              <a:gdLst/>
              <a:ahLst/>
              <a:cxnLst/>
              <a:rect r="r" b="b" t="t" l="l"/>
              <a:pathLst>
                <a:path h="2352078" w="11128142">
                  <a:moveTo>
                    <a:pt x="0" y="0"/>
                  </a:moveTo>
                  <a:lnTo>
                    <a:pt x="11128142" y="0"/>
                  </a:lnTo>
                  <a:lnTo>
                    <a:pt x="11128142" y="2352078"/>
                  </a:lnTo>
                  <a:lnTo>
                    <a:pt x="0" y="2352078"/>
                  </a:lnTo>
                  <a:close/>
                </a:path>
              </a:pathLst>
            </a:custGeom>
            <a:blipFill>
              <a:blip r:embed="rId5">
                <a:alphaModFix amt="0"/>
              </a:blip>
              <a:stretch>
                <a:fillRect l="0" t="-67241" r="0" b="-17133"/>
              </a:stretch>
            </a:blipFill>
          </p:spPr>
        </p:sp>
        <p:sp>
          <p:nvSpPr>
            <p:cNvPr name="TextBox 15" id="15"/>
            <p:cNvSpPr txBox="true"/>
            <p:nvPr/>
          </p:nvSpPr>
          <p:spPr>
            <a:xfrm>
              <a:off x="0" y="38100"/>
              <a:ext cx="11128146" cy="2313978"/>
            </a:xfrm>
            <a:prstGeom prst="rect">
              <a:avLst/>
            </a:prstGeom>
          </p:spPr>
          <p:txBody>
            <a:bodyPr anchor="b" rtlCol="false" tIns="0" lIns="0" bIns="0" rIns="0"/>
            <a:lstStyle/>
            <a:p>
              <a:pPr algn="l">
                <a:lnSpc>
                  <a:spcPts val="4195"/>
                </a:lnSpc>
              </a:pPr>
              <a:r>
                <a:rPr lang="en-US" sz="3885">
                  <a:solidFill>
                    <a:srgbClr val="FFFFFF"/>
                  </a:solidFill>
                  <a:latin typeface="Trebuchet MS"/>
                  <a:ea typeface="Trebuchet MS"/>
                  <a:cs typeface="Trebuchet MS"/>
                  <a:sym typeface="Trebuchet MS"/>
                </a:rPr>
                <a:t>Une</a:t>
              </a:r>
              <a:r>
                <a:rPr lang="en-US" sz="3885">
                  <a:solidFill>
                    <a:srgbClr val="FFFFFF"/>
                  </a:solidFill>
                  <a:latin typeface="Trebuchet MS"/>
                  <a:ea typeface="Trebuchet MS"/>
                  <a:cs typeface="Trebuchet MS"/>
                  <a:sym typeface="Trebuchet MS"/>
                </a:rPr>
                <a:t> solution d’identité numérique pour l’agriculture et l’inclusion financière</a:t>
              </a:r>
            </a:p>
          </p:txBody>
        </p:sp>
      </p:grpSp>
      <p:sp>
        <p:nvSpPr>
          <p:cNvPr name="TextBox 16" id="16"/>
          <p:cNvSpPr txBox="true"/>
          <p:nvPr/>
        </p:nvSpPr>
        <p:spPr>
          <a:xfrm rot="0">
            <a:off x="9803482" y="2545632"/>
            <a:ext cx="5453863" cy="897084"/>
          </a:xfrm>
          <a:prstGeom prst="rect">
            <a:avLst/>
          </a:prstGeom>
        </p:spPr>
        <p:txBody>
          <a:bodyPr anchor="t" rtlCol="false" tIns="0" lIns="0" bIns="0" rIns="0">
            <a:spAutoFit/>
          </a:bodyPr>
          <a:lstStyle/>
          <a:p>
            <a:pPr algn="l">
              <a:lnSpc>
                <a:spcPts val="3240"/>
              </a:lnSpc>
            </a:pPr>
            <a:r>
              <a:rPr lang="en-US" sz="2700" i="true">
                <a:solidFill>
                  <a:srgbClr val="000000"/>
                </a:solidFill>
                <a:latin typeface="Arial Italics"/>
                <a:ea typeface="Arial Italics"/>
                <a:cs typeface="Arial Italics"/>
                <a:sym typeface="Arial Italics"/>
              </a:rPr>
              <a:t>A title image will appear here. </a:t>
            </a:r>
          </a:p>
          <a:p>
            <a:pPr algn="l">
              <a:lnSpc>
                <a:spcPts val="3240"/>
              </a:lnSpc>
            </a:pPr>
            <a:r>
              <a:rPr lang="en-US" sz="2700" i="true">
                <a:solidFill>
                  <a:srgbClr val="000000"/>
                </a:solidFill>
                <a:latin typeface="Arial Italics"/>
                <a:ea typeface="Arial Italics"/>
                <a:cs typeface="Arial Italics"/>
                <a:sym typeface="Arial Italics"/>
              </a:rPr>
              <a:t>Don’t worry about this space</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4140">
            <a:off x="650110" y="9570596"/>
            <a:ext cx="11861930" cy="9525"/>
            <a:chOff x="0" y="0"/>
            <a:chExt cx="15815907" cy="12700"/>
          </a:xfrm>
        </p:grpSpPr>
        <p:sp>
          <p:nvSpPr>
            <p:cNvPr name="Freeform 3" id="3"/>
            <p:cNvSpPr/>
            <p:nvPr/>
          </p:nvSpPr>
          <p:spPr>
            <a:xfrm flipH="false" flipV="false" rot="0">
              <a:off x="0" y="0"/>
              <a:ext cx="15815945" cy="12700"/>
            </a:xfrm>
            <a:custGeom>
              <a:avLst/>
              <a:gdLst/>
              <a:ahLst/>
              <a:cxnLst/>
              <a:rect r="r" b="b" t="t" l="l"/>
              <a:pathLst>
                <a:path h="12700" w="15815945">
                  <a:moveTo>
                    <a:pt x="6350" y="0"/>
                  </a:moveTo>
                  <a:lnTo>
                    <a:pt x="15809595" y="0"/>
                  </a:lnTo>
                  <a:cubicBezTo>
                    <a:pt x="15813151" y="0"/>
                    <a:pt x="15815945" y="2794"/>
                    <a:pt x="15815945" y="6350"/>
                  </a:cubicBezTo>
                  <a:cubicBezTo>
                    <a:pt x="15815945" y="9906"/>
                    <a:pt x="15813151" y="12700"/>
                    <a:pt x="15809595" y="12700"/>
                  </a:cubicBezTo>
                  <a:lnTo>
                    <a:pt x="6350" y="12700"/>
                  </a:lnTo>
                  <a:cubicBezTo>
                    <a:pt x="2794" y="12700"/>
                    <a:pt x="0" y="9906"/>
                    <a:pt x="0" y="6350"/>
                  </a:cubicBezTo>
                  <a:cubicBezTo>
                    <a:pt x="0" y="2794"/>
                    <a:pt x="2794" y="0"/>
                    <a:pt x="6350" y="0"/>
                  </a:cubicBezTo>
                  <a:close/>
                </a:path>
              </a:pathLst>
            </a:custGeom>
            <a:solidFill>
              <a:srgbClr val="284181"/>
            </a:solidFill>
          </p:spPr>
        </p:sp>
      </p:grpSp>
      <p:grpSp>
        <p:nvGrpSpPr>
          <p:cNvPr name="Group 4" id="4"/>
          <p:cNvGrpSpPr/>
          <p:nvPr/>
        </p:nvGrpSpPr>
        <p:grpSpPr>
          <a:xfrm rot="10020">
            <a:off x="12682004" y="9570596"/>
            <a:ext cx="4898631" cy="9525"/>
            <a:chOff x="0" y="0"/>
            <a:chExt cx="6531508" cy="12700"/>
          </a:xfrm>
        </p:grpSpPr>
        <p:sp>
          <p:nvSpPr>
            <p:cNvPr name="Freeform 5" id="5"/>
            <p:cNvSpPr/>
            <p:nvPr/>
          </p:nvSpPr>
          <p:spPr>
            <a:xfrm flipH="false" flipV="false" rot="0">
              <a:off x="0" y="0"/>
              <a:ext cx="6531483" cy="12700"/>
            </a:xfrm>
            <a:custGeom>
              <a:avLst/>
              <a:gdLst/>
              <a:ahLst/>
              <a:cxnLst/>
              <a:rect r="r" b="b" t="t" l="l"/>
              <a:pathLst>
                <a:path h="12700" w="6531483">
                  <a:moveTo>
                    <a:pt x="6350" y="0"/>
                  </a:moveTo>
                  <a:lnTo>
                    <a:pt x="6525133" y="0"/>
                  </a:lnTo>
                  <a:cubicBezTo>
                    <a:pt x="6528689" y="0"/>
                    <a:pt x="6531483" y="2794"/>
                    <a:pt x="6531483" y="6350"/>
                  </a:cubicBezTo>
                  <a:cubicBezTo>
                    <a:pt x="6531483" y="9906"/>
                    <a:pt x="6528689" y="12700"/>
                    <a:pt x="6525133" y="12700"/>
                  </a:cubicBezTo>
                  <a:lnTo>
                    <a:pt x="6350" y="12700"/>
                  </a:lnTo>
                  <a:cubicBezTo>
                    <a:pt x="2794" y="12700"/>
                    <a:pt x="0" y="9906"/>
                    <a:pt x="0" y="6350"/>
                  </a:cubicBezTo>
                  <a:cubicBezTo>
                    <a:pt x="0" y="2794"/>
                    <a:pt x="2794" y="0"/>
                    <a:pt x="6350" y="0"/>
                  </a:cubicBezTo>
                  <a:close/>
                </a:path>
              </a:pathLst>
            </a:custGeom>
            <a:solidFill>
              <a:srgbClr val="00BFDF"/>
            </a:solidFill>
          </p:spPr>
        </p:sp>
      </p:grpSp>
      <p:grpSp>
        <p:nvGrpSpPr>
          <p:cNvPr name="Group 6" id="6"/>
          <p:cNvGrpSpPr/>
          <p:nvPr/>
        </p:nvGrpSpPr>
        <p:grpSpPr>
          <a:xfrm rot="0">
            <a:off x="749322" y="3741877"/>
            <a:ext cx="3165729" cy="4312348"/>
            <a:chOff x="0" y="0"/>
            <a:chExt cx="4220972" cy="5749798"/>
          </a:xfrm>
        </p:grpSpPr>
        <p:sp>
          <p:nvSpPr>
            <p:cNvPr name="Freeform 7" id="7"/>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8" id="8"/>
          <p:cNvGrpSpPr/>
          <p:nvPr/>
        </p:nvGrpSpPr>
        <p:grpSpPr>
          <a:xfrm rot="0">
            <a:off x="1065581" y="4064003"/>
            <a:ext cx="2533269" cy="2582323"/>
            <a:chOff x="0" y="0"/>
            <a:chExt cx="3377692" cy="3443097"/>
          </a:xfrm>
        </p:grpSpPr>
        <p:sp>
          <p:nvSpPr>
            <p:cNvPr name="Freeform 9" id="9"/>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3"/>
              <a:stretch>
                <a:fillRect l="0" t="-23575" r="0" b="-23575"/>
              </a:stretch>
            </a:blipFill>
          </p:spPr>
        </p:sp>
      </p:grpSp>
      <p:grpSp>
        <p:nvGrpSpPr>
          <p:cNvPr name="Group 10" id="10"/>
          <p:cNvGrpSpPr/>
          <p:nvPr/>
        </p:nvGrpSpPr>
        <p:grpSpPr>
          <a:xfrm rot="0">
            <a:off x="968169" y="6849694"/>
            <a:ext cx="2728055" cy="458314"/>
            <a:chOff x="0" y="0"/>
            <a:chExt cx="3637407" cy="611086"/>
          </a:xfrm>
        </p:grpSpPr>
        <p:sp>
          <p:nvSpPr>
            <p:cNvPr name="Freeform 11" id="11"/>
            <p:cNvSpPr/>
            <p:nvPr/>
          </p:nvSpPr>
          <p:spPr>
            <a:xfrm flipH="false" flipV="false" rot="0">
              <a:off x="0" y="0"/>
              <a:ext cx="3637407" cy="611124"/>
            </a:xfrm>
            <a:custGeom>
              <a:avLst/>
              <a:gdLst/>
              <a:ahLst/>
              <a:cxnLst/>
              <a:rect r="r" b="b" t="t" l="l"/>
              <a:pathLst>
                <a:path h="611124" w="3637407">
                  <a:moveTo>
                    <a:pt x="0" y="0"/>
                  </a:moveTo>
                  <a:lnTo>
                    <a:pt x="3637407" y="0"/>
                  </a:lnTo>
                  <a:lnTo>
                    <a:pt x="3637407" y="611124"/>
                  </a:lnTo>
                  <a:lnTo>
                    <a:pt x="0" y="611124"/>
                  </a:lnTo>
                  <a:close/>
                </a:path>
              </a:pathLst>
            </a:custGeom>
            <a:blipFill>
              <a:blip r:embed="rId4">
                <a:alphaModFix amt="0"/>
              </a:blip>
              <a:stretch>
                <a:fillRect l="0" t="-65897" r="0" b="-65889"/>
              </a:stretch>
            </a:blipFill>
          </p:spPr>
        </p:sp>
      </p:grpSp>
      <p:grpSp>
        <p:nvGrpSpPr>
          <p:cNvPr name="Group 12" id="12"/>
          <p:cNvGrpSpPr/>
          <p:nvPr/>
        </p:nvGrpSpPr>
        <p:grpSpPr>
          <a:xfrm rot="0">
            <a:off x="968169" y="6835407"/>
            <a:ext cx="2728055" cy="472602"/>
            <a:chOff x="0" y="0"/>
            <a:chExt cx="3637407" cy="630136"/>
          </a:xfrm>
        </p:grpSpPr>
        <p:sp>
          <p:nvSpPr>
            <p:cNvPr name="Freeform 13" id="13"/>
            <p:cNvSpPr/>
            <p:nvPr/>
          </p:nvSpPr>
          <p:spPr>
            <a:xfrm flipH="false" flipV="false" rot="0">
              <a:off x="0" y="0"/>
              <a:ext cx="3637407" cy="630133"/>
            </a:xfrm>
            <a:custGeom>
              <a:avLst/>
              <a:gdLst/>
              <a:ahLst/>
              <a:cxnLst/>
              <a:rect r="r" b="b" t="t" l="l"/>
              <a:pathLst>
                <a:path h="630133" w="3637407">
                  <a:moveTo>
                    <a:pt x="0" y="0"/>
                  </a:moveTo>
                  <a:lnTo>
                    <a:pt x="3637407" y="0"/>
                  </a:lnTo>
                  <a:lnTo>
                    <a:pt x="3637407" y="630133"/>
                  </a:lnTo>
                  <a:lnTo>
                    <a:pt x="0" y="630133"/>
                  </a:lnTo>
                  <a:close/>
                </a:path>
              </a:pathLst>
            </a:custGeom>
            <a:blipFill>
              <a:blip r:embed="rId5">
                <a:alphaModFix amt="0"/>
              </a:blip>
              <a:stretch>
                <a:fillRect l="0" t="-62476" r="0" b="-62476"/>
              </a:stretch>
            </a:blipFill>
          </p:spPr>
        </p:sp>
        <p:sp>
          <p:nvSpPr>
            <p:cNvPr name="TextBox 14" id="14"/>
            <p:cNvSpPr txBox="true"/>
            <p:nvPr/>
          </p:nvSpPr>
          <p:spPr>
            <a:xfrm>
              <a:off x="0" y="-19050"/>
              <a:ext cx="3637407" cy="649186"/>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BESSANH Shadrak</a:t>
              </a:r>
            </a:p>
          </p:txBody>
        </p:sp>
      </p:grpSp>
      <p:grpSp>
        <p:nvGrpSpPr>
          <p:cNvPr name="Group 15" id="15"/>
          <p:cNvGrpSpPr/>
          <p:nvPr/>
        </p:nvGrpSpPr>
        <p:grpSpPr>
          <a:xfrm rot="0">
            <a:off x="4231338" y="3741877"/>
            <a:ext cx="3165729" cy="4312348"/>
            <a:chOff x="0" y="0"/>
            <a:chExt cx="4220972" cy="5749798"/>
          </a:xfrm>
        </p:grpSpPr>
        <p:sp>
          <p:nvSpPr>
            <p:cNvPr name="Freeform 16" id="16"/>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17" id="17"/>
          <p:cNvGrpSpPr/>
          <p:nvPr/>
        </p:nvGrpSpPr>
        <p:grpSpPr>
          <a:xfrm rot="0">
            <a:off x="4450185" y="6849694"/>
            <a:ext cx="2728055" cy="458314"/>
            <a:chOff x="0" y="0"/>
            <a:chExt cx="3637407" cy="611086"/>
          </a:xfrm>
        </p:grpSpPr>
        <p:sp>
          <p:nvSpPr>
            <p:cNvPr name="Freeform 18" id="18"/>
            <p:cNvSpPr/>
            <p:nvPr/>
          </p:nvSpPr>
          <p:spPr>
            <a:xfrm flipH="false" flipV="false" rot="0">
              <a:off x="0" y="0"/>
              <a:ext cx="3637407" cy="611124"/>
            </a:xfrm>
            <a:custGeom>
              <a:avLst/>
              <a:gdLst/>
              <a:ahLst/>
              <a:cxnLst/>
              <a:rect r="r" b="b" t="t" l="l"/>
              <a:pathLst>
                <a:path h="611124" w="3637407">
                  <a:moveTo>
                    <a:pt x="0" y="0"/>
                  </a:moveTo>
                  <a:lnTo>
                    <a:pt x="3637407" y="0"/>
                  </a:lnTo>
                  <a:lnTo>
                    <a:pt x="3637407" y="611124"/>
                  </a:lnTo>
                  <a:lnTo>
                    <a:pt x="0" y="611124"/>
                  </a:lnTo>
                  <a:close/>
                </a:path>
              </a:pathLst>
            </a:custGeom>
            <a:blipFill>
              <a:blip r:embed="rId4">
                <a:alphaModFix amt="0"/>
              </a:blip>
              <a:stretch>
                <a:fillRect l="0" t="-65897" r="0" b="-65889"/>
              </a:stretch>
            </a:blipFill>
          </p:spPr>
        </p:sp>
      </p:grpSp>
      <p:grpSp>
        <p:nvGrpSpPr>
          <p:cNvPr name="Group 19" id="19"/>
          <p:cNvGrpSpPr/>
          <p:nvPr/>
        </p:nvGrpSpPr>
        <p:grpSpPr>
          <a:xfrm rot="0">
            <a:off x="4450185" y="6835407"/>
            <a:ext cx="2728055" cy="472602"/>
            <a:chOff x="0" y="0"/>
            <a:chExt cx="3637407" cy="630136"/>
          </a:xfrm>
        </p:grpSpPr>
        <p:sp>
          <p:nvSpPr>
            <p:cNvPr name="Freeform 20" id="20"/>
            <p:cNvSpPr/>
            <p:nvPr/>
          </p:nvSpPr>
          <p:spPr>
            <a:xfrm flipH="false" flipV="false" rot="0">
              <a:off x="0" y="0"/>
              <a:ext cx="3637407" cy="630133"/>
            </a:xfrm>
            <a:custGeom>
              <a:avLst/>
              <a:gdLst/>
              <a:ahLst/>
              <a:cxnLst/>
              <a:rect r="r" b="b" t="t" l="l"/>
              <a:pathLst>
                <a:path h="630133" w="3637407">
                  <a:moveTo>
                    <a:pt x="0" y="0"/>
                  </a:moveTo>
                  <a:lnTo>
                    <a:pt x="3637407" y="0"/>
                  </a:lnTo>
                  <a:lnTo>
                    <a:pt x="3637407" y="630133"/>
                  </a:lnTo>
                  <a:lnTo>
                    <a:pt x="0" y="630133"/>
                  </a:lnTo>
                  <a:close/>
                </a:path>
              </a:pathLst>
            </a:custGeom>
            <a:blipFill>
              <a:blip r:embed="rId5">
                <a:alphaModFix amt="0"/>
              </a:blip>
              <a:stretch>
                <a:fillRect l="0" t="-62476" r="0" b="-62476"/>
              </a:stretch>
            </a:blipFill>
          </p:spPr>
        </p:sp>
        <p:sp>
          <p:nvSpPr>
            <p:cNvPr name="TextBox 21" id="21"/>
            <p:cNvSpPr txBox="true"/>
            <p:nvPr/>
          </p:nvSpPr>
          <p:spPr>
            <a:xfrm>
              <a:off x="0" y="-19050"/>
              <a:ext cx="3637407" cy="649186"/>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BOUKARI Marlyse</a:t>
              </a:r>
            </a:p>
          </p:txBody>
        </p:sp>
      </p:grpSp>
      <p:grpSp>
        <p:nvGrpSpPr>
          <p:cNvPr name="Group 22" id="22"/>
          <p:cNvGrpSpPr/>
          <p:nvPr/>
        </p:nvGrpSpPr>
        <p:grpSpPr>
          <a:xfrm rot="0">
            <a:off x="7713355" y="3741877"/>
            <a:ext cx="3165729" cy="4312348"/>
            <a:chOff x="0" y="0"/>
            <a:chExt cx="4220972" cy="5749798"/>
          </a:xfrm>
        </p:grpSpPr>
        <p:sp>
          <p:nvSpPr>
            <p:cNvPr name="Freeform 23" id="23"/>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24" id="24"/>
          <p:cNvGrpSpPr/>
          <p:nvPr/>
        </p:nvGrpSpPr>
        <p:grpSpPr>
          <a:xfrm rot="0">
            <a:off x="7932210" y="6849694"/>
            <a:ext cx="2728055" cy="700669"/>
            <a:chOff x="0" y="0"/>
            <a:chExt cx="3637407" cy="934225"/>
          </a:xfrm>
        </p:grpSpPr>
        <p:sp>
          <p:nvSpPr>
            <p:cNvPr name="Freeform 25" id="25"/>
            <p:cNvSpPr/>
            <p:nvPr/>
          </p:nvSpPr>
          <p:spPr>
            <a:xfrm flipH="false" flipV="false" rot="0">
              <a:off x="0" y="0"/>
              <a:ext cx="3637407" cy="934212"/>
            </a:xfrm>
            <a:custGeom>
              <a:avLst/>
              <a:gdLst/>
              <a:ahLst/>
              <a:cxnLst/>
              <a:rect r="r" b="b" t="t" l="l"/>
              <a:pathLst>
                <a:path h="934212" w="3637407">
                  <a:moveTo>
                    <a:pt x="0" y="0"/>
                  </a:moveTo>
                  <a:lnTo>
                    <a:pt x="3637407" y="0"/>
                  </a:lnTo>
                  <a:lnTo>
                    <a:pt x="3637407" y="934212"/>
                  </a:lnTo>
                  <a:lnTo>
                    <a:pt x="0" y="934212"/>
                  </a:lnTo>
                  <a:close/>
                </a:path>
              </a:pathLst>
            </a:custGeom>
            <a:blipFill>
              <a:blip r:embed="rId4">
                <a:alphaModFix amt="0"/>
              </a:blip>
              <a:stretch>
                <a:fillRect l="0" t="-25812" r="0" b="-25812"/>
              </a:stretch>
            </a:blipFill>
          </p:spPr>
        </p:sp>
      </p:grpSp>
      <p:grpSp>
        <p:nvGrpSpPr>
          <p:cNvPr name="Group 26" id="26"/>
          <p:cNvGrpSpPr/>
          <p:nvPr/>
        </p:nvGrpSpPr>
        <p:grpSpPr>
          <a:xfrm rot="0">
            <a:off x="7932210" y="6835407"/>
            <a:ext cx="2728055" cy="714956"/>
            <a:chOff x="0" y="0"/>
            <a:chExt cx="3637407" cy="953275"/>
          </a:xfrm>
        </p:grpSpPr>
        <p:sp>
          <p:nvSpPr>
            <p:cNvPr name="Freeform 27" id="27"/>
            <p:cNvSpPr/>
            <p:nvPr/>
          </p:nvSpPr>
          <p:spPr>
            <a:xfrm flipH="false" flipV="false" rot="0">
              <a:off x="0" y="0"/>
              <a:ext cx="3637407" cy="953269"/>
            </a:xfrm>
            <a:custGeom>
              <a:avLst/>
              <a:gdLst/>
              <a:ahLst/>
              <a:cxnLst/>
              <a:rect r="r" b="b" t="t" l="l"/>
              <a:pathLst>
                <a:path h="953269" w="3637407">
                  <a:moveTo>
                    <a:pt x="0" y="0"/>
                  </a:moveTo>
                  <a:lnTo>
                    <a:pt x="3637407" y="0"/>
                  </a:lnTo>
                  <a:lnTo>
                    <a:pt x="3637407" y="953269"/>
                  </a:lnTo>
                  <a:lnTo>
                    <a:pt x="0" y="953269"/>
                  </a:lnTo>
                  <a:close/>
                </a:path>
              </a:pathLst>
            </a:custGeom>
            <a:blipFill>
              <a:blip r:embed="rId5">
                <a:alphaModFix amt="0"/>
              </a:blip>
              <a:stretch>
                <a:fillRect l="0" t="-24349" r="0" b="-24349"/>
              </a:stretch>
            </a:blipFill>
          </p:spPr>
        </p:sp>
        <p:sp>
          <p:nvSpPr>
            <p:cNvPr name="TextBox 28" id="28"/>
            <p:cNvSpPr txBox="true"/>
            <p:nvPr/>
          </p:nvSpPr>
          <p:spPr>
            <a:xfrm>
              <a:off x="0" y="-19050"/>
              <a:ext cx="3637407" cy="972325"/>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KAGBAHINTO Dédji Jules Claurèce</a:t>
              </a:r>
            </a:p>
          </p:txBody>
        </p:sp>
      </p:grpSp>
      <p:grpSp>
        <p:nvGrpSpPr>
          <p:cNvPr name="Group 29" id="29"/>
          <p:cNvGrpSpPr/>
          <p:nvPr/>
        </p:nvGrpSpPr>
        <p:grpSpPr>
          <a:xfrm rot="0">
            <a:off x="11195371" y="3741877"/>
            <a:ext cx="3165729" cy="4312348"/>
            <a:chOff x="0" y="0"/>
            <a:chExt cx="4220972" cy="5749798"/>
          </a:xfrm>
        </p:grpSpPr>
        <p:sp>
          <p:nvSpPr>
            <p:cNvPr name="Freeform 30" id="30"/>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31" id="31"/>
          <p:cNvGrpSpPr/>
          <p:nvPr/>
        </p:nvGrpSpPr>
        <p:grpSpPr>
          <a:xfrm rot="0">
            <a:off x="11414227" y="6849694"/>
            <a:ext cx="2728055" cy="700669"/>
            <a:chOff x="0" y="0"/>
            <a:chExt cx="3637407" cy="934225"/>
          </a:xfrm>
        </p:grpSpPr>
        <p:sp>
          <p:nvSpPr>
            <p:cNvPr name="Freeform 32" id="32"/>
            <p:cNvSpPr/>
            <p:nvPr/>
          </p:nvSpPr>
          <p:spPr>
            <a:xfrm flipH="false" flipV="false" rot="0">
              <a:off x="0" y="0"/>
              <a:ext cx="3637407" cy="934212"/>
            </a:xfrm>
            <a:custGeom>
              <a:avLst/>
              <a:gdLst/>
              <a:ahLst/>
              <a:cxnLst/>
              <a:rect r="r" b="b" t="t" l="l"/>
              <a:pathLst>
                <a:path h="934212" w="3637407">
                  <a:moveTo>
                    <a:pt x="0" y="0"/>
                  </a:moveTo>
                  <a:lnTo>
                    <a:pt x="3637407" y="0"/>
                  </a:lnTo>
                  <a:lnTo>
                    <a:pt x="3637407" y="934212"/>
                  </a:lnTo>
                  <a:lnTo>
                    <a:pt x="0" y="934212"/>
                  </a:lnTo>
                  <a:close/>
                </a:path>
              </a:pathLst>
            </a:custGeom>
            <a:blipFill>
              <a:blip r:embed="rId4">
                <a:alphaModFix amt="0"/>
              </a:blip>
              <a:stretch>
                <a:fillRect l="0" t="-25812" r="0" b="-25812"/>
              </a:stretch>
            </a:blipFill>
          </p:spPr>
        </p:sp>
      </p:grpSp>
      <p:grpSp>
        <p:nvGrpSpPr>
          <p:cNvPr name="Group 33" id="33"/>
          <p:cNvGrpSpPr/>
          <p:nvPr/>
        </p:nvGrpSpPr>
        <p:grpSpPr>
          <a:xfrm rot="0">
            <a:off x="11414227" y="6835407"/>
            <a:ext cx="2728055" cy="714956"/>
            <a:chOff x="0" y="0"/>
            <a:chExt cx="3637407" cy="953275"/>
          </a:xfrm>
        </p:grpSpPr>
        <p:sp>
          <p:nvSpPr>
            <p:cNvPr name="Freeform 34" id="34"/>
            <p:cNvSpPr/>
            <p:nvPr/>
          </p:nvSpPr>
          <p:spPr>
            <a:xfrm flipH="false" flipV="false" rot="0">
              <a:off x="0" y="0"/>
              <a:ext cx="3637407" cy="953269"/>
            </a:xfrm>
            <a:custGeom>
              <a:avLst/>
              <a:gdLst/>
              <a:ahLst/>
              <a:cxnLst/>
              <a:rect r="r" b="b" t="t" l="l"/>
              <a:pathLst>
                <a:path h="953269" w="3637407">
                  <a:moveTo>
                    <a:pt x="0" y="0"/>
                  </a:moveTo>
                  <a:lnTo>
                    <a:pt x="3637407" y="0"/>
                  </a:lnTo>
                  <a:lnTo>
                    <a:pt x="3637407" y="953269"/>
                  </a:lnTo>
                  <a:lnTo>
                    <a:pt x="0" y="953269"/>
                  </a:lnTo>
                  <a:close/>
                </a:path>
              </a:pathLst>
            </a:custGeom>
            <a:blipFill>
              <a:blip r:embed="rId5">
                <a:alphaModFix amt="0"/>
              </a:blip>
              <a:stretch>
                <a:fillRect l="0" t="-24349" r="0" b="-24349"/>
              </a:stretch>
            </a:blipFill>
          </p:spPr>
        </p:sp>
        <p:sp>
          <p:nvSpPr>
            <p:cNvPr name="TextBox 35" id="35"/>
            <p:cNvSpPr txBox="true"/>
            <p:nvPr/>
          </p:nvSpPr>
          <p:spPr>
            <a:xfrm>
              <a:off x="0" y="-19050"/>
              <a:ext cx="3637407" cy="972325"/>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HOUEYETONGNON Christelle Divinia</a:t>
              </a:r>
            </a:p>
          </p:txBody>
        </p:sp>
      </p:grpSp>
      <p:grpSp>
        <p:nvGrpSpPr>
          <p:cNvPr name="Group 36" id="36"/>
          <p:cNvGrpSpPr/>
          <p:nvPr/>
        </p:nvGrpSpPr>
        <p:grpSpPr>
          <a:xfrm rot="0">
            <a:off x="14677387" y="3741877"/>
            <a:ext cx="3165729" cy="4312348"/>
            <a:chOff x="0" y="0"/>
            <a:chExt cx="4220972" cy="5749798"/>
          </a:xfrm>
        </p:grpSpPr>
        <p:sp>
          <p:nvSpPr>
            <p:cNvPr name="Freeform 37" id="37"/>
            <p:cNvSpPr/>
            <p:nvPr/>
          </p:nvSpPr>
          <p:spPr>
            <a:xfrm flipH="false" flipV="false" rot="0">
              <a:off x="0" y="0"/>
              <a:ext cx="4220972" cy="5749798"/>
            </a:xfrm>
            <a:custGeom>
              <a:avLst/>
              <a:gdLst/>
              <a:ahLst/>
              <a:cxnLst/>
              <a:rect r="r" b="b" t="t" l="l"/>
              <a:pathLst>
                <a:path h="5749798" w="4220972">
                  <a:moveTo>
                    <a:pt x="0" y="2110486"/>
                  </a:moveTo>
                  <a:cubicBezTo>
                    <a:pt x="0" y="944880"/>
                    <a:pt x="944880" y="0"/>
                    <a:pt x="2110486" y="0"/>
                  </a:cubicBezTo>
                  <a:cubicBezTo>
                    <a:pt x="3276092" y="0"/>
                    <a:pt x="4220972" y="944880"/>
                    <a:pt x="4220972" y="2110486"/>
                  </a:cubicBezTo>
                  <a:lnTo>
                    <a:pt x="4220972" y="3639312"/>
                  </a:lnTo>
                  <a:cubicBezTo>
                    <a:pt x="4220972" y="4804918"/>
                    <a:pt x="3276092" y="5749798"/>
                    <a:pt x="2110486" y="5749798"/>
                  </a:cubicBezTo>
                  <a:cubicBezTo>
                    <a:pt x="944880" y="5749798"/>
                    <a:pt x="0" y="4804918"/>
                    <a:pt x="0" y="3639312"/>
                  </a:cubicBezTo>
                  <a:close/>
                </a:path>
              </a:pathLst>
            </a:custGeom>
            <a:solidFill>
              <a:srgbClr val="E6E7E8"/>
            </a:solidFill>
          </p:spPr>
        </p:sp>
      </p:grpSp>
      <p:grpSp>
        <p:nvGrpSpPr>
          <p:cNvPr name="Group 38" id="38"/>
          <p:cNvGrpSpPr/>
          <p:nvPr/>
        </p:nvGrpSpPr>
        <p:grpSpPr>
          <a:xfrm rot="0">
            <a:off x="14896243" y="6849694"/>
            <a:ext cx="2728055" cy="700669"/>
            <a:chOff x="0" y="0"/>
            <a:chExt cx="3637407" cy="934225"/>
          </a:xfrm>
        </p:grpSpPr>
        <p:sp>
          <p:nvSpPr>
            <p:cNvPr name="Freeform 39" id="39"/>
            <p:cNvSpPr/>
            <p:nvPr/>
          </p:nvSpPr>
          <p:spPr>
            <a:xfrm flipH="false" flipV="false" rot="0">
              <a:off x="0" y="0"/>
              <a:ext cx="3637407" cy="934212"/>
            </a:xfrm>
            <a:custGeom>
              <a:avLst/>
              <a:gdLst/>
              <a:ahLst/>
              <a:cxnLst/>
              <a:rect r="r" b="b" t="t" l="l"/>
              <a:pathLst>
                <a:path h="934212" w="3637407">
                  <a:moveTo>
                    <a:pt x="0" y="0"/>
                  </a:moveTo>
                  <a:lnTo>
                    <a:pt x="3637407" y="0"/>
                  </a:lnTo>
                  <a:lnTo>
                    <a:pt x="3637407" y="934212"/>
                  </a:lnTo>
                  <a:lnTo>
                    <a:pt x="0" y="934212"/>
                  </a:lnTo>
                  <a:close/>
                </a:path>
              </a:pathLst>
            </a:custGeom>
            <a:blipFill>
              <a:blip r:embed="rId4">
                <a:alphaModFix amt="0"/>
              </a:blip>
              <a:stretch>
                <a:fillRect l="0" t="-25812" r="0" b="-25812"/>
              </a:stretch>
            </a:blipFill>
          </p:spPr>
        </p:sp>
      </p:grpSp>
      <p:grpSp>
        <p:nvGrpSpPr>
          <p:cNvPr name="Group 40" id="40"/>
          <p:cNvGrpSpPr/>
          <p:nvPr/>
        </p:nvGrpSpPr>
        <p:grpSpPr>
          <a:xfrm rot="0">
            <a:off x="14896243" y="6835407"/>
            <a:ext cx="2728055" cy="714956"/>
            <a:chOff x="0" y="0"/>
            <a:chExt cx="3637407" cy="953275"/>
          </a:xfrm>
        </p:grpSpPr>
        <p:sp>
          <p:nvSpPr>
            <p:cNvPr name="Freeform 41" id="41"/>
            <p:cNvSpPr/>
            <p:nvPr/>
          </p:nvSpPr>
          <p:spPr>
            <a:xfrm flipH="false" flipV="false" rot="0">
              <a:off x="0" y="0"/>
              <a:ext cx="3637407" cy="953269"/>
            </a:xfrm>
            <a:custGeom>
              <a:avLst/>
              <a:gdLst/>
              <a:ahLst/>
              <a:cxnLst/>
              <a:rect r="r" b="b" t="t" l="l"/>
              <a:pathLst>
                <a:path h="953269" w="3637407">
                  <a:moveTo>
                    <a:pt x="0" y="0"/>
                  </a:moveTo>
                  <a:lnTo>
                    <a:pt x="3637407" y="0"/>
                  </a:lnTo>
                  <a:lnTo>
                    <a:pt x="3637407" y="953269"/>
                  </a:lnTo>
                  <a:lnTo>
                    <a:pt x="0" y="953269"/>
                  </a:lnTo>
                  <a:close/>
                </a:path>
              </a:pathLst>
            </a:custGeom>
            <a:blipFill>
              <a:blip r:embed="rId5">
                <a:alphaModFix amt="0"/>
              </a:blip>
              <a:stretch>
                <a:fillRect l="0" t="-24349" r="0" b="-24349"/>
              </a:stretch>
            </a:blipFill>
          </p:spPr>
        </p:sp>
        <p:sp>
          <p:nvSpPr>
            <p:cNvPr name="TextBox 42" id="42"/>
            <p:cNvSpPr txBox="true"/>
            <p:nvPr/>
          </p:nvSpPr>
          <p:spPr>
            <a:xfrm>
              <a:off x="0" y="-19050"/>
              <a:ext cx="3637407" cy="972325"/>
            </a:xfrm>
            <a:prstGeom prst="rect">
              <a:avLst/>
            </a:prstGeom>
          </p:spPr>
          <p:txBody>
            <a:bodyPr anchor="ctr" rtlCol="false" tIns="0" lIns="0" bIns="0" rIns="0"/>
            <a:lstStyle/>
            <a:p>
              <a:pPr algn="ctr">
                <a:lnSpc>
                  <a:spcPts val="2520"/>
                </a:lnSpc>
              </a:pPr>
              <a:r>
                <a:rPr lang="en-US" sz="2100" i="true">
                  <a:solidFill>
                    <a:srgbClr val="5A5A5A"/>
                  </a:solidFill>
                  <a:latin typeface="Trebuchet MS Italics"/>
                  <a:ea typeface="Trebuchet MS Italics"/>
                  <a:cs typeface="Trebuchet MS Italics"/>
                  <a:sym typeface="Trebuchet MS Italics"/>
                </a:rPr>
                <a:t>KPEGBE Mahougnon Uriel</a:t>
              </a:r>
            </a:p>
          </p:txBody>
        </p:sp>
      </p:grpSp>
      <p:grpSp>
        <p:nvGrpSpPr>
          <p:cNvPr name="Group 43" id="43"/>
          <p:cNvGrpSpPr/>
          <p:nvPr/>
        </p:nvGrpSpPr>
        <p:grpSpPr>
          <a:xfrm rot="0">
            <a:off x="14142282" y="84392"/>
            <a:ext cx="4107752" cy="944270"/>
            <a:chOff x="0" y="0"/>
            <a:chExt cx="5477002" cy="1259027"/>
          </a:xfrm>
        </p:grpSpPr>
        <p:sp>
          <p:nvSpPr>
            <p:cNvPr name="Freeform 44" id="44"/>
            <p:cNvSpPr/>
            <p:nvPr/>
          </p:nvSpPr>
          <p:spPr>
            <a:xfrm flipH="false" flipV="false" rot="0">
              <a:off x="0" y="0"/>
              <a:ext cx="5477002" cy="1259078"/>
            </a:xfrm>
            <a:custGeom>
              <a:avLst/>
              <a:gdLst/>
              <a:ahLst/>
              <a:cxnLst/>
              <a:rect r="r" b="b" t="t" l="l"/>
              <a:pathLst>
                <a:path h="1259078" w="5477002">
                  <a:moveTo>
                    <a:pt x="0" y="0"/>
                  </a:moveTo>
                  <a:lnTo>
                    <a:pt x="5477002" y="0"/>
                  </a:lnTo>
                  <a:lnTo>
                    <a:pt x="5477002" y="1259078"/>
                  </a:lnTo>
                  <a:lnTo>
                    <a:pt x="0" y="1259078"/>
                  </a:lnTo>
                  <a:close/>
                </a:path>
              </a:pathLst>
            </a:custGeom>
            <a:solidFill>
              <a:srgbClr val="F79333"/>
            </a:solidFill>
          </p:spPr>
        </p:sp>
      </p:grpSp>
      <p:grpSp>
        <p:nvGrpSpPr>
          <p:cNvPr name="Group 45" id="45"/>
          <p:cNvGrpSpPr/>
          <p:nvPr/>
        </p:nvGrpSpPr>
        <p:grpSpPr>
          <a:xfrm rot="0">
            <a:off x="14142282" y="77248"/>
            <a:ext cx="4107771" cy="951452"/>
            <a:chOff x="0" y="0"/>
            <a:chExt cx="5477027" cy="1268603"/>
          </a:xfrm>
        </p:grpSpPr>
        <p:sp>
          <p:nvSpPr>
            <p:cNvPr name="Freeform 46" id="46"/>
            <p:cNvSpPr/>
            <p:nvPr/>
          </p:nvSpPr>
          <p:spPr>
            <a:xfrm flipH="false" flipV="false" rot="0">
              <a:off x="0" y="0"/>
              <a:ext cx="5477028" cy="1268602"/>
            </a:xfrm>
            <a:custGeom>
              <a:avLst/>
              <a:gdLst/>
              <a:ahLst/>
              <a:cxnLst/>
              <a:rect r="r" b="b" t="t" l="l"/>
              <a:pathLst>
                <a:path h="1268602" w="5477028">
                  <a:moveTo>
                    <a:pt x="0" y="0"/>
                  </a:moveTo>
                  <a:lnTo>
                    <a:pt x="5477028" y="0"/>
                  </a:lnTo>
                  <a:lnTo>
                    <a:pt x="5477028" y="1268602"/>
                  </a:lnTo>
                  <a:lnTo>
                    <a:pt x="0" y="1268602"/>
                  </a:lnTo>
                  <a:close/>
                </a:path>
              </a:pathLst>
            </a:custGeom>
            <a:blipFill>
              <a:blip r:embed="rId5">
                <a:alphaModFix amt="0"/>
              </a:blip>
              <a:stretch>
                <a:fillRect l="0" t="-34124" r="0" b="-34124"/>
              </a:stretch>
            </a:blipFill>
          </p:spPr>
        </p:sp>
        <p:sp>
          <p:nvSpPr>
            <p:cNvPr name="TextBox 47" id="47"/>
            <p:cNvSpPr txBox="true"/>
            <p:nvPr/>
          </p:nvSpPr>
          <p:spPr>
            <a:xfrm>
              <a:off x="0" y="-9525"/>
              <a:ext cx="5477027" cy="1278128"/>
            </a:xfrm>
            <a:prstGeom prst="rect">
              <a:avLst/>
            </a:prstGeom>
          </p:spPr>
          <p:txBody>
            <a:bodyPr anchor="ctr" rtlCol="false" tIns="0" lIns="0" bIns="0" rIns="0"/>
            <a:lstStyle/>
            <a:p>
              <a:pPr algn="ctr">
                <a:lnSpc>
                  <a:spcPts val="3240"/>
                </a:lnSpc>
              </a:pPr>
              <a:r>
                <a:rPr lang="en-US" sz="2700">
                  <a:solidFill>
                    <a:srgbClr val="FFFFFF"/>
                  </a:solidFill>
                  <a:latin typeface="Trebuchet MS"/>
                  <a:ea typeface="Trebuchet MS"/>
                  <a:cs typeface="Trebuchet MS"/>
                  <a:sym typeface="Trebuchet MS"/>
                </a:rPr>
                <a:t> Afrique de l'Ouest</a:t>
              </a:r>
            </a:p>
          </p:txBody>
        </p:sp>
      </p:grpSp>
      <p:grpSp>
        <p:nvGrpSpPr>
          <p:cNvPr name="Group 48" id="48"/>
          <p:cNvGrpSpPr/>
          <p:nvPr/>
        </p:nvGrpSpPr>
        <p:grpSpPr>
          <a:xfrm rot="1626000">
            <a:off x="4112438" y="3626320"/>
            <a:ext cx="3411341" cy="3413427"/>
            <a:chOff x="0" y="0"/>
            <a:chExt cx="4548454" cy="4551236"/>
          </a:xfrm>
        </p:grpSpPr>
        <p:sp>
          <p:nvSpPr>
            <p:cNvPr name="Freeform 49" id="49"/>
            <p:cNvSpPr/>
            <p:nvPr/>
          </p:nvSpPr>
          <p:spPr>
            <a:xfrm flipH="false" flipV="false" rot="0">
              <a:off x="0" y="0"/>
              <a:ext cx="4548505" cy="4551172"/>
            </a:xfrm>
            <a:custGeom>
              <a:avLst/>
              <a:gdLst/>
              <a:ahLst/>
              <a:cxnLst/>
              <a:rect r="r" b="b" t="t" l="l"/>
              <a:pathLst>
                <a:path h="4551172" w="4548505">
                  <a:moveTo>
                    <a:pt x="0" y="1538732"/>
                  </a:moveTo>
                  <a:lnTo>
                    <a:pt x="3006852" y="0"/>
                  </a:lnTo>
                  <a:lnTo>
                    <a:pt x="4548505" y="3012567"/>
                  </a:lnTo>
                  <a:lnTo>
                    <a:pt x="1541653" y="4551172"/>
                  </a:lnTo>
                  <a:lnTo>
                    <a:pt x="0" y="1538732"/>
                  </a:lnTo>
                  <a:close/>
                </a:path>
              </a:pathLst>
            </a:custGeom>
            <a:blipFill>
              <a:blip r:embed="rId6"/>
              <a:stretch>
                <a:fillRect l="0" t="-38835" r="1" b="-38836"/>
              </a:stretch>
            </a:blipFill>
          </p:spPr>
        </p:sp>
      </p:grpSp>
      <p:grpSp>
        <p:nvGrpSpPr>
          <p:cNvPr name="Group 50" id="50"/>
          <p:cNvGrpSpPr/>
          <p:nvPr/>
        </p:nvGrpSpPr>
        <p:grpSpPr>
          <a:xfrm rot="0">
            <a:off x="8029613" y="4064003"/>
            <a:ext cx="2533269" cy="2582323"/>
            <a:chOff x="0" y="0"/>
            <a:chExt cx="3377692" cy="3443097"/>
          </a:xfrm>
        </p:grpSpPr>
        <p:sp>
          <p:nvSpPr>
            <p:cNvPr name="Freeform 51" id="51"/>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7"/>
              <a:stretch>
                <a:fillRect l="-26452" t="0" r="-26452" b="0"/>
              </a:stretch>
            </a:blipFill>
          </p:spPr>
        </p:sp>
      </p:grpSp>
      <p:grpSp>
        <p:nvGrpSpPr>
          <p:cNvPr name="Group 52" id="52"/>
          <p:cNvGrpSpPr/>
          <p:nvPr/>
        </p:nvGrpSpPr>
        <p:grpSpPr>
          <a:xfrm rot="0">
            <a:off x="11511639" y="4064003"/>
            <a:ext cx="2533269" cy="2582323"/>
            <a:chOff x="0" y="0"/>
            <a:chExt cx="3377692" cy="3443097"/>
          </a:xfrm>
        </p:grpSpPr>
        <p:sp>
          <p:nvSpPr>
            <p:cNvPr name="Freeform 53" id="53"/>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8"/>
              <a:stretch>
                <a:fillRect l="0" t="-59454" r="0" b="-59454"/>
              </a:stretch>
            </a:blipFill>
          </p:spPr>
        </p:sp>
      </p:grpSp>
      <p:grpSp>
        <p:nvGrpSpPr>
          <p:cNvPr name="Group 54" id="54"/>
          <p:cNvGrpSpPr/>
          <p:nvPr/>
        </p:nvGrpSpPr>
        <p:grpSpPr>
          <a:xfrm rot="0">
            <a:off x="14993655" y="4064003"/>
            <a:ext cx="2533269" cy="2582323"/>
            <a:chOff x="0" y="0"/>
            <a:chExt cx="3377692" cy="3443097"/>
          </a:xfrm>
        </p:grpSpPr>
        <p:sp>
          <p:nvSpPr>
            <p:cNvPr name="Freeform 55" id="55"/>
            <p:cNvSpPr/>
            <p:nvPr/>
          </p:nvSpPr>
          <p:spPr>
            <a:xfrm flipH="false" flipV="false" rot="0">
              <a:off x="0" y="0"/>
              <a:ext cx="3377692" cy="3443097"/>
            </a:xfrm>
            <a:custGeom>
              <a:avLst/>
              <a:gdLst/>
              <a:ahLst/>
              <a:cxnLst/>
              <a:rect r="r" b="b" t="t" l="l"/>
              <a:pathLst>
                <a:path h="3443097" w="3377692">
                  <a:moveTo>
                    <a:pt x="0" y="0"/>
                  </a:moveTo>
                  <a:lnTo>
                    <a:pt x="3377692" y="0"/>
                  </a:lnTo>
                  <a:lnTo>
                    <a:pt x="3377692" y="3443097"/>
                  </a:lnTo>
                  <a:lnTo>
                    <a:pt x="0" y="3443097"/>
                  </a:lnTo>
                  <a:lnTo>
                    <a:pt x="0" y="0"/>
                  </a:lnTo>
                  <a:close/>
                </a:path>
              </a:pathLst>
            </a:custGeom>
            <a:blipFill>
              <a:blip r:embed="rId9"/>
              <a:stretch>
                <a:fillRect l="0" t="-15400" r="0" b="-15400"/>
              </a:stretch>
            </a:blipFill>
          </p:spPr>
        </p:sp>
      </p:grpSp>
      <p:sp>
        <p:nvSpPr>
          <p:cNvPr name="TextBox 56" id="56"/>
          <p:cNvSpPr txBox="true"/>
          <p:nvPr/>
        </p:nvSpPr>
        <p:spPr>
          <a:xfrm rot="0">
            <a:off x="681361" y="9762649"/>
            <a:ext cx="960149" cy="29295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7" id="57"/>
          <p:cNvSpPr txBox="true"/>
          <p:nvPr/>
        </p:nvSpPr>
        <p:spPr>
          <a:xfrm rot="0">
            <a:off x="5261715" y="9861347"/>
            <a:ext cx="7764570" cy="194253"/>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58" id="58"/>
          <p:cNvSpPr txBox="true"/>
          <p:nvPr/>
        </p:nvSpPr>
        <p:spPr>
          <a:xfrm rot="0">
            <a:off x="603371" y="401955"/>
            <a:ext cx="5780332" cy="472440"/>
          </a:xfrm>
          <a:prstGeom prst="rect">
            <a:avLst/>
          </a:prstGeom>
        </p:spPr>
        <p:txBody>
          <a:bodyPr anchor="t" rtlCol="false" tIns="0" lIns="0" bIns="0" rIns="0">
            <a:spAutoFit/>
          </a:bodyPr>
          <a:lstStyle/>
          <a:p>
            <a:pPr algn="l">
              <a:lnSpc>
                <a:spcPts val="3779"/>
              </a:lnSpc>
            </a:pPr>
            <a:r>
              <a:rPr lang="en-US" sz="3499" b="true">
                <a:solidFill>
                  <a:srgbClr val="284181"/>
                </a:solidFill>
                <a:latin typeface="Trebuchet MS Bold"/>
                <a:ea typeface="Trebuchet MS Bold"/>
                <a:cs typeface="Trebuchet MS Bold"/>
                <a:sym typeface="Trebuchet MS Bold"/>
              </a:rPr>
              <a:t>PRÉSENTATION DE L'ÉQUIPE</a:t>
            </a:r>
          </a:p>
        </p:txBody>
      </p:sp>
      <p:sp>
        <p:nvSpPr>
          <p:cNvPr name="TextBox 59" id="59"/>
          <p:cNvSpPr txBox="true"/>
          <p:nvPr/>
        </p:nvSpPr>
        <p:spPr>
          <a:xfrm rot="0">
            <a:off x="2899362" y="1368381"/>
            <a:ext cx="13589137" cy="1337310"/>
          </a:xfrm>
          <a:prstGeom prst="rect">
            <a:avLst/>
          </a:prstGeom>
        </p:spPr>
        <p:txBody>
          <a:bodyPr anchor="t" rtlCol="false" tIns="0" lIns="0" bIns="0" rIns="0">
            <a:spAutoFit/>
          </a:bodyPr>
          <a:lstStyle/>
          <a:p>
            <a:pPr algn="ctr">
              <a:lnSpc>
                <a:spcPts val="4860"/>
              </a:lnSpc>
            </a:pPr>
            <a:r>
              <a:rPr lang="en-US" sz="2700" b="true">
                <a:solidFill>
                  <a:srgbClr val="595959"/>
                </a:solidFill>
                <a:latin typeface="Trebuchet MS Bold"/>
                <a:ea typeface="Trebuchet MS Bold"/>
                <a:cs typeface="Trebuchet MS Bold"/>
                <a:sym typeface="Trebuchet MS Bold"/>
              </a:rPr>
              <a:t> Bénin | EVOLUTICS </a:t>
            </a:r>
          </a:p>
          <a:p>
            <a:pPr algn="ctr">
              <a:lnSpc>
                <a:spcPts val="4860"/>
              </a:lnSpc>
            </a:pPr>
            <a:r>
              <a:rPr lang="en-US" sz="2700" b="true">
                <a:solidFill>
                  <a:srgbClr val="595959"/>
                </a:solidFill>
                <a:latin typeface="Trebuchet MS Bold"/>
                <a:ea typeface="Trebuchet MS Bold"/>
                <a:cs typeface="Trebuchet MS Bold"/>
                <a:sym typeface="Trebuchet MS Bold"/>
              </a:rPr>
              <a:t> Université d'Abomey-Calavi</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603371" y="373380"/>
            <a:ext cx="5222230"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USE CASE INTRODUCTION</a:t>
            </a:r>
          </a:p>
        </p:txBody>
      </p:sp>
      <p:grpSp>
        <p:nvGrpSpPr>
          <p:cNvPr name="Group 6" id="6"/>
          <p:cNvGrpSpPr/>
          <p:nvPr/>
        </p:nvGrpSpPr>
        <p:grpSpPr>
          <a:xfrm rot="0">
            <a:off x="681361" y="1690468"/>
            <a:ext cx="17111682" cy="1853270"/>
            <a:chOff x="0" y="0"/>
            <a:chExt cx="22815575" cy="2471026"/>
          </a:xfrm>
        </p:grpSpPr>
        <p:sp>
          <p:nvSpPr>
            <p:cNvPr name="Freeform 7" id="7"/>
            <p:cNvSpPr/>
            <p:nvPr/>
          </p:nvSpPr>
          <p:spPr>
            <a:xfrm flipH="false" flipV="false" rot="0">
              <a:off x="0" y="0"/>
              <a:ext cx="22815550" cy="2471008"/>
            </a:xfrm>
            <a:custGeom>
              <a:avLst/>
              <a:gdLst/>
              <a:ahLst/>
              <a:cxnLst/>
              <a:rect r="r" b="b" t="t" l="l"/>
              <a:pathLst>
                <a:path h="2471008" w="22815550">
                  <a:moveTo>
                    <a:pt x="0" y="0"/>
                  </a:moveTo>
                  <a:lnTo>
                    <a:pt x="22815550" y="0"/>
                  </a:lnTo>
                  <a:lnTo>
                    <a:pt x="22815550" y="2471008"/>
                  </a:lnTo>
                  <a:lnTo>
                    <a:pt x="0" y="2471008"/>
                  </a:lnTo>
                  <a:close/>
                </a:path>
              </a:pathLst>
            </a:custGeom>
            <a:solidFill>
              <a:srgbClr val="E6E7E8"/>
            </a:solidFill>
          </p:spPr>
        </p:sp>
      </p:grpSp>
      <p:grpSp>
        <p:nvGrpSpPr>
          <p:cNvPr name="Group 8" id="8"/>
          <p:cNvGrpSpPr/>
          <p:nvPr/>
        </p:nvGrpSpPr>
        <p:grpSpPr>
          <a:xfrm rot="0">
            <a:off x="776054" y="1744990"/>
            <a:ext cx="1730912" cy="1634833"/>
            <a:chOff x="0" y="0"/>
            <a:chExt cx="2307882" cy="2179777"/>
          </a:xfrm>
        </p:grpSpPr>
        <p:grpSp>
          <p:nvGrpSpPr>
            <p:cNvPr name="Group 9" id="9"/>
            <p:cNvGrpSpPr/>
            <p:nvPr/>
          </p:nvGrpSpPr>
          <p:grpSpPr>
            <a:xfrm rot="-10800000">
              <a:off x="0" y="0"/>
              <a:ext cx="2307882" cy="2179777"/>
              <a:chOff x="0" y="0"/>
              <a:chExt cx="2307882" cy="2179777"/>
            </a:xfrm>
          </p:grpSpPr>
          <p:sp>
            <p:nvSpPr>
              <p:cNvPr name="Freeform 10" id="10"/>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284181"/>
              </a:solidFill>
            </p:spPr>
          </p:sp>
        </p:grpSp>
        <p:grpSp>
          <p:nvGrpSpPr>
            <p:cNvPr name="Group 11" id="11"/>
            <p:cNvGrpSpPr/>
            <p:nvPr/>
          </p:nvGrpSpPr>
          <p:grpSpPr>
            <a:xfrm rot="0">
              <a:off x="225171" y="273177"/>
              <a:ext cx="1857565" cy="1634833"/>
              <a:chOff x="0" y="0"/>
              <a:chExt cx="1857565" cy="1634833"/>
            </a:xfrm>
          </p:grpSpPr>
          <p:sp>
            <p:nvSpPr>
              <p:cNvPr name="Freeform 12" id="12"/>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13" id="13"/>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284181"/>
                    </a:solidFill>
                    <a:latin typeface="Trebuchet MS Bold"/>
                    <a:ea typeface="Trebuchet MS Bold"/>
                    <a:cs typeface="Trebuchet MS Bold"/>
                    <a:sym typeface="Trebuchet MS Bold"/>
                  </a:rPr>
                  <a:t>01</a:t>
                </a:r>
              </a:p>
            </p:txBody>
          </p:sp>
        </p:grpSp>
      </p:grpSp>
      <p:sp>
        <p:nvSpPr>
          <p:cNvPr name="TextBox 14" id="14"/>
          <p:cNvSpPr txBox="true"/>
          <p:nvPr/>
        </p:nvSpPr>
        <p:spPr>
          <a:xfrm rot="0">
            <a:off x="2614498" y="1884802"/>
            <a:ext cx="15413203" cy="1469898"/>
          </a:xfrm>
          <a:prstGeom prst="rect">
            <a:avLst/>
          </a:prstGeom>
        </p:spPr>
        <p:txBody>
          <a:bodyPr anchor="t" rtlCol="false" tIns="0" lIns="0" bIns="0" rIns="0">
            <a:spAutoFit/>
          </a:bodyPr>
          <a:lstStyle/>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Les producteurs de coton </a:t>
            </a:r>
            <a:r>
              <a:rPr lang="en-US" b="true" sz="2700" i="true">
                <a:solidFill>
                  <a:srgbClr val="284181"/>
                </a:solidFill>
                <a:latin typeface="Trebuchet MS Bold Italics"/>
                <a:ea typeface="Trebuchet MS Bold Italics"/>
                <a:cs typeface="Trebuchet MS Bold Italics"/>
                <a:sym typeface="Trebuchet MS Bold Italics"/>
              </a:rPr>
              <a:t>au Bénin n'ont aucune preuvede leurs transactions et revenus, les rendant vulnérables à la fraude, incapables d'accéder au  crédit, et économiquement invisibles. Cela affecte plus de 300 000 agriculteurs piégés dans la pauvreté malgré leur travail productif.</a:t>
            </a:r>
          </a:p>
        </p:txBody>
      </p:sp>
      <p:grpSp>
        <p:nvGrpSpPr>
          <p:cNvPr name="Group 15" id="15"/>
          <p:cNvGrpSpPr/>
          <p:nvPr/>
        </p:nvGrpSpPr>
        <p:grpSpPr>
          <a:xfrm rot="0">
            <a:off x="511950" y="4040500"/>
            <a:ext cx="17111682" cy="1648906"/>
            <a:chOff x="0" y="0"/>
            <a:chExt cx="22815575" cy="2198541"/>
          </a:xfrm>
        </p:grpSpPr>
        <p:sp>
          <p:nvSpPr>
            <p:cNvPr name="Freeform 16" id="16"/>
            <p:cNvSpPr/>
            <p:nvPr/>
          </p:nvSpPr>
          <p:spPr>
            <a:xfrm flipH="false" flipV="false" rot="0">
              <a:off x="0" y="0"/>
              <a:ext cx="22815550" cy="2198525"/>
            </a:xfrm>
            <a:custGeom>
              <a:avLst/>
              <a:gdLst/>
              <a:ahLst/>
              <a:cxnLst/>
              <a:rect r="r" b="b" t="t" l="l"/>
              <a:pathLst>
                <a:path h="2198525" w="22815550">
                  <a:moveTo>
                    <a:pt x="0" y="0"/>
                  </a:moveTo>
                  <a:lnTo>
                    <a:pt x="22815550" y="0"/>
                  </a:lnTo>
                  <a:lnTo>
                    <a:pt x="22815550" y="2198525"/>
                  </a:lnTo>
                  <a:lnTo>
                    <a:pt x="0" y="2198525"/>
                  </a:lnTo>
                  <a:close/>
                </a:path>
              </a:pathLst>
            </a:custGeom>
            <a:solidFill>
              <a:srgbClr val="E6E7E8"/>
            </a:solidFill>
          </p:spPr>
        </p:sp>
      </p:grpSp>
      <p:grpSp>
        <p:nvGrpSpPr>
          <p:cNvPr name="Group 17" id="17"/>
          <p:cNvGrpSpPr/>
          <p:nvPr/>
        </p:nvGrpSpPr>
        <p:grpSpPr>
          <a:xfrm rot="0">
            <a:off x="681361" y="4054573"/>
            <a:ext cx="1730912" cy="1634833"/>
            <a:chOff x="0" y="0"/>
            <a:chExt cx="2307882" cy="2179777"/>
          </a:xfrm>
        </p:grpSpPr>
        <p:grpSp>
          <p:nvGrpSpPr>
            <p:cNvPr name="Group 18" id="18"/>
            <p:cNvGrpSpPr/>
            <p:nvPr/>
          </p:nvGrpSpPr>
          <p:grpSpPr>
            <a:xfrm rot="-10800000">
              <a:off x="0" y="0"/>
              <a:ext cx="2307882" cy="2179777"/>
              <a:chOff x="0" y="0"/>
              <a:chExt cx="2307882" cy="2179777"/>
            </a:xfrm>
          </p:grpSpPr>
          <p:sp>
            <p:nvSpPr>
              <p:cNvPr name="Freeform 19" id="19"/>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00BFDF"/>
              </a:solidFill>
            </p:spPr>
          </p:sp>
        </p:grpSp>
        <p:grpSp>
          <p:nvGrpSpPr>
            <p:cNvPr name="Group 20" id="20"/>
            <p:cNvGrpSpPr/>
            <p:nvPr/>
          </p:nvGrpSpPr>
          <p:grpSpPr>
            <a:xfrm rot="0">
              <a:off x="225171" y="272466"/>
              <a:ext cx="1857565" cy="1634833"/>
              <a:chOff x="0" y="0"/>
              <a:chExt cx="1857565" cy="1634833"/>
            </a:xfrm>
          </p:grpSpPr>
          <p:sp>
            <p:nvSpPr>
              <p:cNvPr name="Freeform 21" id="21"/>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22" id="22"/>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00BFDF"/>
                    </a:solidFill>
                    <a:latin typeface="Trebuchet MS Bold"/>
                    <a:ea typeface="Trebuchet MS Bold"/>
                    <a:cs typeface="Trebuchet MS Bold"/>
                    <a:sym typeface="Trebuchet MS Bold"/>
                  </a:rPr>
                  <a:t>02</a:t>
                </a:r>
              </a:p>
            </p:txBody>
          </p:sp>
        </p:grpSp>
      </p:grpSp>
      <p:sp>
        <p:nvSpPr>
          <p:cNvPr name="TextBox 23" id="23"/>
          <p:cNvSpPr txBox="true"/>
          <p:nvPr/>
        </p:nvSpPr>
        <p:spPr>
          <a:xfrm rot="0">
            <a:off x="2729674" y="4139529"/>
            <a:ext cx="14529626" cy="1469898"/>
          </a:xfrm>
          <a:prstGeom prst="rect">
            <a:avLst/>
          </a:prstGeom>
        </p:spPr>
        <p:txBody>
          <a:bodyPr anchor="t" rtlCol="false" tIns="0" lIns="0" bIns="0" rIns="0">
            <a:spAutoFit/>
          </a:bodyPr>
          <a:lstStyle/>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 C</a:t>
            </a:r>
            <a:r>
              <a:rPr lang="en-US" b="true" sz="2700" i="true">
                <a:solidFill>
                  <a:srgbClr val="00BFDF"/>
                </a:solidFill>
                <a:latin typeface="Trebuchet MS Bold Italics"/>
                <a:ea typeface="Trebuchet MS Bold Italics"/>
                <a:cs typeface="Trebuchet MS Bold Italics"/>
                <a:sym typeface="Trebuchet MS Bold Italics"/>
              </a:rPr>
              <a:t>ottonPay enregistre chaque vente de coton avec des credentials vérifiables que les agriculteurs peuvent utiliser pour prouver leur historique de revenus, accéder aux</a:t>
            </a:r>
          </a:p>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   services financiers, et garantir une distribution transparente des paiements via les coopératives.</a:t>
            </a:r>
          </a:p>
        </p:txBody>
      </p:sp>
      <p:grpSp>
        <p:nvGrpSpPr>
          <p:cNvPr name="Group 24" id="24"/>
          <p:cNvGrpSpPr/>
          <p:nvPr/>
        </p:nvGrpSpPr>
        <p:grpSpPr>
          <a:xfrm rot="0">
            <a:off x="511950" y="6928461"/>
            <a:ext cx="17111682" cy="1796291"/>
            <a:chOff x="0" y="0"/>
            <a:chExt cx="22815575" cy="2395054"/>
          </a:xfrm>
        </p:grpSpPr>
        <p:sp>
          <p:nvSpPr>
            <p:cNvPr name="Freeform 25" id="25"/>
            <p:cNvSpPr/>
            <p:nvPr/>
          </p:nvSpPr>
          <p:spPr>
            <a:xfrm flipH="false" flipV="false" rot="0">
              <a:off x="0" y="0"/>
              <a:ext cx="22815550" cy="2395036"/>
            </a:xfrm>
            <a:custGeom>
              <a:avLst/>
              <a:gdLst/>
              <a:ahLst/>
              <a:cxnLst/>
              <a:rect r="r" b="b" t="t" l="l"/>
              <a:pathLst>
                <a:path h="2395036" w="22815550">
                  <a:moveTo>
                    <a:pt x="0" y="0"/>
                  </a:moveTo>
                  <a:lnTo>
                    <a:pt x="22815550" y="0"/>
                  </a:lnTo>
                  <a:lnTo>
                    <a:pt x="22815550" y="2395036"/>
                  </a:lnTo>
                  <a:lnTo>
                    <a:pt x="0" y="2395036"/>
                  </a:lnTo>
                  <a:close/>
                </a:path>
              </a:pathLst>
            </a:custGeom>
            <a:solidFill>
              <a:srgbClr val="E6E7E8"/>
            </a:solidFill>
          </p:spPr>
        </p:sp>
      </p:grpSp>
      <p:grpSp>
        <p:nvGrpSpPr>
          <p:cNvPr name="Group 26" id="26"/>
          <p:cNvGrpSpPr/>
          <p:nvPr/>
        </p:nvGrpSpPr>
        <p:grpSpPr>
          <a:xfrm rot="0">
            <a:off x="776054" y="7009190"/>
            <a:ext cx="1730912" cy="1634833"/>
            <a:chOff x="0" y="0"/>
            <a:chExt cx="2307882" cy="2179777"/>
          </a:xfrm>
        </p:grpSpPr>
        <p:grpSp>
          <p:nvGrpSpPr>
            <p:cNvPr name="Group 27" id="27"/>
            <p:cNvGrpSpPr/>
            <p:nvPr/>
          </p:nvGrpSpPr>
          <p:grpSpPr>
            <a:xfrm rot="-10800000">
              <a:off x="0" y="0"/>
              <a:ext cx="2307882" cy="2179777"/>
              <a:chOff x="0" y="0"/>
              <a:chExt cx="2307882" cy="2179777"/>
            </a:xfrm>
          </p:grpSpPr>
          <p:sp>
            <p:nvSpPr>
              <p:cNvPr name="Freeform 28" id="28"/>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5A5A5A"/>
              </a:solidFill>
            </p:spPr>
          </p:sp>
        </p:grpSp>
        <p:grpSp>
          <p:nvGrpSpPr>
            <p:cNvPr name="Group 29" id="29"/>
            <p:cNvGrpSpPr/>
            <p:nvPr/>
          </p:nvGrpSpPr>
          <p:grpSpPr>
            <a:xfrm rot="0">
              <a:off x="225171" y="272466"/>
              <a:ext cx="1857565" cy="1634833"/>
              <a:chOff x="0" y="0"/>
              <a:chExt cx="1857565" cy="1634833"/>
            </a:xfrm>
          </p:grpSpPr>
          <p:sp>
            <p:nvSpPr>
              <p:cNvPr name="Freeform 30" id="30"/>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31" id="31"/>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5A5A5A"/>
                    </a:solidFill>
                    <a:latin typeface="Trebuchet MS Bold"/>
                    <a:ea typeface="Trebuchet MS Bold"/>
                    <a:cs typeface="Trebuchet MS Bold"/>
                    <a:sym typeface="Trebuchet MS Bold"/>
                  </a:rPr>
                  <a:t>03</a:t>
                </a:r>
              </a:p>
            </p:txBody>
          </p:sp>
        </p:grpSp>
      </p:grpSp>
      <p:sp>
        <p:nvSpPr>
          <p:cNvPr name="TextBox 32" id="32"/>
          <p:cNvSpPr txBox="true"/>
          <p:nvPr/>
        </p:nvSpPr>
        <p:spPr>
          <a:xfrm rot="0">
            <a:off x="2752401" y="7282158"/>
            <a:ext cx="14506899" cy="1107948"/>
          </a:xfrm>
          <a:prstGeom prst="rect">
            <a:avLst/>
          </a:prstGeom>
        </p:spPr>
        <p:txBody>
          <a:bodyPr anchor="t" rtlCol="false" tIns="0" lIns="0" bIns="0" rIns="0">
            <a:spAutoFit/>
          </a:bodyPr>
          <a:lstStyle/>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 Les agriculteurs s'authentifient via eSignet  avec leur NPI . Chaque transaction génère un credential vérifiable lié à leur identité numérique, créant un</a:t>
            </a:r>
          </a:p>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   historique économique infalsifiable qu'ils possèdent et contrôlent.</a:t>
            </a:r>
          </a:p>
        </p:txBody>
      </p:sp>
      <p:grpSp>
        <p:nvGrpSpPr>
          <p:cNvPr name="Group 33" id="33"/>
          <p:cNvGrpSpPr/>
          <p:nvPr/>
        </p:nvGrpSpPr>
        <p:grpSpPr>
          <a:xfrm rot="0">
            <a:off x="2614498" y="6379207"/>
            <a:ext cx="137903" cy="139332"/>
            <a:chOff x="0" y="0"/>
            <a:chExt cx="183871" cy="185776"/>
          </a:xfrm>
        </p:grpSpPr>
        <p:sp>
          <p:nvSpPr>
            <p:cNvPr name="Freeform 34" id="34"/>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939598"/>
            </a:solidFill>
          </p:spPr>
        </p:sp>
      </p:grpSp>
    </p:spTree>
  </p:cSld>
  <p:clrMapOvr>
    <a:masterClrMapping/>
  </p:clrMapOvr>
</p:sld>
</file>

<file path=ppt/slides/slide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TextBox 2" id="2"/>
          <p:cNvSpPr txBox="true"/>
          <p:nvPr/>
        </p:nvSpPr>
        <p:spPr>
          <a:xfrm rot="0">
            <a:off x="654877" y="527685"/>
            <a:ext cx="4729758"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ÉNONCÉ DU P</a:t>
            </a:r>
            <a:r>
              <a:rPr lang="en-US" b="true" sz="3499">
                <a:solidFill>
                  <a:srgbClr val="284181"/>
                </a:solidFill>
                <a:latin typeface="Trebuchet MS Bold"/>
                <a:ea typeface="Trebuchet MS Bold"/>
                <a:cs typeface="Trebuchet MS Bold"/>
                <a:sym typeface="Trebuchet MS Bold"/>
              </a:rPr>
              <a:t>ROBLÈME</a:t>
            </a:r>
          </a:p>
        </p:txBody>
      </p:sp>
      <p:sp>
        <p:nvSpPr>
          <p:cNvPr name="TextBox 3" id="3"/>
          <p:cNvSpPr txBox="true"/>
          <p:nvPr/>
        </p:nvSpPr>
        <p:spPr>
          <a:xfrm rot="0">
            <a:off x="460292" y="1383143"/>
            <a:ext cx="17367416" cy="8601075"/>
          </a:xfrm>
          <a:prstGeom prst="rect">
            <a:avLst/>
          </a:prstGeom>
        </p:spPr>
        <p:txBody>
          <a:bodyPr anchor="t" rtlCol="false" tIns="0" lIns="0" bIns="0" rIns="0">
            <a:spAutoFit/>
          </a:bodyPr>
          <a:lstStyle/>
          <a:p>
            <a:pPr algn="l" marL="523491" indent="-261745" lvl="1">
              <a:lnSpc>
                <a:spcPts val="3471"/>
              </a:lnSpc>
              <a:buAutoNum type="arabicPeriod" startAt="1"/>
            </a:pPr>
            <a:r>
              <a:rPr lang="en-US" b="true" sz="2892">
                <a:solidFill>
                  <a:srgbClr val="284181"/>
                </a:solidFill>
                <a:latin typeface="Trebuchet MS Bold"/>
                <a:ea typeface="Trebuchet MS Bold"/>
                <a:cs typeface="Trebuchet MS Bold"/>
                <a:sym typeface="Trebuchet MS Bold"/>
              </a:rPr>
              <a:t> Processus actuel : </a:t>
            </a:r>
            <a:r>
              <a:rPr lang="en-US" sz="2892">
                <a:solidFill>
                  <a:srgbClr val="284181"/>
                </a:solidFill>
                <a:latin typeface="Trebuchet MS"/>
                <a:ea typeface="Trebuchet MS"/>
                <a:cs typeface="Trebuchet MS"/>
                <a:sym typeface="Trebuchet MS"/>
              </a:rPr>
              <a:t>L</a:t>
            </a:r>
            <a:r>
              <a:rPr lang="en-US" sz="2892">
                <a:solidFill>
                  <a:srgbClr val="284181"/>
                </a:solidFill>
                <a:latin typeface="Trebuchet MS"/>
                <a:ea typeface="Trebuchet MS"/>
                <a:cs typeface="Trebuchet MS"/>
                <a:sym typeface="Trebuchet MS"/>
              </a:rPr>
              <a:t>es producteurs de coton au Bénin ne peuv</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nt pa</a:t>
            </a:r>
            <a:r>
              <a:rPr lang="en-US" sz="2892">
                <a:solidFill>
                  <a:srgbClr val="284181"/>
                </a:solidFill>
                <a:latin typeface="Trebuchet MS"/>
                <a:ea typeface="Trebuchet MS"/>
                <a:cs typeface="Trebuchet MS"/>
                <a:sym typeface="Trebuchet MS"/>
              </a:rPr>
              <a:t>s</a:t>
            </a:r>
            <a:r>
              <a:rPr lang="en-US" sz="2892">
                <a:solidFill>
                  <a:srgbClr val="284181"/>
                </a:solidFill>
                <a:latin typeface="Trebuchet MS"/>
                <a:ea typeface="Trebuchet MS"/>
                <a:cs typeface="Trebuchet MS"/>
                <a:sym typeface="Trebuchet MS"/>
              </a:rPr>
              <a:t> p</a:t>
            </a:r>
            <a:r>
              <a:rPr lang="en-US" sz="2892">
                <a:solidFill>
                  <a:srgbClr val="284181"/>
                </a:solidFill>
                <a:latin typeface="Trebuchet MS"/>
                <a:ea typeface="Trebuchet MS"/>
                <a:cs typeface="Trebuchet MS"/>
                <a:sym typeface="Trebuchet MS"/>
              </a:rPr>
              <a:t>ro</a:t>
            </a:r>
            <a:r>
              <a:rPr lang="en-US" sz="2892">
                <a:solidFill>
                  <a:srgbClr val="284181"/>
                </a:solidFill>
                <a:latin typeface="Trebuchet MS"/>
                <a:ea typeface="Trebuchet MS"/>
                <a:cs typeface="Trebuchet MS"/>
                <a:sym typeface="Trebuchet MS"/>
              </a:rPr>
              <a:t>uv</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r</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le</a:t>
            </a:r>
            <a:r>
              <a:rPr lang="en-US" sz="2892">
                <a:solidFill>
                  <a:srgbClr val="284181"/>
                </a:solidFill>
                <a:latin typeface="Trebuchet MS"/>
                <a:ea typeface="Trebuchet MS"/>
                <a:cs typeface="Trebuchet MS"/>
                <a:sym typeface="Trebuchet MS"/>
              </a:rPr>
              <a:t>u</a:t>
            </a:r>
            <a:r>
              <a:rPr lang="en-US" sz="2892">
                <a:solidFill>
                  <a:srgbClr val="284181"/>
                </a:solidFill>
                <a:latin typeface="Trebuchet MS"/>
                <a:ea typeface="Trebuchet MS"/>
                <a:cs typeface="Trebuchet MS"/>
                <a:sym typeface="Trebuchet MS"/>
              </a:rPr>
              <a:t>r</a:t>
            </a:r>
            <a:r>
              <a:rPr lang="en-US" sz="2892">
                <a:solidFill>
                  <a:srgbClr val="284181"/>
                </a:solidFill>
                <a:latin typeface="Trebuchet MS"/>
                <a:ea typeface="Trebuchet MS"/>
                <a:cs typeface="Trebuchet MS"/>
                <a:sym typeface="Trebuchet MS"/>
              </a:rPr>
              <a:t>s</a:t>
            </a:r>
            <a:r>
              <a:rPr lang="en-US" sz="2892">
                <a:solidFill>
                  <a:srgbClr val="284181"/>
                </a:solidFill>
                <a:latin typeface="Trebuchet MS"/>
                <a:ea typeface="Trebuchet MS"/>
                <a:cs typeface="Trebuchet MS"/>
                <a:sym typeface="Trebuchet MS"/>
              </a:rPr>
              <a:t> r</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v</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nu</a:t>
            </a:r>
            <a:r>
              <a:rPr lang="en-US" sz="2892">
                <a:solidFill>
                  <a:srgbClr val="284181"/>
                </a:solidFill>
                <a:latin typeface="Trebuchet MS"/>
                <a:ea typeface="Trebuchet MS"/>
                <a:cs typeface="Trebuchet MS"/>
                <a:sym typeface="Trebuchet MS"/>
              </a:rPr>
              <a:t>s o</a:t>
            </a:r>
            <a:r>
              <a:rPr lang="en-US" sz="2892">
                <a:solidFill>
                  <a:srgbClr val="284181"/>
                </a:solidFill>
                <a:latin typeface="Trebuchet MS"/>
                <a:ea typeface="Trebuchet MS"/>
                <a:cs typeface="Trebuchet MS"/>
                <a:sym typeface="Trebuchet MS"/>
              </a:rPr>
              <a:t>u</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h</a:t>
            </a:r>
            <a:r>
              <a:rPr lang="en-US" sz="2892">
                <a:solidFill>
                  <a:srgbClr val="284181"/>
                </a:solidFill>
                <a:latin typeface="Trebuchet MS"/>
                <a:ea typeface="Trebuchet MS"/>
                <a:cs typeface="Trebuchet MS"/>
                <a:sym typeface="Trebuchet MS"/>
              </a:rPr>
              <a:t>ist</a:t>
            </a:r>
            <a:r>
              <a:rPr lang="en-US" sz="2892">
                <a:solidFill>
                  <a:srgbClr val="284181"/>
                </a:solidFill>
                <a:latin typeface="Trebuchet MS"/>
                <a:ea typeface="Trebuchet MS"/>
                <a:cs typeface="Trebuchet MS"/>
                <a:sym typeface="Trebuchet MS"/>
              </a:rPr>
              <a:t>or</a:t>
            </a:r>
            <a:r>
              <a:rPr lang="en-US" sz="2892">
                <a:solidFill>
                  <a:srgbClr val="284181"/>
                </a:solidFill>
                <a:latin typeface="Trebuchet MS"/>
                <a:ea typeface="Trebuchet MS"/>
                <a:cs typeface="Trebuchet MS"/>
                <a:sym typeface="Trebuchet MS"/>
              </a:rPr>
              <a:t>i</a:t>
            </a:r>
            <a:r>
              <a:rPr lang="en-US" sz="2892">
                <a:solidFill>
                  <a:srgbClr val="284181"/>
                </a:solidFill>
                <a:latin typeface="Trebuchet MS"/>
                <a:ea typeface="Trebuchet MS"/>
                <a:cs typeface="Trebuchet MS"/>
                <a:sym typeface="Trebuchet MS"/>
              </a:rPr>
              <a:t>que de </a:t>
            </a:r>
            <a:r>
              <a:rPr lang="en-US" sz="2892">
                <a:solidFill>
                  <a:srgbClr val="284181"/>
                </a:solidFill>
                <a:latin typeface="Trebuchet MS"/>
                <a:ea typeface="Trebuchet MS"/>
                <a:cs typeface="Trebuchet MS"/>
                <a:sym typeface="Trebuchet MS"/>
              </a:rPr>
              <a:t>t</a:t>
            </a:r>
            <a:r>
              <a:rPr lang="en-US" sz="2892">
                <a:solidFill>
                  <a:srgbClr val="284181"/>
                </a:solidFill>
                <a:latin typeface="Trebuchet MS"/>
                <a:ea typeface="Trebuchet MS"/>
                <a:cs typeface="Trebuchet MS"/>
                <a:sym typeface="Trebuchet MS"/>
              </a:rPr>
              <a:t>ransac</a:t>
            </a:r>
            <a:r>
              <a:rPr lang="en-US" sz="2892">
                <a:solidFill>
                  <a:srgbClr val="284181"/>
                </a:solidFill>
                <a:latin typeface="Trebuchet MS"/>
                <a:ea typeface="Trebuchet MS"/>
                <a:cs typeface="Trebuchet MS"/>
                <a:sym typeface="Trebuchet MS"/>
              </a:rPr>
              <a:t>tions</a:t>
            </a:r>
            <a:r>
              <a:rPr lang="en-US" sz="2892">
                <a:solidFill>
                  <a:srgbClr val="284181"/>
                </a:solidFill>
                <a:latin typeface="Trebuchet MS"/>
                <a:ea typeface="Trebuchet MS"/>
                <a:cs typeface="Trebuchet MS"/>
                <a:sym typeface="Trebuchet MS"/>
              </a:rPr>
              <a:t>,</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l</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s laissa</a:t>
            </a:r>
            <a:r>
              <a:rPr lang="en-US" sz="2892">
                <a:solidFill>
                  <a:srgbClr val="284181"/>
                </a:solidFill>
                <a:latin typeface="Trebuchet MS"/>
                <a:ea typeface="Trebuchet MS"/>
                <a:cs typeface="Trebuchet MS"/>
                <a:sym typeface="Trebuchet MS"/>
              </a:rPr>
              <a:t>nt</a:t>
            </a:r>
            <a:r>
              <a:rPr lang="en-US" sz="2892">
                <a:solidFill>
                  <a:srgbClr val="284181"/>
                </a:solidFill>
                <a:latin typeface="Trebuchet MS"/>
                <a:ea typeface="Trebuchet MS"/>
                <a:cs typeface="Trebuchet MS"/>
                <a:sym typeface="Trebuchet MS"/>
              </a:rPr>
              <a:t> vu</a:t>
            </a:r>
            <a:r>
              <a:rPr lang="en-US" sz="2892">
                <a:solidFill>
                  <a:srgbClr val="284181"/>
                </a:solidFill>
                <a:latin typeface="Trebuchet MS"/>
                <a:ea typeface="Trebuchet MS"/>
                <a:cs typeface="Trebuchet MS"/>
                <a:sym typeface="Trebuchet MS"/>
              </a:rPr>
              <a:t>ln</a:t>
            </a:r>
            <a:r>
              <a:rPr lang="en-US" sz="2892">
                <a:solidFill>
                  <a:srgbClr val="284181"/>
                </a:solidFill>
                <a:latin typeface="Trebuchet MS"/>
                <a:ea typeface="Trebuchet MS"/>
                <a:cs typeface="Trebuchet MS"/>
                <a:sym typeface="Trebuchet MS"/>
              </a:rPr>
              <a:t>érabl</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s à la f</a:t>
            </a:r>
            <a:r>
              <a:rPr lang="en-US" sz="2892">
                <a:solidFill>
                  <a:srgbClr val="284181"/>
                </a:solidFill>
                <a:latin typeface="Trebuchet MS"/>
                <a:ea typeface="Trebuchet MS"/>
                <a:cs typeface="Trebuchet MS"/>
                <a:sym typeface="Trebuchet MS"/>
              </a:rPr>
              <a:t>ra</a:t>
            </a:r>
            <a:r>
              <a:rPr lang="en-US" sz="2892">
                <a:solidFill>
                  <a:srgbClr val="284181"/>
                </a:solidFill>
                <a:latin typeface="Trebuchet MS"/>
                <a:ea typeface="Trebuchet MS"/>
                <a:cs typeface="Trebuchet MS"/>
                <a:sym typeface="Trebuchet MS"/>
              </a:rPr>
              <a:t>ude e</a:t>
            </a:r>
            <a:r>
              <a:rPr lang="en-US" sz="2892">
                <a:solidFill>
                  <a:srgbClr val="284181"/>
                </a:solidFill>
                <a:latin typeface="Trebuchet MS"/>
                <a:ea typeface="Trebuchet MS"/>
                <a:cs typeface="Trebuchet MS"/>
                <a:sym typeface="Trebuchet MS"/>
              </a:rPr>
              <a:t>t e</a:t>
            </a:r>
            <a:r>
              <a:rPr lang="en-US" sz="2892">
                <a:solidFill>
                  <a:srgbClr val="284181"/>
                </a:solidFill>
                <a:latin typeface="Trebuchet MS"/>
                <a:ea typeface="Trebuchet MS"/>
                <a:cs typeface="Trebuchet MS"/>
                <a:sym typeface="Trebuchet MS"/>
              </a:rPr>
              <a:t>xclus</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d</a:t>
            </a:r>
            <a:r>
              <a:rPr lang="en-US" sz="2892">
                <a:solidFill>
                  <a:srgbClr val="284181"/>
                </a:solidFill>
                <a:latin typeface="Trebuchet MS"/>
                <a:ea typeface="Trebuchet MS"/>
                <a:cs typeface="Trebuchet MS"/>
                <a:sym typeface="Trebuchet MS"/>
              </a:rPr>
              <a:t>es ser</a:t>
            </a:r>
            <a:r>
              <a:rPr lang="en-US" sz="2892">
                <a:solidFill>
                  <a:srgbClr val="284181"/>
                </a:solidFill>
                <a:latin typeface="Trebuchet MS"/>
                <a:ea typeface="Trebuchet MS"/>
                <a:cs typeface="Trebuchet MS"/>
                <a:sym typeface="Trebuchet MS"/>
              </a:rPr>
              <a:t>vice</a:t>
            </a:r>
            <a:r>
              <a:rPr lang="en-US" sz="2892">
                <a:solidFill>
                  <a:srgbClr val="284181"/>
                </a:solidFill>
                <a:latin typeface="Trebuchet MS"/>
                <a:ea typeface="Trebuchet MS"/>
                <a:cs typeface="Trebuchet MS"/>
                <a:sym typeface="Trebuchet MS"/>
              </a:rPr>
              <a:t>s fi</a:t>
            </a:r>
            <a:r>
              <a:rPr lang="en-US" sz="2892">
                <a:solidFill>
                  <a:srgbClr val="284181"/>
                </a:solidFill>
                <a:latin typeface="Trebuchet MS"/>
                <a:ea typeface="Trebuchet MS"/>
                <a:cs typeface="Trebuchet MS"/>
                <a:sym typeface="Trebuchet MS"/>
              </a:rPr>
              <a:t>n</a:t>
            </a:r>
            <a:r>
              <a:rPr lang="en-US" sz="2892">
                <a:solidFill>
                  <a:srgbClr val="284181"/>
                </a:solidFill>
                <a:latin typeface="Trebuchet MS"/>
                <a:ea typeface="Trebuchet MS"/>
                <a:cs typeface="Trebuchet MS"/>
                <a:sym typeface="Trebuchet MS"/>
              </a:rPr>
              <a:t>an</a:t>
            </a:r>
            <a:r>
              <a:rPr lang="en-US" sz="2892">
                <a:solidFill>
                  <a:srgbClr val="284181"/>
                </a:solidFill>
                <a:latin typeface="Trebuchet MS"/>
                <a:ea typeface="Trebuchet MS"/>
                <a:cs typeface="Trebuchet MS"/>
                <a:sym typeface="Trebuchet MS"/>
              </a:rPr>
              <a:t>c</a:t>
            </a:r>
            <a:r>
              <a:rPr lang="en-US" sz="2892">
                <a:solidFill>
                  <a:srgbClr val="284181"/>
                </a:solidFill>
                <a:latin typeface="Trebuchet MS"/>
                <a:ea typeface="Trebuchet MS"/>
                <a:cs typeface="Trebuchet MS"/>
                <a:sym typeface="Trebuchet MS"/>
              </a:rPr>
              <a:t>iers .  Les agriculteurs livrent le coton aux coopératives où les transactions sont enregistrées dans des cahiers papier. Les chefs notent manuellement les ventes, les paiements arrivent des mois plus tard en cash , sans reçus ni preuves vérifiables donnés aux agriculteurs.</a:t>
            </a:r>
          </a:p>
          <a:p>
            <a:pPr algn="l">
              <a:lnSpc>
                <a:spcPts val="3231"/>
              </a:lnSpc>
            </a:pPr>
          </a:p>
          <a:p>
            <a:pPr algn="l" marL="523491" indent="-261745" lvl="1">
              <a:lnSpc>
                <a:spcPts val="3471"/>
              </a:lnSpc>
              <a:buAutoNum type="arabicPeriod" startAt="1"/>
            </a:pPr>
            <a:r>
              <a:rPr lang="en-US" b="true" sz="2892">
                <a:solidFill>
                  <a:srgbClr val="284181"/>
                </a:solidFill>
                <a:latin typeface="Trebuchet MS Bold"/>
                <a:ea typeface="Trebuchet MS Bold"/>
                <a:cs typeface="Trebuchet MS Bold"/>
                <a:sym typeface="Trebuchet MS Bold"/>
              </a:rPr>
              <a:t> Obstacles et personnes affectées : </a:t>
            </a:r>
            <a:r>
              <a:rPr lang="en-US" sz="2892">
                <a:solidFill>
                  <a:srgbClr val="284181"/>
                </a:solidFill>
                <a:latin typeface="Trebuchet MS"/>
                <a:ea typeface="Trebuchet MS"/>
                <a:cs typeface="Trebuchet MS"/>
                <a:sym typeface="Trebuchet MS"/>
              </a:rPr>
              <a:t>Les</a:t>
            </a:r>
            <a:r>
              <a:rPr lang="en-US" sz="2892">
                <a:solidFill>
                  <a:srgbClr val="284181"/>
                </a:solidFill>
                <a:latin typeface="Trebuchet MS"/>
                <a:ea typeface="Trebuchet MS"/>
                <a:cs typeface="Trebuchet MS"/>
                <a:sym typeface="Trebuchet MS"/>
              </a:rPr>
              <a:t> agriculteurs analphabètes (60-70%) ne peuvent pas vérifier les registres écrits, n'ont aucune preuve </a:t>
            </a:r>
            <a:r>
              <a:rPr lang="en-US" sz="2892">
                <a:solidFill>
                  <a:srgbClr val="284181"/>
                </a:solidFill>
                <a:latin typeface="Trebuchet MS"/>
                <a:ea typeface="Trebuchet MS"/>
                <a:cs typeface="Trebuchet MS"/>
                <a:sym typeface="Trebuchet MS"/>
              </a:rPr>
              <a:t>de</a:t>
            </a:r>
            <a:r>
              <a:rPr lang="en-US" sz="2892">
                <a:solidFill>
                  <a:srgbClr val="284181"/>
                </a:solidFill>
                <a:latin typeface="Trebuchet MS"/>
                <a:ea typeface="Trebuchet MS"/>
                <a:cs typeface="Trebuchet MS"/>
                <a:sym typeface="Trebuchet MS"/>
              </a:rPr>
              <a:t> reve</a:t>
            </a:r>
            <a:r>
              <a:rPr lang="en-US" sz="2892">
                <a:solidFill>
                  <a:srgbClr val="284181"/>
                </a:solidFill>
                <a:latin typeface="Trebuchet MS"/>
                <a:ea typeface="Trebuchet MS"/>
                <a:cs typeface="Trebuchet MS"/>
                <a:sym typeface="Trebuchet MS"/>
              </a:rPr>
              <a:t>n</a:t>
            </a:r>
            <a:r>
              <a:rPr lang="en-US" sz="2892">
                <a:solidFill>
                  <a:srgbClr val="284181"/>
                </a:solidFill>
                <a:latin typeface="Trebuchet MS"/>
                <a:ea typeface="Trebuchet MS"/>
                <a:cs typeface="Trebuchet MS"/>
                <a:sym typeface="Trebuchet MS"/>
              </a:rPr>
              <a:t>us</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pour</a:t>
            </a:r>
            <a:r>
              <a:rPr lang="en-US" sz="2892">
                <a:solidFill>
                  <a:srgbClr val="284181"/>
                </a:solidFill>
                <a:latin typeface="Trebuchet MS"/>
                <a:ea typeface="Trebuchet MS"/>
                <a:cs typeface="Trebuchet MS"/>
                <a:sym typeface="Trebuchet MS"/>
              </a:rPr>
              <a:t> dem</a:t>
            </a:r>
            <a:r>
              <a:rPr lang="en-US" sz="2892">
                <a:solidFill>
                  <a:srgbClr val="284181"/>
                </a:solidFill>
                <a:latin typeface="Trebuchet MS"/>
                <a:ea typeface="Trebuchet MS"/>
                <a:cs typeface="Trebuchet MS"/>
                <a:sym typeface="Trebuchet MS"/>
              </a:rPr>
              <a:t>ande</a:t>
            </a:r>
            <a:r>
              <a:rPr lang="en-US" sz="2892">
                <a:solidFill>
                  <a:srgbClr val="284181"/>
                </a:solidFill>
                <a:latin typeface="Trebuchet MS"/>
                <a:ea typeface="Trebuchet MS"/>
                <a:cs typeface="Trebuchet MS"/>
                <a:sym typeface="Trebuchet MS"/>
              </a:rPr>
              <a:t>r</a:t>
            </a:r>
            <a:r>
              <a:rPr lang="en-US" sz="2892">
                <a:solidFill>
                  <a:srgbClr val="284181"/>
                </a:solidFill>
                <a:latin typeface="Trebuchet MS"/>
                <a:ea typeface="Trebuchet MS"/>
                <a:cs typeface="Trebuchet MS"/>
                <a:sym typeface="Trebuchet MS"/>
              </a:rPr>
              <a:t> du </a:t>
            </a:r>
            <a:r>
              <a:rPr lang="en-US" sz="2892">
                <a:solidFill>
                  <a:srgbClr val="284181"/>
                </a:solidFill>
                <a:latin typeface="Trebuchet MS"/>
                <a:ea typeface="Trebuchet MS"/>
                <a:cs typeface="Trebuchet MS"/>
                <a:sym typeface="Trebuchet MS"/>
              </a:rPr>
              <a:t>cr</a:t>
            </a:r>
            <a:r>
              <a:rPr lang="en-US" sz="2892">
                <a:solidFill>
                  <a:srgbClr val="284181"/>
                </a:solidFill>
                <a:latin typeface="Trebuchet MS"/>
                <a:ea typeface="Trebuchet MS"/>
                <a:cs typeface="Trebuchet MS"/>
                <a:sym typeface="Trebuchet MS"/>
              </a:rPr>
              <a:t>éd</a:t>
            </a:r>
            <a:r>
              <a:rPr lang="en-US" sz="2892">
                <a:solidFill>
                  <a:srgbClr val="284181"/>
                </a:solidFill>
                <a:latin typeface="Trebuchet MS"/>
                <a:ea typeface="Trebuchet MS"/>
                <a:cs typeface="Trebuchet MS"/>
                <a:sym typeface="Trebuchet MS"/>
              </a:rPr>
              <a:t>i</a:t>
            </a:r>
            <a:r>
              <a:rPr lang="en-US" sz="2892">
                <a:solidFill>
                  <a:srgbClr val="284181"/>
                </a:solidFill>
                <a:latin typeface="Trebuchet MS"/>
                <a:ea typeface="Trebuchet MS"/>
                <a:cs typeface="Trebuchet MS"/>
                <a:sym typeface="Trebuchet MS"/>
              </a:rPr>
              <a:t>t</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et</a:t>
            </a:r>
            <a:r>
              <a:rPr lang="en-US" sz="2892">
                <a:solidFill>
                  <a:srgbClr val="284181"/>
                </a:solidFill>
                <a:latin typeface="Trebuchet MS"/>
                <a:ea typeface="Trebuchet MS"/>
                <a:cs typeface="Trebuchet MS"/>
                <a:sym typeface="Trebuchet MS"/>
              </a:rPr>
              <a:t> s</a:t>
            </a:r>
            <a:r>
              <a:rPr lang="en-US" sz="2892">
                <a:solidFill>
                  <a:srgbClr val="284181"/>
                </a:solidFill>
                <a:latin typeface="Trebuchet MS"/>
                <a:ea typeface="Trebuchet MS"/>
                <a:cs typeface="Trebuchet MS"/>
                <a:sym typeface="Trebuchet MS"/>
              </a:rPr>
              <a:t>ub</a:t>
            </a:r>
            <a:r>
              <a:rPr lang="en-US" sz="2892">
                <a:solidFill>
                  <a:srgbClr val="284181"/>
                </a:solidFill>
                <a:latin typeface="Trebuchet MS"/>
                <a:ea typeface="Trebuchet MS"/>
                <a:cs typeface="Trebuchet MS"/>
                <a:sym typeface="Trebuchet MS"/>
              </a:rPr>
              <a:t>i</a:t>
            </a:r>
            <a:r>
              <a:rPr lang="en-US" sz="2892">
                <a:solidFill>
                  <a:srgbClr val="284181"/>
                </a:solidFill>
                <a:latin typeface="Trebuchet MS"/>
                <a:ea typeface="Trebuchet MS"/>
                <a:cs typeface="Trebuchet MS"/>
                <a:sym typeface="Trebuchet MS"/>
              </a:rPr>
              <a:t>ss</a:t>
            </a:r>
            <a:r>
              <a:rPr lang="en-US" sz="2892">
                <a:solidFill>
                  <a:srgbClr val="284181"/>
                </a:solidFill>
                <a:latin typeface="Trebuchet MS"/>
                <a:ea typeface="Trebuchet MS"/>
                <a:cs typeface="Trebuchet MS"/>
                <a:sym typeface="Trebuchet MS"/>
              </a:rPr>
              <a:t>en</a:t>
            </a:r>
            <a:r>
              <a:rPr lang="en-US" sz="2892">
                <a:solidFill>
                  <a:srgbClr val="284181"/>
                </a:solidFill>
                <a:latin typeface="Trebuchet MS"/>
                <a:ea typeface="Trebuchet MS"/>
                <a:cs typeface="Trebuchet MS"/>
                <a:sym typeface="Trebuchet MS"/>
              </a:rPr>
              <a:t>t</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de</a:t>
            </a:r>
            <a:r>
              <a:rPr lang="en-US" sz="2892">
                <a:solidFill>
                  <a:srgbClr val="284181"/>
                </a:solidFill>
                <a:latin typeface="Trebuchet MS"/>
                <a:ea typeface="Trebuchet MS"/>
                <a:cs typeface="Trebuchet MS"/>
                <a:sym typeface="Trebuchet MS"/>
              </a:rPr>
              <a:t>s </a:t>
            </a:r>
            <a:r>
              <a:rPr lang="en-US" sz="2892">
                <a:solidFill>
                  <a:srgbClr val="284181"/>
                </a:solidFill>
                <a:latin typeface="Trebuchet MS"/>
                <a:ea typeface="Trebuchet MS"/>
                <a:cs typeface="Trebuchet MS"/>
                <a:sym typeface="Trebuchet MS"/>
              </a:rPr>
              <a:t>r</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tar</a:t>
            </a:r>
            <a:r>
              <a:rPr lang="en-US" sz="2892">
                <a:solidFill>
                  <a:srgbClr val="284181"/>
                </a:solidFill>
                <a:latin typeface="Trebuchet MS"/>
                <a:ea typeface="Trebuchet MS"/>
                <a:cs typeface="Trebuchet MS"/>
                <a:sym typeface="Trebuchet MS"/>
              </a:rPr>
              <a:t>d</a:t>
            </a:r>
            <a:r>
              <a:rPr lang="en-US" sz="2892">
                <a:solidFill>
                  <a:srgbClr val="284181"/>
                </a:solidFill>
                <a:latin typeface="Trebuchet MS"/>
                <a:ea typeface="Trebuchet MS"/>
                <a:cs typeface="Trebuchet MS"/>
                <a:sym typeface="Trebuchet MS"/>
              </a:rPr>
              <a:t>s de p</a:t>
            </a:r>
            <a:r>
              <a:rPr lang="en-US" sz="2892">
                <a:solidFill>
                  <a:srgbClr val="284181"/>
                </a:solidFill>
                <a:latin typeface="Trebuchet MS"/>
                <a:ea typeface="Trebuchet MS"/>
                <a:cs typeface="Trebuchet MS"/>
                <a:sym typeface="Trebuchet MS"/>
              </a:rPr>
              <a:t>a</a:t>
            </a:r>
            <a:r>
              <a:rPr lang="en-US" sz="2892">
                <a:solidFill>
                  <a:srgbClr val="284181"/>
                </a:solidFill>
                <a:latin typeface="Trebuchet MS"/>
                <a:ea typeface="Trebuchet MS"/>
                <a:cs typeface="Trebuchet MS"/>
                <a:sym typeface="Trebuchet MS"/>
              </a:rPr>
              <a:t>ieme</a:t>
            </a:r>
            <a:r>
              <a:rPr lang="en-US" sz="2892">
                <a:solidFill>
                  <a:srgbClr val="284181"/>
                </a:solidFill>
                <a:latin typeface="Trebuchet MS"/>
                <a:ea typeface="Trebuchet MS"/>
                <a:cs typeface="Trebuchet MS"/>
                <a:sym typeface="Trebuchet MS"/>
              </a:rPr>
              <a:t>n</a:t>
            </a:r>
            <a:r>
              <a:rPr lang="en-US" sz="2892">
                <a:solidFill>
                  <a:srgbClr val="284181"/>
                </a:solidFill>
                <a:latin typeface="Trebuchet MS"/>
                <a:ea typeface="Trebuchet MS"/>
                <a:cs typeface="Trebuchet MS"/>
                <a:sym typeface="Trebuchet MS"/>
              </a:rPr>
              <a:t>t ou </a:t>
            </a:r>
            <a:r>
              <a:rPr lang="en-US" sz="2892">
                <a:solidFill>
                  <a:srgbClr val="284181"/>
                </a:solidFill>
                <a:latin typeface="Trebuchet MS"/>
                <a:ea typeface="Trebuchet MS"/>
                <a:cs typeface="Trebuchet MS"/>
                <a:sym typeface="Trebuchet MS"/>
              </a:rPr>
              <a:t>de</a:t>
            </a:r>
            <a:r>
              <a:rPr lang="en-US" sz="2892">
                <a:solidFill>
                  <a:srgbClr val="284181"/>
                </a:solidFill>
                <a:latin typeface="Trebuchet MS"/>
                <a:ea typeface="Trebuchet MS"/>
                <a:cs typeface="Trebuchet MS"/>
                <a:sym typeface="Trebuchet MS"/>
              </a:rPr>
              <a:t>s</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v</a:t>
            </a:r>
            <a:r>
              <a:rPr lang="en-US" sz="2892">
                <a:solidFill>
                  <a:srgbClr val="284181"/>
                </a:solidFill>
                <a:latin typeface="Trebuchet MS"/>
                <a:ea typeface="Trebuchet MS"/>
                <a:cs typeface="Trebuchet MS"/>
                <a:sym typeface="Trebuchet MS"/>
              </a:rPr>
              <a:t>o</a:t>
            </a:r>
            <a:r>
              <a:rPr lang="en-US" sz="2892">
                <a:solidFill>
                  <a:srgbClr val="284181"/>
                </a:solidFill>
                <a:latin typeface="Trebuchet MS"/>
                <a:ea typeface="Trebuchet MS"/>
                <a:cs typeface="Trebuchet MS"/>
                <a:sym typeface="Trebuchet MS"/>
              </a:rPr>
              <a:t>ls.</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L'él</a:t>
            </a:r>
            <a:r>
              <a:rPr lang="en-US" sz="2892">
                <a:solidFill>
                  <a:srgbClr val="284181"/>
                </a:solidFill>
                <a:latin typeface="Trebuchet MS"/>
                <a:ea typeface="Trebuchet MS"/>
                <a:cs typeface="Trebuchet MS"/>
                <a:sym typeface="Trebuchet MS"/>
              </a:rPr>
              <a:t>oi</a:t>
            </a:r>
            <a:r>
              <a:rPr lang="en-US" sz="2892">
                <a:solidFill>
                  <a:srgbClr val="284181"/>
                </a:solidFill>
                <a:latin typeface="Trebuchet MS"/>
                <a:ea typeface="Trebuchet MS"/>
                <a:cs typeface="Trebuchet MS"/>
                <a:sym typeface="Trebuchet MS"/>
              </a:rPr>
              <a:t>gneme</a:t>
            </a:r>
            <a:r>
              <a:rPr lang="en-US" sz="2892">
                <a:solidFill>
                  <a:srgbClr val="284181"/>
                </a:solidFill>
                <a:latin typeface="Trebuchet MS"/>
                <a:ea typeface="Trebuchet MS"/>
                <a:cs typeface="Trebuchet MS"/>
                <a:sym typeface="Trebuchet MS"/>
              </a:rPr>
              <a:t>nt </a:t>
            </a:r>
            <a:r>
              <a:rPr lang="en-US" sz="2892">
                <a:solidFill>
                  <a:srgbClr val="284181"/>
                </a:solidFill>
                <a:latin typeface="Trebuchet MS"/>
                <a:ea typeface="Trebuchet MS"/>
                <a:cs typeface="Trebuchet MS"/>
                <a:sym typeface="Trebuchet MS"/>
              </a:rPr>
              <a:t>d</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s</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ba</a:t>
            </a:r>
            <a:r>
              <a:rPr lang="en-US" sz="2892">
                <a:solidFill>
                  <a:srgbClr val="284181"/>
                </a:solidFill>
                <a:latin typeface="Trebuchet MS"/>
                <a:ea typeface="Trebuchet MS"/>
                <a:cs typeface="Trebuchet MS"/>
                <a:sym typeface="Trebuchet MS"/>
              </a:rPr>
              <a:t>n</a:t>
            </a:r>
            <a:r>
              <a:rPr lang="en-US" sz="2892">
                <a:solidFill>
                  <a:srgbClr val="284181"/>
                </a:solidFill>
                <a:latin typeface="Trebuchet MS"/>
                <a:ea typeface="Trebuchet MS"/>
                <a:cs typeface="Trebuchet MS"/>
                <a:sym typeface="Trebuchet MS"/>
              </a:rPr>
              <a:t>q</a:t>
            </a:r>
            <a:r>
              <a:rPr lang="en-US" sz="2892">
                <a:solidFill>
                  <a:srgbClr val="284181"/>
                </a:solidFill>
                <a:latin typeface="Trebuchet MS"/>
                <a:ea typeface="Trebuchet MS"/>
                <a:cs typeface="Trebuchet MS"/>
                <a:sym typeface="Trebuchet MS"/>
              </a:rPr>
              <a:t>ue</a:t>
            </a:r>
            <a:r>
              <a:rPr lang="en-US" sz="2892">
                <a:solidFill>
                  <a:srgbClr val="284181"/>
                </a:solidFill>
                <a:latin typeface="Trebuchet MS"/>
                <a:ea typeface="Trebuchet MS"/>
                <a:cs typeface="Trebuchet MS"/>
                <a:sym typeface="Trebuchet MS"/>
              </a:rPr>
              <a:t>s,</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l</a:t>
            </a:r>
            <a:r>
              <a:rPr lang="en-US" sz="2892">
                <a:solidFill>
                  <a:srgbClr val="284181"/>
                </a:solidFill>
                <a:latin typeface="Trebuchet MS"/>
                <a:ea typeface="Trebuchet MS"/>
                <a:cs typeface="Trebuchet MS"/>
                <a:sym typeface="Trebuchet MS"/>
              </a:rPr>
              <a:t>e </a:t>
            </a:r>
            <a:r>
              <a:rPr lang="en-US" sz="2892">
                <a:solidFill>
                  <a:srgbClr val="284181"/>
                </a:solidFill>
                <a:latin typeface="Trebuchet MS"/>
                <a:ea typeface="Trebuchet MS"/>
                <a:cs typeface="Trebuchet MS"/>
                <a:sym typeface="Trebuchet MS"/>
              </a:rPr>
              <a:t>m</a:t>
            </a:r>
            <a:r>
              <a:rPr lang="en-US" sz="2892">
                <a:solidFill>
                  <a:srgbClr val="284181"/>
                </a:solidFill>
                <a:latin typeface="Trebuchet MS"/>
                <a:ea typeface="Trebuchet MS"/>
                <a:cs typeface="Trebuchet MS"/>
                <a:sym typeface="Trebuchet MS"/>
              </a:rPr>
              <a:t>a</a:t>
            </a:r>
            <a:r>
              <a:rPr lang="en-US" sz="2892">
                <a:solidFill>
                  <a:srgbClr val="284181"/>
                </a:solidFill>
                <a:latin typeface="Trebuchet MS"/>
                <a:ea typeface="Trebuchet MS"/>
                <a:cs typeface="Trebuchet MS"/>
                <a:sym typeface="Trebuchet MS"/>
              </a:rPr>
              <a:t>nque</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de</a:t>
            </a:r>
            <a:r>
              <a:rPr lang="en-US" sz="2892">
                <a:solidFill>
                  <a:srgbClr val="284181"/>
                </a:solidFill>
                <a:latin typeface="Trebuchet MS"/>
                <a:ea typeface="Trebuchet MS"/>
                <a:cs typeface="Trebuchet MS"/>
                <a:sym typeface="Trebuchet MS"/>
              </a:rPr>
              <a:t> documentation</a:t>
            </a:r>
            <a:r>
              <a:rPr lang="en-US" sz="2892">
                <a:solidFill>
                  <a:srgbClr val="284181"/>
                </a:solidFill>
                <a:latin typeface="Trebuchet MS"/>
                <a:ea typeface="Trebuchet MS"/>
                <a:cs typeface="Trebuchet MS"/>
                <a:sym typeface="Trebuchet MS"/>
              </a:rPr>
              <a:t> et la</a:t>
            </a:r>
            <a:r>
              <a:rPr lang="en-US" sz="2892">
                <a:solidFill>
                  <a:srgbClr val="284181"/>
                </a:solidFill>
                <a:latin typeface="Trebuchet MS"/>
                <a:ea typeface="Trebuchet MS"/>
                <a:cs typeface="Trebuchet MS"/>
                <a:sym typeface="Trebuchet MS"/>
              </a:rPr>
              <a:t> d</a:t>
            </a:r>
            <a:r>
              <a:rPr lang="en-US" sz="2892">
                <a:solidFill>
                  <a:srgbClr val="284181"/>
                </a:solidFill>
                <a:latin typeface="Trebuchet MS"/>
                <a:ea typeface="Trebuchet MS"/>
                <a:cs typeface="Trebuchet MS"/>
                <a:sym typeface="Trebuchet MS"/>
              </a:rPr>
              <a:t>épend</a:t>
            </a:r>
            <a:r>
              <a:rPr lang="en-US" sz="2892">
                <a:solidFill>
                  <a:srgbClr val="284181"/>
                </a:solidFill>
                <a:latin typeface="Trebuchet MS"/>
                <a:ea typeface="Trebuchet MS"/>
                <a:cs typeface="Trebuchet MS"/>
                <a:sym typeface="Trebuchet MS"/>
              </a:rPr>
              <a:t>ance </a:t>
            </a:r>
            <a:r>
              <a:rPr lang="en-US" sz="2892">
                <a:solidFill>
                  <a:srgbClr val="284181"/>
                </a:solidFill>
                <a:latin typeface="Trebuchet MS"/>
                <a:ea typeface="Trebuchet MS"/>
                <a:cs typeface="Trebuchet MS"/>
                <a:sym typeface="Trebuchet MS"/>
              </a:rPr>
              <a:t>aux</a:t>
            </a:r>
            <a:r>
              <a:rPr lang="en-US" sz="2892">
                <a:solidFill>
                  <a:srgbClr val="284181"/>
                </a:solidFill>
                <a:latin typeface="Trebuchet MS"/>
                <a:ea typeface="Trebuchet MS"/>
                <a:cs typeface="Trebuchet MS"/>
                <a:sym typeface="Trebuchet MS"/>
              </a:rPr>
              <a:t> </a:t>
            </a:r>
            <a:r>
              <a:rPr lang="en-US" sz="2892">
                <a:solidFill>
                  <a:srgbClr val="284181"/>
                </a:solidFill>
                <a:latin typeface="Trebuchet MS"/>
                <a:ea typeface="Trebuchet MS"/>
                <a:cs typeface="Trebuchet MS"/>
                <a:sym typeface="Trebuchet MS"/>
              </a:rPr>
              <a:t>int</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rmédiaires </a:t>
            </a:r>
            <a:r>
              <a:rPr lang="en-US" sz="2892">
                <a:solidFill>
                  <a:srgbClr val="284181"/>
                </a:solidFill>
                <a:latin typeface="Trebuchet MS"/>
                <a:ea typeface="Trebuchet MS"/>
                <a:cs typeface="Trebuchet MS"/>
                <a:sym typeface="Trebuchet MS"/>
              </a:rPr>
              <a:t>l</a:t>
            </a:r>
            <a:r>
              <a:rPr lang="en-US" sz="2892">
                <a:solidFill>
                  <a:srgbClr val="284181"/>
                </a:solidFill>
                <a:latin typeface="Trebuchet MS"/>
                <a:ea typeface="Trebuchet MS"/>
                <a:cs typeface="Trebuchet MS"/>
                <a:sym typeface="Trebuchet MS"/>
              </a:rPr>
              <a:t>e</a:t>
            </a:r>
            <a:r>
              <a:rPr lang="en-US" sz="2892">
                <a:solidFill>
                  <a:srgbClr val="284181"/>
                </a:solidFill>
                <a:latin typeface="Trebuchet MS"/>
                <a:ea typeface="Trebuchet MS"/>
                <a:cs typeface="Trebuchet MS"/>
                <a:sym typeface="Trebuchet MS"/>
              </a:rPr>
              <a:t>s</a:t>
            </a:r>
            <a:r>
              <a:rPr lang="en-US" sz="2892">
                <a:solidFill>
                  <a:srgbClr val="284181"/>
                </a:solidFill>
                <a:latin typeface="Trebuchet MS"/>
                <a:ea typeface="Trebuchet MS"/>
                <a:cs typeface="Trebuchet MS"/>
                <a:sym typeface="Trebuchet MS"/>
              </a:rPr>
              <a:t> p</a:t>
            </a:r>
            <a:r>
              <a:rPr lang="en-US" sz="2892">
                <a:solidFill>
                  <a:srgbClr val="284181"/>
                </a:solidFill>
                <a:latin typeface="Trebuchet MS"/>
                <a:ea typeface="Trebuchet MS"/>
                <a:cs typeface="Trebuchet MS"/>
                <a:sym typeface="Trebuchet MS"/>
              </a:rPr>
              <a:t>i</a:t>
            </a:r>
            <a:r>
              <a:rPr lang="en-US" sz="2892">
                <a:solidFill>
                  <a:srgbClr val="284181"/>
                </a:solidFill>
                <a:latin typeface="Trebuchet MS"/>
                <a:ea typeface="Trebuchet MS"/>
                <a:cs typeface="Trebuchet MS"/>
                <a:sym typeface="Trebuchet MS"/>
              </a:rPr>
              <a:t>ègent da</a:t>
            </a:r>
            <a:r>
              <a:rPr lang="en-US" sz="2892">
                <a:solidFill>
                  <a:srgbClr val="284181"/>
                </a:solidFill>
                <a:latin typeface="Trebuchet MS"/>
                <a:ea typeface="Trebuchet MS"/>
                <a:cs typeface="Trebuchet MS"/>
                <a:sym typeface="Trebuchet MS"/>
              </a:rPr>
              <a:t>n</a:t>
            </a:r>
            <a:r>
              <a:rPr lang="en-US" sz="2892">
                <a:solidFill>
                  <a:srgbClr val="284181"/>
                </a:solidFill>
                <a:latin typeface="Trebuchet MS"/>
                <a:ea typeface="Trebuchet MS"/>
                <a:cs typeface="Trebuchet MS"/>
                <a:sym typeface="Trebuchet MS"/>
              </a:rPr>
              <a:t>s la pauvreté.</a:t>
            </a:r>
          </a:p>
          <a:p>
            <a:pPr algn="l" marL="451191" indent="-225596" lvl="1">
              <a:lnSpc>
                <a:spcPts val="2991"/>
              </a:lnSpc>
            </a:pPr>
          </a:p>
          <a:p>
            <a:pPr algn="l" marL="523403" indent="-261701" lvl="1">
              <a:lnSpc>
                <a:spcPts val="3470"/>
              </a:lnSpc>
              <a:buAutoNum type="arabicPeriod" startAt="1"/>
            </a:pPr>
            <a:r>
              <a:rPr lang="en-US" b="true" sz="2892" spc="-80">
                <a:solidFill>
                  <a:srgbClr val="284181"/>
                </a:solidFill>
                <a:latin typeface="Trebuchet MS Bold"/>
                <a:ea typeface="Trebuchet MS Bold"/>
                <a:cs typeface="Trebuchet MS Bold"/>
                <a:sym typeface="Trebuchet MS Bold"/>
              </a:rPr>
              <a:t>C</a:t>
            </a:r>
            <a:r>
              <a:rPr lang="en-US" b="true" sz="2892" spc="-80">
                <a:solidFill>
                  <a:srgbClr val="284181"/>
                </a:solidFill>
                <a:latin typeface="Trebuchet MS Bold"/>
                <a:ea typeface="Trebuchet MS Bold"/>
                <a:cs typeface="Trebuchet MS Bold"/>
                <a:sym typeface="Trebuchet MS Bold"/>
              </a:rPr>
              <a:t>omment l'absence d'identité numérique aggrave les obstacles : </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an</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id</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ntité</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vér</a:t>
            </a:r>
            <a:r>
              <a:rPr lang="en-US" sz="2892" spc="-80">
                <a:solidFill>
                  <a:srgbClr val="284181"/>
                </a:solidFill>
                <a:latin typeface="Trebuchet MS"/>
                <a:ea typeface="Trebuchet MS"/>
                <a:cs typeface="Trebuchet MS"/>
                <a:sym typeface="Trebuchet MS"/>
              </a:rPr>
              <a:t>ifia</a:t>
            </a:r>
            <a:r>
              <a:rPr lang="en-US" sz="2892" spc="-80">
                <a:solidFill>
                  <a:srgbClr val="284181"/>
                </a:solidFill>
                <a:latin typeface="Trebuchet MS"/>
                <a:ea typeface="Trebuchet MS"/>
                <a:cs typeface="Trebuchet MS"/>
                <a:sym typeface="Trebuchet MS"/>
              </a:rPr>
              <a:t>ble,</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l</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 a</a:t>
            </a:r>
            <a:r>
              <a:rPr lang="en-US" sz="2892" spc="-80">
                <a:solidFill>
                  <a:srgbClr val="284181"/>
                </a:solidFill>
                <a:latin typeface="Trebuchet MS"/>
                <a:ea typeface="Trebuchet MS"/>
                <a:cs typeface="Trebuchet MS"/>
                <a:sym typeface="Trebuchet MS"/>
              </a:rPr>
              <a:t>gr</a:t>
            </a:r>
            <a:r>
              <a:rPr lang="en-US" sz="2892" spc="-80">
                <a:solidFill>
                  <a:srgbClr val="284181"/>
                </a:solidFill>
                <a:latin typeface="Trebuchet MS"/>
                <a:ea typeface="Trebuchet MS"/>
                <a:cs typeface="Trebuchet MS"/>
                <a:sym typeface="Trebuchet MS"/>
              </a:rPr>
              <a:t>i</a:t>
            </a:r>
            <a:r>
              <a:rPr lang="en-US" sz="2892" spc="-80">
                <a:solidFill>
                  <a:srgbClr val="284181"/>
                </a:solidFill>
                <a:latin typeface="Trebuchet MS"/>
                <a:ea typeface="Trebuchet MS"/>
                <a:cs typeface="Trebuchet MS"/>
                <a:sym typeface="Trebuchet MS"/>
              </a:rPr>
              <a:t>cu</a:t>
            </a:r>
            <a:r>
              <a:rPr lang="en-US" sz="2892" spc="-80">
                <a:solidFill>
                  <a:srgbClr val="284181"/>
                </a:solidFill>
                <a:latin typeface="Trebuchet MS"/>
                <a:ea typeface="Trebuchet MS"/>
                <a:cs typeface="Trebuchet MS"/>
                <a:sym typeface="Trebuchet MS"/>
              </a:rPr>
              <a:t>lt</a:t>
            </a:r>
            <a:r>
              <a:rPr lang="en-US" sz="2892" spc="-80">
                <a:solidFill>
                  <a:srgbClr val="284181"/>
                </a:solidFill>
                <a:latin typeface="Trebuchet MS"/>
                <a:ea typeface="Trebuchet MS"/>
                <a:cs typeface="Trebuchet MS"/>
                <a:sym typeface="Trebuchet MS"/>
              </a:rPr>
              <a:t>eurs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ne peuven</a:t>
            </a:r>
            <a:r>
              <a:rPr lang="en-US" sz="2892" spc="-80">
                <a:solidFill>
                  <a:srgbClr val="284181"/>
                </a:solidFill>
                <a:latin typeface="Trebuchet MS"/>
                <a:ea typeface="Trebuchet MS"/>
                <a:cs typeface="Trebuchet MS"/>
                <a:sym typeface="Trebuchet MS"/>
              </a:rPr>
              <a:t>t </a:t>
            </a:r>
            <a:r>
              <a:rPr lang="en-US" sz="2892" spc="-80">
                <a:solidFill>
                  <a:srgbClr val="284181"/>
                </a:solidFill>
                <a:latin typeface="Trebuchet MS"/>
                <a:ea typeface="Trebuchet MS"/>
                <a:cs typeface="Trebuchet MS"/>
                <a:sym typeface="Trebuchet MS"/>
              </a:rPr>
              <a:t>pas prou</a:t>
            </a:r>
            <a:r>
              <a:rPr lang="en-US" sz="2892" spc="-80">
                <a:solidFill>
                  <a:srgbClr val="284181"/>
                </a:solidFill>
                <a:latin typeface="Trebuchet MS"/>
                <a:ea typeface="Trebuchet MS"/>
                <a:cs typeface="Trebuchet MS"/>
                <a:sym typeface="Trebuchet MS"/>
              </a:rPr>
              <a:t>ver</a:t>
            </a:r>
            <a:r>
              <a:rPr lang="en-US" sz="2892" spc="-80">
                <a:solidFill>
                  <a:srgbClr val="284181"/>
                </a:solidFill>
                <a:latin typeface="Trebuchet MS"/>
                <a:ea typeface="Trebuchet MS"/>
                <a:cs typeface="Trebuchet MS"/>
                <a:sym typeface="Trebuchet MS"/>
              </a:rPr>
              <a:t> leur</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h</a:t>
            </a:r>
            <a:r>
              <a:rPr lang="en-US" sz="2892" spc="-80">
                <a:solidFill>
                  <a:srgbClr val="284181"/>
                </a:solidFill>
                <a:latin typeface="Trebuchet MS"/>
                <a:ea typeface="Trebuchet MS"/>
                <a:cs typeface="Trebuchet MS"/>
                <a:sym typeface="Trebuchet MS"/>
              </a:rPr>
              <a:t>i</a:t>
            </a:r>
            <a:r>
              <a:rPr lang="en-US" sz="2892" spc="-80">
                <a:solidFill>
                  <a:srgbClr val="284181"/>
                </a:solidFill>
                <a:latin typeface="Trebuchet MS"/>
                <a:ea typeface="Trebuchet MS"/>
                <a:cs typeface="Trebuchet MS"/>
                <a:sym typeface="Trebuchet MS"/>
              </a:rPr>
              <a:t>storique </a:t>
            </a:r>
            <a:r>
              <a:rPr lang="en-US" sz="2892" spc="-80">
                <a:solidFill>
                  <a:srgbClr val="284181"/>
                </a:solidFill>
                <a:latin typeface="Trebuchet MS"/>
                <a:ea typeface="Trebuchet MS"/>
                <a:cs typeface="Trebuchet MS"/>
                <a:sym typeface="Trebuchet MS"/>
              </a:rPr>
              <a:t>de</a:t>
            </a:r>
            <a:r>
              <a:rPr lang="en-US" sz="2892" spc="-80">
                <a:solidFill>
                  <a:srgbClr val="284181"/>
                </a:solidFill>
                <a:latin typeface="Trebuchet MS"/>
                <a:ea typeface="Trebuchet MS"/>
                <a:cs typeface="Trebuchet MS"/>
                <a:sym typeface="Trebuchet MS"/>
              </a:rPr>
              <a:t> tra</a:t>
            </a:r>
            <a:r>
              <a:rPr lang="en-US" sz="2892" spc="-80">
                <a:solidFill>
                  <a:srgbClr val="284181"/>
                </a:solidFill>
                <a:latin typeface="Trebuchet MS"/>
                <a:ea typeface="Trebuchet MS"/>
                <a:cs typeface="Trebuchet MS"/>
                <a:sym typeface="Trebuchet MS"/>
              </a:rPr>
              <a:t>n</a:t>
            </a:r>
            <a:r>
              <a:rPr lang="en-US" sz="2892" spc="-80">
                <a:solidFill>
                  <a:srgbClr val="284181"/>
                </a:solidFill>
                <a:latin typeface="Trebuchet MS"/>
                <a:ea typeface="Trebuchet MS"/>
                <a:cs typeface="Trebuchet MS"/>
                <a:sym typeface="Trebuchet MS"/>
              </a:rPr>
              <a:t>sac</a:t>
            </a:r>
            <a:r>
              <a:rPr lang="en-US" sz="2892" spc="-80">
                <a:solidFill>
                  <a:srgbClr val="284181"/>
                </a:solidFill>
                <a:latin typeface="Trebuchet MS"/>
                <a:ea typeface="Trebuchet MS"/>
                <a:cs typeface="Trebuchet MS"/>
                <a:sym typeface="Trebuchet MS"/>
              </a:rPr>
              <a:t>ti</a:t>
            </a:r>
            <a:r>
              <a:rPr lang="en-US" sz="2892" spc="-80">
                <a:solidFill>
                  <a:srgbClr val="284181"/>
                </a:solidFill>
                <a:latin typeface="Trebuchet MS"/>
                <a:ea typeface="Trebuchet MS"/>
                <a:cs typeface="Trebuchet MS"/>
                <a:sym typeface="Trebuchet MS"/>
              </a:rPr>
              <a:t>ons aux</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p</a:t>
            </a:r>
            <a:r>
              <a:rPr lang="en-US" sz="2892" spc="-80">
                <a:solidFill>
                  <a:srgbClr val="284181"/>
                </a:solidFill>
                <a:latin typeface="Trebuchet MS"/>
                <a:ea typeface="Trebuchet MS"/>
                <a:cs typeface="Trebuchet MS"/>
                <a:sym typeface="Trebuchet MS"/>
              </a:rPr>
              <a:t>r</a:t>
            </a:r>
            <a:r>
              <a:rPr lang="en-US" sz="2892" spc="-80">
                <a:solidFill>
                  <a:srgbClr val="284181"/>
                </a:solidFill>
                <a:latin typeface="Trebuchet MS"/>
                <a:ea typeface="Trebuchet MS"/>
                <a:cs typeface="Trebuchet MS"/>
                <a:sym typeface="Trebuchet MS"/>
              </a:rPr>
              <a:t>êt</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urs, s</a:t>
            </a:r>
            <a:r>
              <a:rPr lang="en-US" sz="2892" spc="-80">
                <a:solidFill>
                  <a:srgbClr val="284181"/>
                </a:solidFill>
                <a:latin typeface="Trebuchet MS"/>
                <a:ea typeface="Trebuchet MS"/>
                <a:cs typeface="Trebuchet MS"/>
                <a:sym typeface="Trebuchet MS"/>
              </a:rPr>
              <a:t>o</a:t>
            </a:r>
            <a:r>
              <a:rPr lang="en-US" sz="2892" spc="-80">
                <a:solidFill>
                  <a:srgbClr val="284181"/>
                </a:solidFill>
                <a:latin typeface="Trebuchet MS"/>
                <a:ea typeface="Trebuchet MS"/>
                <a:cs typeface="Trebuchet MS"/>
                <a:sym typeface="Trebuchet MS"/>
              </a:rPr>
              <a:t>n</a:t>
            </a:r>
            <a:r>
              <a:rPr lang="en-US" sz="2892" spc="-80">
                <a:solidFill>
                  <a:srgbClr val="284181"/>
                </a:solidFill>
                <a:latin typeface="Trebuchet MS"/>
                <a:ea typeface="Trebuchet MS"/>
                <a:cs typeface="Trebuchet MS"/>
                <a:sym typeface="Trebuchet MS"/>
              </a:rPr>
              <a:t>t</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xc</a:t>
            </a:r>
            <a:r>
              <a:rPr lang="en-US" sz="2892" spc="-80">
                <a:solidFill>
                  <a:srgbClr val="284181"/>
                </a:solidFill>
                <a:latin typeface="Trebuchet MS"/>
                <a:ea typeface="Trebuchet MS"/>
                <a:cs typeface="Trebuchet MS"/>
                <a:sym typeface="Trebuchet MS"/>
              </a:rPr>
              <a:t>l</a:t>
            </a:r>
            <a:r>
              <a:rPr lang="en-US" sz="2892" spc="-80">
                <a:solidFill>
                  <a:srgbClr val="284181"/>
                </a:solidFill>
                <a:latin typeface="Trebuchet MS"/>
                <a:ea typeface="Trebuchet MS"/>
                <a:cs typeface="Trebuchet MS"/>
                <a:sym typeface="Trebuchet MS"/>
              </a:rPr>
              <a:t>us</a:t>
            </a:r>
            <a:r>
              <a:rPr lang="en-US" sz="2892" spc="-80">
                <a:solidFill>
                  <a:srgbClr val="284181"/>
                </a:solidFill>
                <a:latin typeface="Trebuchet MS"/>
                <a:ea typeface="Trebuchet MS"/>
                <a:cs typeface="Trebuchet MS"/>
                <a:sym typeface="Trebuchet MS"/>
              </a:rPr>
              <a:t> de</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p</a:t>
            </a:r>
            <a:r>
              <a:rPr lang="en-US" sz="2892" spc="-80">
                <a:solidFill>
                  <a:srgbClr val="284181"/>
                </a:solidFill>
                <a:latin typeface="Trebuchet MS"/>
                <a:ea typeface="Trebuchet MS"/>
                <a:cs typeface="Trebuchet MS"/>
                <a:sym typeface="Trebuchet MS"/>
              </a:rPr>
              <a:t>ro</a:t>
            </a:r>
            <a:r>
              <a:rPr lang="en-US" sz="2892" spc="-80">
                <a:solidFill>
                  <a:srgbClr val="284181"/>
                </a:solidFill>
                <a:latin typeface="Trebuchet MS"/>
                <a:ea typeface="Trebuchet MS"/>
                <a:cs typeface="Trebuchet MS"/>
                <a:sym typeface="Trebuchet MS"/>
              </a:rPr>
              <a:t>g</a:t>
            </a:r>
            <a:r>
              <a:rPr lang="en-US" sz="2892" spc="-80">
                <a:solidFill>
                  <a:srgbClr val="284181"/>
                </a:solidFill>
                <a:latin typeface="Trebuchet MS"/>
                <a:ea typeface="Trebuchet MS"/>
                <a:cs typeface="Trebuchet MS"/>
                <a:sym typeface="Trebuchet MS"/>
              </a:rPr>
              <a:t>r</a:t>
            </a:r>
            <a:r>
              <a:rPr lang="en-US" sz="2892" spc="-80">
                <a:solidFill>
                  <a:srgbClr val="284181"/>
                </a:solidFill>
                <a:latin typeface="Trebuchet MS"/>
                <a:ea typeface="Trebuchet MS"/>
                <a:cs typeface="Trebuchet MS"/>
                <a:sym typeface="Trebuchet MS"/>
              </a:rPr>
              <a:t>ammes </a:t>
            </a:r>
            <a:r>
              <a:rPr lang="en-US" sz="2892" spc="-80">
                <a:solidFill>
                  <a:srgbClr val="284181"/>
                </a:solidFill>
                <a:latin typeface="Trebuchet MS"/>
                <a:ea typeface="Trebuchet MS"/>
                <a:cs typeface="Trebuchet MS"/>
                <a:sym typeface="Trebuchet MS"/>
              </a:rPr>
              <a:t>d</a:t>
            </a:r>
            <a:r>
              <a:rPr lang="en-US" sz="2892" spc="-80">
                <a:solidFill>
                  <a:srgbClr val="284181"/>
                </a:solidFill>
                <a:latin typeface="Trebuchet MS"/>
                <a:ea typeface="Trebuchet MS"/>
                <a:cs typeface="Trebuchet MS"/>
                <a:sym typeface="Trebuchet MS"/>
              </a:rPr>
              <a:t>'a</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surance</a:t>
            </a:r>
            <a:r>
              <a:rPr lang="en-US" sz="2892" spc="-80">
                <a:solidFill>
                  <a:srgbClr val="284181"/>
                </a:solidFill>
                <a:latin typeface="Trebuchet MS"/>
                <a:ea typeface="Trebuchet MS"/>
                <a:cs typeface="Trebuchet MS"/>
                <a:sym typeface="Trebuchet MS"/>
              </a:rPr>
              <a:t>, e</a:t>
            </a:r>
            <a:r>
              <a:rPr lang="en-US" sz="2892" spc="-80">
                <a:solidFill>
                  <a:srgbClr val="284181"/>
                </a:solidFill>
                <a:latin typeface="Trebuchet MS"/>
                <a:ea typeface="Trebuchet MS"/>
                <a:cs typeface="Trebuchet MS"/>
                <a:sym typeface="Trebuchet MS"/>
              </a:rPr>
              <a:t>t n'ont au</a:t>
            </a:r>
            <a:r>
              <a:rPr lang="en-US" sz="2892" spc="-80">
                <a:solidFill>
                  <a:srgbClr val="284181"/>
                </a:solidFill>
                <a:latin typeface="Trebuchet MS"/>
                <a:ea typeface="Trebuchet MS"/>
                <a:cs typeface="Trebuchet MS"/>
                <a:sym typeface="Trebuchet MS"/>
              </a:rPr>
              <a:t>cun r</a:t>
            </a:r>
            <a:r>
              <a:rPr lang="en-US" sz="2892" spc="-80">
                <a:solidFill>
                  <a:srgbClr val="284181"/>
                </a:solidFill>
                <a:latin typeface="Trebuchet MS"/>
                <a:ea typeface="Trebuchet MS"/>
                <a:cs typeface="Trebuchet MS"/>
                <a:sym typeface="Trebuchet MS"/>
              </a:rPr>
              <a:t>ec</a:t>
            </a:r>
            <a:r>
              <a:rPr lang="en-US" sz="2892" spc="-80">
                <a:solidFill>
                  <a:srgbClr val="284181"/>
                </a:solidFill>
                <a:latin typeface="Trebuchet MS"/>
                <a:ea typeface="Trebuchet MS"/>
                <a:cs typeface="Trebuchet MS"/>
                <a:sym typeface="Trebuchet MS"/>
              </a:rPr>
              <a:t>o</a:t>
            </a:r>
            <a:r>
              <a:rPr lang="en-US" sz="2892" spc="-80">
                <a:solidFill>
                  <a:srgbClr val="284181"/>
                </a:solidFill>
                <a:latin typeface="Trebuchet MS"/>
                <a:ea typeface="Trebuchet MS"/>
                <a:cs typeface="Trebuchet MS"/>
                <a:sym typeface="Trebuchet MS"/>
              </a:rPr>
              <a:t>urs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c</a:t>
            </a:r>
            <a:r>
              <a:rPr lang="en-US" sz="2892" spc="-80">
                <a:solidFill>
                  <a:srgbClr val="284181"/>
                </a:solidFill>
                <a:latin typeface="Trebuchet MS"/>
                <a:ea typeface="Trebuchet MS"/>
                <a:cs typeface="Trebuchet MS"/>
                <a:sym typeface="Trebuchet MS"/>
              </a:rPr>
              <a:t>o</a:t>
            </a:r>
            <a:r>
              <a:rPr lang="en-US" sz="2892" spc="-80">
                <a:solidFill>
                  <a:srgbClr val="284181"/>
                </a:solidFill>
                <a:latin typeface="Trebuchet MS"/>
                <a:ea typeface="Trebuchet MS"/>
                <a:cs typeface="Trebuchet MS"/>
                <a:sym typeface="Trebuchet MS"/>
              </a:rPr>
              <a:t>nt</a:t>
            </a:r>
            <a:r>
              <a:rPr lang="en-US" sz="2892" spc="-80">
                <a:solidFill>
                  <a:srgbClr val="284181"/>
                </a:solidFill>
                <a:latin typeface="Trebuchet MS"/>
                <a:ea typeface="Trebuchet MS"/>
                <a:cs typeface="Trebuchet MS"/>
                <a:sym typeface="Trebuchet MS"/>
              </a:rPr>
              <a:t>r</a:t>
            </a:r>
            <a:r>
              <a:rPr lang="en-US" sz="2892" spc="-80">
                <a:solidFill>
                  <a:srgbClr val="284181"/>
                </a:solidFill>
                <a:latin typeface="Trebuchet MS"/>
                <a:ea typeface="Trebuchet MS"/>
                <a:cs typeface="Trebuchet MS"/>
                <a:sym typeface="Trebuchet MS"/>
              </a:rPr>
              <a:t>e la f</a:t>
            </a:r>
            <a:r>
              <a:rPr lang="en-US" sz="2892" spc="-80">
                <a:solidFill>
                  <a:srgbClr val="284181"/>
                </a:solidFill>
                <a:latin typeface="Trebuchet MS"/>
                <a:ea typeface="Trebuchet MS"/>
                <a:cs typeface="Trebuchet MS"/>
                <a:sym typeface="Trebuchet MS"/>
              </a:rPr>
              <a:t>al</a:t>
            </a:r>
            <a:r>
              <a:rPr lang="en-US" sz="2892" spc="-80">
                <a:solidFill>
                  <a:srgbClr val="284181"/>
                </a:solidFill>
                <a:latin typeface="Trebuchet MS"/>
                <a:ea typeface="Trebuchet MS"/>
                <a:cs typeface="Trebuchet MS"/>
                <a:sym typeface="Trebuchet MS"/>
              </a:rPr>
              <a:t>sification</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de</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 regi</a:t>
            </a:r>
            <a:r>
              <a:rPr lang="en-US" sz="2892" spc="-80">
                <a:solidFill>
                  <a:srgbClr val="284181"/>
                </a:solidFill>
                <a:latin typeface="Trebuchet MS"/>
                <a:ea typeface="Trebuchet MS"/>
                <a:cs typeface="Trebuchet MS"/>
                <a:sym typeface="Trebuchet MS"/>
              </a:rPr>
              <a:t>st</a:t>
            </a:r>
            <a:r>
              <a:rPr lang="en-US" sz="2892" spc="-80">
                <a:solidFill>
                  <a:srgbClr val="284181"/>
                </a:solidFill>
                <a:latin typeface="Trebuchet MS"/>
                <a:ea typeface="Trebuchet MS"/>
                <a:cs typeface="Trebuchet MS"/>
                <a:sym typeface="Trebuchet MS"/>
              </a:rPr>
              <a:t>r</a:t>
            </a:r>
            <a:r>
              <a:rPr lang="en-US" sz="2892" spc="-80">
                <a:solidFill>
                  <a:srgbClr val="284181"/>
                </a:solidFill>
                <a:latin typeface="Trebuchet MS"/>
                <a:ea typeface="Trebuchet MS"/>
                <a:cs typeface="Trebuchet MS"/>
                <a:sym typeface="Trebuchet MS"/>
              </a:rPr>
              <a:t>es </a:t>
            </a:r>
            <a:r>
              <a:rPr lang="en-US" sz="2892" spc="-80">
                <a:solidFill>
                  <a:srgbClr val="284181"/>
                </a:solidFill>
                <a:latin typeface="Trebuchet MS"/>
                <a:ea typeface="Trebuchet MS"/>
                <a:cs typeface="Trebuchet MS"/>
                <a:sym typeface="Trebuchet MS"/>
              </a:rPr>
              <a:t>ou </a:t>
            </a:r>
            <a:r>
              <a:rPr lang="en-US" sz="2892" spc="-80">
                <a:solidFill>
                  <a:srgbClr val="284181"/>
                </a:solidFill>
                <a:latin typeface="Trebuchet MS"/>
                <a:ea typeface="Trebuchet MS"/>
                <a:cs typeface="Trebuchet MS"/>
                <a:sym typeface="Trebuchet MS"/>
              </a:rPr>
              <a:t>la</a:t>
            </a:r>
            <a:r>
              <a:rPr lang="en-US" sz="2892" spc="-80">
                <a:solidFill>
                  <a:srgbClr val="284181"/>
                </a:solidFill>
                <a:latin typeface="Trebuchet MS"/>
                <a:ea typeface="Trebuchet MS"/>
                <a:cs typeface="Trebuchet MS"/>
                <a:sym typeface="Trebuchet MS"/>
              </a:rPr>
              <a:t> manipulation de</a:t>
            </a:r>
            <a:r>
              <a:rPr lang="en-US" sz="2892" spc="-80">
                <a:solidFill>
                  <a:srgbClr val="284181"/>
                </a:solidFill>
                <a:latin typeface="Trebuchet MS"/>
                <a:ea typeface="Trebuchet MS"/>
                <a:cs typeface="Trebuchet MS"/>
                <a:sym typeface="Trebuchet MS"/>
              </a:rPr>
              <a:t>s </a:t>
            </a:r>
            <a:r>
              <a:rPr lang="en-US" sz="2892" spc="-80">
                <a:solidFill>
                  <a:srgbClr val="284181"/>
                </a:solidFill>
                <a:latin typeface="Trebuchet MS"/>
                <a:ea typeface="Trebuchet MS"/>
                <a:cs typeface="Trebuchet MS"/>
                <a:sym typeface="Trebuchet MS"/>
              </a:rPr>
              <a:t>pa</a:t>
            </a:r>
            <a:r>
              <a:rPr lang="en-US" sz="2892" spc="-80">
                <a:solidFill>
                  <a:srgbClr val="284181"/>
                </a:solidFill>
                <a:latin typeface="Trebuchet MS"/>
                <a:ea typeface="Trebuchet MS"/>
                <a:cs typeface="Trebuchet MS"/>
                <a:sym typeface="Trebuchet MS"/>
              </a:rPr>
              <a:t>i</a:t>
            </a:r>
            <a:r>
              <a:rPr lang="en-US" sz="2892" spc="-80">
                <a:solidFill>
                  <a:srgbClr val="284181"/>
                </a:solidFill>
                <a:latin typeface="Trebuchet MS"/>
                <a:ea typeface="Trebuchet MS"/>
                <a:cs typeface="Trebuchet MS"/>
                <a:sym typeface="Trebuchet MS"/>
              </a:rPr>
              <a:t>eme</a:t>
            </a:r>
            <a:r>
              <a:rPr lang="en-US" sz="2892" spc="-80">
                <a:solidFill>
                  <a:srgbClr val="284181"/>
                </a:solidFill>
                <a:latin typeface="Trebuchet MS"/>
                <a:ea typeface="Trebuchet MS"/>
                <a:cs typeface="Trebuchet MS"/>
                <a:sym typeface="Trebuchet MS"/>
              </a:rPr>
              <a:t>n</a:t>
            </a:r>
            <a:r>
              <a:rPr lang="en-US" sz="2892" spc="-80">
                <a:solidFill>
                  <a:srgbClr val="284181"/>
                </a:solidFill>
                <a:latin typeface="Trebuchet MS"/>
                <a:ea typeface="Trebuchet MS"/>
                <a:cs typeface="Trebuchet MS"/>
                <a:sym typeface="Trebuchet MS"/>
              </a:rPr>
              <a:t>ts par les chefs</a:t>
            </a:r>
            <a:r>
              <a:rPr lang="en-US" sz="2892" spc="-80">
                <a:solidFill>
                  <a:srgbClr val="284181"/>
                </a:solidFill>
                <a:latin typeface="Trebuchet MS"/>
                <a:ea typeface="Trebuchet MS"/>
                <a:cs typeface="Trebuchet MS"/>
                <a:sym typeface="Trebuchet MS"/>
              </a:rPr>
              <a:t> de</a:t>
            </a:r>
            <a:r>
              <a:rPr lang="en-US" sz="2892" spc="-80">
                <a:solidFill>
                  <a:srgbClr val="284181"/>
                </a:solidFill>
                <a:latin typeface="Trebuchet MS"/>
                <a:ea typeface="Trebuchet MS"/>
                <a:cs typeface="Trebuchet MS"/>
                <a:sym typeface="Trebuchet MS"/>
              </a:rPr>
              <a:t> coopérat</a:t>
            </a:r>
            <a:r>
              <a:rPr lang="en-US" sz="2892" spc="-80">
                <a:solidFill>
                  <a:srgbClr val="284181"/>
                </a:solidFill>
                <a:latin typeface="Trebuchet MS"/>
                <a:ea typeface="Trebuchet MS"/>
                <a:cs typeface="Trebuchet MS"/>
                <a:sym typeface="Trebuchet MS"/>
              </a:rPr>
              <a:t>ive</a:t>
            </a:r>
            <a:r>
              <a:rPr lang="en-US" sz="2892" spc="-80">
                <a:solidFill>
                  <a:srgbClr val="284181"/>
                </a:solidFill>
                <a:latin typeface="Trebuchet MS"/>
                <a:ea typeface="Trebuchet MS"/>
                <a:cs typeface="Trebuchet MS"/>
                <a:sym typeface="Trebuchet MS"/>
              </a:rPr>
              <a:t>s.</a:t>
            </a:r>
          </a:p>
          <a:p>
            <a:pPr algn="l">
              <a:lnSpc>
                <a:spcPts val="3470"/>
              </a:lnSpc>
            </a:pPr>
          </a:p>
          <a:p>
            <a:pPr algn="l" marL="523403" indent="-261701" lvl="1">
              <a:lnSpc>
                <a:spcPts val="3470"/>
              </a:lnSpc>
              <a:buAutoNum type="arabicPeriod" startAt="1"/>
            </a:pPr>
            <a:r>
              <a:rPr lang="en-US" b="true" sz="2892" spc="-80">
                <a:solidFill>
                  <a:srgbClr val="284181"/>
                </a:solidFill>
                <a:latin typeface="Trebuchet MS Bold"/>
                <a:ea typeface="Trebuchet MS Bold"/>
                <a:cs typeface="Trebuchet MS Bold"/>
                <a:sym typeface="Trebuchet MS Bold"/>
              </a:rPr>
              <a:t>Amp</a:t>
            </a:r>
            <a:r>
              <a:rPr lang="en-US" b="true" sz="2892" spc="-80">
                <a:solidFill>
                  <a:srgbClr val="284181"/>
                </a:solidFill>
                <a:latin typeface="Trebuchet MS Bold"/>
                <a:ea typeface="Trebuchet MS Bold"/>
                <a:cs typeface="Trebuchet MS Bold"/>
                <a:sym typeface="Trebuchet MS Bold"/>
              </a:rPr>
              <a:t>leur et urgence : </a:t>
            </a:r>
            <a:r>
              <a:rPr lang="en-US" sz="2892" spc="-80">
                <a:solidFill>
                  <a:srgbClr val="284181"/>
                </a:solidFill>
                <a:latin typeface="Trebuchet MS"/>
                <a:ea typeface="Trebuchet MS"/>
                <a:cs typeface="Trebuchet MS"/>
                <a:sym typeface="Trebuchet MS"/>
              </a:rPr>
              <a:t>Pl</a:t>
            </a:r>
            <a:r>
              <a:rPr lang="en-US" sz="2892" spc="-80">
                <a:solidFill>
                  <a:srgbClr val="284181"/>
                </a:solidFill>
                <a:latin typeface="Trebuchet MS"/>
                <a:ea typeface="Trebuchet MS"/>
                <a:cs typeface="Trebuchet MS"/>
                <a:sym typeface="Trebuchet MS"/>
              </a:rPr>
              <a:t>u</a:t>
            </a:r>
            <a:r>
              <a:rPr lang="en-US" sz="2892" spc="-80">
                <a:solidFill>
                  <a:srgbClr val="284181"/>
                </a:solidFill>
                <a:latin typeface="Trebuchet MS"/>
                <a:ea typeface="Trebuchet MS"/>
                <a:cs typeface="Trebuchet MS"/>
                <a:sym typeface="Trebuchet MS"/>
              </a:rPr>
              <a:t>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d</a:t>
            </a:r>
            <a:r>
              <a:rPr lang="en-US" sz="2892" spc="-80">
                <a:solidFill>
                  <a:srgbClr val="284181"/>
                </a:solidFill>
                <a:latin typeface="Trebuchet MS"/>
                <a:ea typeface="Trebuchet MS"/>
                <a:cs typeface="Trebuchet MS"/>
                <a:sym typeface="Trebuchet MS"/>
              </a:rPr>
              <a:t>e </a:t>
            </a:r>
            <a:r>
              <a:rPr lang="en-US" sz="2892" spc="-80">
                <a:solidFill>
                  <a:srgbClr val="284181"/>
                </a:solidFill>
                <a:latin typeface="Trebuchet MS"/>
                <a:ea typeface="Trebuchet MS"/>
                <a:cs typeface="Trebuchet MS"/>
                <a:sym typeface="Trebuchet MS"/>
              </a:rPr>
              <a:t>300 000 </a:t>
            </a:r>
            <a:r>
              <a:rPr lang="en-US" sz="2892" spc="-80">
                <a:solidFill>
                  <a:srgbClr val="284181"/>
                </a:solidFill>
                <a:latin typeface="Trebuchet MS"/>
                <a:ea typeface="Trebuchet MS"/>
                <a:cs typeface="Trebuchet MS"/>
                <a:sym typeface="Trebuchet MS"/>
              </a:rPr>
              <a:t>pro</a:t>
            </a:r>
            <a:r>
              <a:rPr lang="en-US" sz="2892" spc="-80">
                <a:solidFill>
                  <a:srgbClr val="284181"/>
                </a:solidFill>
                <a:latin typeface="Trebuchet MS"/>
                <a:ea typeface="Trebuchet MS"/>
                <a:cs typeface="Trebuchet MS"/>
                <a:sym typeface="Trebuchet MS"/>
              </a:rPr>
              <a:t>ducteurs </a:t>
            </a:r>
            <a:r>
              <a:rPr lang="en-US" sz="2892" spc="-80">
                <a:solidFill>
                  <a:srgbClr val="284181"/>
                </a:solidFill>
                <a:latin typeface="Trebuchet MS"/>
                <a:ea typeface="Trebuchet MS"/>
                <a:cs typeface="Trebuchet MS"/>
                <a:sym typeface="Trebuchet MS"/>
              </a:rPr>
              <a:t>b</a:t>
            </a:r>
            <a:r>
              <a:rPr lang="en-US" sz="2892" spc="-80">
                <a:solidFill>
                  <a:srgbClr val="284181"/>
                </a:solidFill>
                <a:latin typeface="Trebuchet MS"/>
                <a:ea typeface="Trebuchet MS"/>
                <a:cs typeface="Trebuchet MS"/>
                <a:sym typeface="Trebuchet MS"/>
              </a:rPr>
              <a:t>éninois aff</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ctés, des </a:t>
            </a:r>
            <a:r>
              <a:rPr lang="en-US" sz="2892" spc="-80">
                <a:solidFill>
                  <a:srgbClr val="284181"/>
                </a:solidFill>
                <a:latin typeface="Trebuchet MS"/>
                <a:ea typeface="Trebuchet MS"/>
                <a:cs typeface="Trebuchet MS"/>
                <a:sym typeface="Trebuchet MS"/>
              </a:rPr>
              <a:t>m</a:t>
            </a:r>
            <a:r>
              <a:rPr lang="en-US" sz="2892" spc="-80">
                <a:solidFill>
                  <a:srgbClr val="284181"/>
                </a:solidFill>
                <a:latin typeface="Trebuchet MS"/>
                <a:ea typeface="Trebuchet MS"/>
                <a:cs typeface="Trebuchet MS"/>
                <a:sym typeface="Trebuchet MS"/>
              </a:rPr>
              <a:t>illiards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de</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FCFA p</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rdus</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an</a:t>
            </a:r>
            <a:r>
              <a:rPr lang="en-US" sz="2892" spc="-80">
                <a:solidFill>
                  <a:srgbClr val="284181"/>
                </a:solidFill>
                <a:latin typeface="Trebuchet MS"/>
                <a:ea typeface="Trebuchet MS"/>
                <a:cs typeface="Trebuchet MS"/>
                <a:sym typeface="Trebuchet MS"/>
              </a:rPr>
              <a:t>nu</a:t>
            </a:r>
            <a:r>
              <a:rPr lang="en-US" sz="2892" spc="-80">
                <a:solidFill>
                  <a:srgbClr val="284181"/>
                </a:solidFill>
                <a:latin typeface="Trebuchet MS"/>
                <a:ea typeface="Trebuchet MS"/>
                <a:cs typeface="Trebuchet MS"/>
                <a:sym typeface="Trebuchet MS"/>
              </a:rPr>
              <a:t>elle</a:t>
            </a:r>
            <a:r>
              <a:rPr lang="en-US" sz="2892" spc="-80">
                <a:solidFill>
                  <a:srgbClr val="284181"/>
                </a:solidFill>
                <a:latin typeface="Trebuchet MS"/>
                <a:ea typeface="Trebuchet MS"/>
                <a:cs typeface="Trebuchet MS"/>
                <a:sym typeface="Trebuchet MS"/>
              </a:rPr>
              <a:t>me</a:t>
            </a:r>
            <a:r>
              <a:rPr lang="en-US" sz="2892" spc="-80">
                <a:solidFill>
                  <a:srgbClr val="284181"/>
                </a:solidFill>
                <a:latin typeface="Trebuchet MS"/>
                <a:ea typeface="Trebuchet MS"/>
                <a:cs typeface="Trebuchet MS"/>
                <a:sym typeface="Trebuchet MS"/>
              </a:rPr>
              <a:t>nt pa</a:t>
            </a:r>
            <a:r>
              <a:rPr lang="en-US" sz="2892" spc="-80">
                <a:solidFill>
                  <a:srgbClr val="284181"/>
                </a:solidFill>
                <a:latin typeface="Trebuchet MS"/>
                <a:ea typeface="Trebuchet MS"/>
                <a:cs typeface="Trebuchet MS"/>
                <a:sym typeface="Trebuchet MS"/>
              </a:rPr>
              <a:t>r f</a:t>
            </a:r>
            <a:r>
              <a:rPr lang="en-US" sz="2892" spc="-80">
                <a:solidFill>
                  <a:srgbClr val="284181"/>
                </a:solidFill>
                <a:latin typeface="Trebuchet MS"/>
                <a:ea typeface="Trebuchet MS"/>
                <a:cs typeface="Trebuchet MS"/>
                <a:sym typeface="Trebuchet MS"/>
              </a:rPr>
              <a:t>raude</a:t>
            </a:r>
            <a:r>
              <a:rPr lang="en-US" sz="2892" spc="-80">
                <a:solidFill>
                  <a:srgbClr val="284181"/>
                </a:solidFill>
                <a:latin typeface="Trebuchet MS"/>
                <a:ea typeface="Trebuchet MS"/>
                <a:cs typeface="Trebuchet MS"/>
                <a:sym typeface="Trebuchet MS"/>
              </a:rPr>
              <a:t> e</a:t>
            </a:r>
            <a:r>
              <a:rPr lang="en-US" sz="2892" spc="-80">
                <a:solidFill>
                  <a:srgbClr val="284181"/>
                </a:solidFill>
                <a:latin typeface="Trebuchet MS"/>
                <a:ea typeface="Trebuchet MS"/>
                <a:cs typeface="Trebuchet MS"/>
                <a:sym typeface="Trebuchet MS"/>
              </a:rPr>
              <a:t>t</a:t>
            </a:r>
            <a:r>
              <a:rPr lang="en-US" sz="2892" spc="-80">
                <a:solidFill>
                  <a:srgbClr val="284181"/>
                </a:solidFill>
                <a:latin typeface="Trebuchet MS"/>
                <a:ea typeface="Trebuchet MS"/>
                <a:cs typeface="Trebuchet MS"/>
                <a:sym typeface="Trebuchet MS"/>
              </a:rPr>
              <a:t> exclu</a:t>
            </a:r>
            <a:r>
              <a:rPr lang="en-US" sz="2892" spc="-80">
                <a:solidFill>
                  <a:srgbClr val="284181"/>
                </a:solidFill>
                <a:latin typeface="Trebuchet MS"/>
                <a:ea typeface="Trebuchet MS"/>
                <a:cs typeface="Trebuchet MS"/>
                <a:sym typeface="Trebuchet MS"/>
              </a:rPr>
              <a:t>sion</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80%</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sans</a:t>
            </a:r>
            <a:r>
              <a:rPr lang="en-US" sz="2892" spc="-80">
                <a:solidFill>
                  <a:srgbClr val="284181"/>
                </a:solidFill>
                <a:latin typeface="Trebuchet MS"/>
                <a:ea typeface="Trebuchet MS"/>
                <a:cs typeface="Trebuchet MS"/>
                <a:sym typeface="Trebuchet MS"/>
              </a:rPr>
              <a:t> a</a:t>
            </a:r>
            <a:r>
              <a:rPr lang="en-US" sz="2892" spc="-80">
                <a:solidFill>
                  <a:srgbClr val="284181"/>
                </a:solidFill>
                <a:latin typeface="Trebuchet MS"/>
                <a:ea typeface="Trebuchet MS"/>
                <a:cs typeface="Trebuchet MS"/>
                <a:sym typeface="Trebuchet MS"/>
              </a:rPr>
              <a:t>ccès au cré</a:t>
            </a:r>
            <a:r>
              <a:rPr lang="en-US" sz="2892" spc="-80">
                <a:solidFill>
                  <a:srgbClr val="284181"/>
                </a:solidFill>
                <a:latin typeface="Trebuchet MS"/>
                <a:ea typeface="Trebuchet MS"/>
                <a:cs typeface="Trebuchet MS"/>
                <a:sym typeface="Trebuchet MS"/>
              </a:rPr>
              <a:t>d</a:t>
            </a:r>
            <a:r>
              <a:rPr lang="en-US" sz="2892" spc="-80">
                <a:solidFill>
                  <a:srgbClr val="284181"/>
                </a:solidFill>
                <a:latin typeface="Trebuchet MS"/>
                <a:ea typeface="Trebuchet MS"/>
                <a:cs typeface="Trebuchet MS"/>
                <a:sym typeface="Trebuchet MS"/>
              </a:rPr>
              <a:t>it</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f</a:t>
            </a:r>
            <a:r>
              <a:rPr lang="en-US" sz="2892" spc="-80">
                <a:solidFill>
                  <a:srgbClr val="284181"/>
                </a:solidFill>
                <a:latin typeface="Trebuchet MS"/>
                <a:ea typeface="Trebuchet MS"/>
                <a:cs typeface="Trebuchet MS"/>
                <a:sym typeface="Trebuchet MS"/>
              </a:rPr>
              <a:t>or</a:t>
            </a:r>
            <a:r>
              <a:rPr lang="en-US" sz="2892" spc="-80">
                <a:solidFill>
                  <a:srgbClr val="284181"/>
                </a:solidFill>
                <a:latin typeface="Trebuchet MS"/>
                <a:ea typeface="Trebuchet MS"/>
                <a:cs typeface="Trebuchet MS"/>
                <a:sym typeface="Trebuchet MS"/>
              </a:rPr>
              <a:t>mel,</a:t>
            </a:r>
            <a:r>
              <a:rPr lang="en-US" sz="2892" spc="-80">
                <a:solidFill>
                  <a:srgbClr val="284181"/>
                </a:solidFill>
                <a:latin typeface="Trebuchet MS"/>
                <a:ea typeface="Trebuchet MS"/>
                <a:cs typeface="Trebuchet MS"/>
                <a:sym typeface="Trebuchet MS"/>
              </a:rPr>
              <a:t> d</a:t>
            </a:r>
            <a:r>
              <a:rPr lang="en-US" sz="2892" spc="-80">
                <a:solidFill>
                  <a:srgbClr val="284181"/>
                </a:solidFill>
                <a:latin typeface="Trebuchet MS"/>
                <a:ea typeface="Trebuchet MS"/>
                <a:cs typeface="Trebuchet MS"/>
                <a:sym typeface="Trebuchet MS"/>
              </a:rPr>
              <a:t>é</a:t>
            </a:r>
            <a:r>
              <a:rPr lang="en-US" sz="2892" spc="-80">
                <a:solidFill>
                  <a:srgbClr val="284181"/>
                </a:solidFill>
                <a:latin typeface="Trebuchet MS"/>
                <a:ea typeface="Trebuchet MS"/>
                <a:cs typeface="Trebuchet MS"/>
                <a:sym typeface="Trebuchet MS"/>
              </a:rPr>
              <a:t>la</a:t>
            </a:r>
            <a:r>
              <a:rPr lang="en-US" sz="2892" spc="-80">
                <a:solidFill>
                  <a:srgbClr val="284181"/>
                </a:solidFill>
                <a:latin typeface="Trebuchet MS"/>
                <a:ea typeface="Trebuchet MS"/>
                <a:cs typeface="Trebuchet MS"/>
                <a:sym typeface="Trebuchet MS"/>
              </a:rPr>
              <a:t>is </a:t>
            </a:r>
            <a:r>
              <a:rPr lang="en-US" sz="2892" spc="-80">
                <a:solidFill>
                  <a:srgbClr val="284181"/>
                </a:solidFill>
                <a:latin typeface="Trebuchet MS"/>
                <a:ea typeface="Trebuchet MS"/>
                <a:cs typeface="Trebuchet MS"/>
                <a:sym typeface="Trebuchet MS"/>
              </a:rPr>
              <a:t>d</a:t>
            </a:r>
            <a:r>
              <a:rPr lang="en-US" sz="2892" spc="-80">
                <a:solidFill>
                  <a:srgbClr val="284181"/>
                </a:solidFill>
                <a:latin typeface="Trebuchet MS"/>
                <a:ea typeface="Trebuchet MS"/>
                <a:cs typeface="Trebuchet MS"/>
                <a:sym typeface="Trebuchet MS"/>
              </a:rPr>
              <a:t>e</a:t>
            </a:r>
            <a:r>
              <a:rPr lang="en-US" sz="2892" spc="-80">
                <a:solidFill>
                  <a:srgbClr val="284181"/>
                </a:solidFill>
                <a:latin typeface="Trebuchet MS"/>
                <a:ea typeface="Trebuchet MS"/>
                <a:cs typeface="Trebuchet MS"/>
                <a:sym typeface="Trebuchet MS"/>
              </a:rPr>
              <a:t> </a:t>
            </a:r>
            <a:r>
              <a:rPr lang="en-US" sz="2892" spc="-80">
                <a:solidFill>
                  <a:srgbClr val="284181"/>
                </a:solidFill>
                <a:latin typeface="Trebuchet MS"/>
                <a:ea typeface="Trebuchet MS"/>
                <a:cs typeface="Trebuchet MS"/>
                <a:sym typeface="Trebuchet MS"/>
              </a:rPr>
              <a:t>p</a:t>
            </a:r>
            <a:r>
              <a:rPr lang="en-US" sz="2892" spc="-80">
                <a:solidFill>
                  <a:srgbClr val="284181"/>
                </a:solidFill>
                <a:latin typeface="Trebuchet MS"/>
                <a:ea typeface="Trebuchet MS"/>
                <a:cs typeface="Trebuchet MS"/>
                <a:sym typeface="Trebuchet MS"/>
              </a:rPr>
              <a:t>a</a:t>
            </a:r>
            <a:r>
              <a:rPr lang="en-US" sz="2892" spc="-80">
                <a:solidFill>
                  <a:srgbClr val="284181"/>
                </a:solidFill>
                <a:latin typeface="Trebuchet MS"/>
                <a:ea typeface="Trebuchet MS"/>
                <a:cs typeface="Trebuchet MS"/>
                <a:sym typeface="Trebuchet MS"/>
              </a:rPr>
              <a:t>ieme</a:t>
            </a:r>
            <a:r>
              <a:rPr lang="en-US" sz="2892" spc="-80">
                <a:solidFill>
                  <a:srgbClr val="284181"/>
                </a:solidFill>
                <a:latin typeface="Trebuchet MS"/>
                <a:ea typeface="Trebuchet MS"/>
                <a:cs typeface="Trebuchet MS"/>
                <a:sym typeface="Trebuchet MS"/>
              </a:rPr>
              <a:t>nt</a:t>
            </a:r>
          </a:p>
          <a:p>
            <a:pPr algn="l" marL="523579" indent="-261790" lvl="1">
              <a:lnSpc>
                <a:spcPts val="3471"/>
              </a:lnSpc>
            </a:pPr>
            <a:r>
              <a:rPr lang="en-US" sz="2893" spc="-82">
                <a:solidFill>
                  <a:srgbClr val="284181"/>
                </a:solidFill>
                <a:latin typeface="Trebuchet MS"/>
                <a:ea typeface="Trebuchet MS"/>
                <a:cs typeface="Trebuchet MS"/>
                <a:sym typeface="Trebuchet MS"/>
              </a:rPr>
              <a:t>  m</a:t>
            </a:r>
            <a:r>
              <a:rPr lang="en-US" sz="2893" spc="-82">
                <a:solidFill>
                  <a:srgbClr val="284181"/>
                </a:solidFill>
                <a:latin typeface="Trebuchet MS"/>
                <a:ea typeface="Trebuchet MS"/>
                <a:cs typeface="Trebuchet MS"/>
                <a:sym typeface="Trebuchet MS"/>
              </a:rPr>
              <a:t>o</a:t>
            </a:r>
            <a:r>
              <a:rPr lang="en-US" sz="2893" spc="-82">
                <a:solidFill>
                  <a:srgbClr val="284181"/>
                </a:solidFill>
                <a:latin typeface="Trebuchet MS"/>
                <a:ea typeface="Trebuchet MS"/>
                <a:cs typeface="Trebuchet MS"/>
                <a:sym typeface="Trebuchet MS"/>
              </a:rPr>
              <a:t>ye</a:t>
            </a:r>
            <a:r>
              <a:rPr lang="en-US" sz="2893" spc="-82">
                <a:solidFill>
                  <a:srgbClr val="284181"/>
                </a:solidFill>
                <a:latin typeface="Trebuchet MS"/>
                <a:ea typeface="Trebuchet MS"/>
                <a:cs typeface="Trebuchet MS"/>
                <a:sym typeface="Trebuchet MS"/>
              </a:rPr>
              <a:t>ns </a:t>
            </a:r>
            <a:r>
              <a:rPr lang="en-US" sz="2893" spc="-82">
                <a:solidFill>
                  <a:srgbClr val="284181"/>
                </a:solidFill>
                <a:latin typeface="Trebuchet MS"/>
                <a:ea typeface="Trebuchet MS"/>
                <a:cs typeface="Trebuchet MS"/>
                <a:sym typeface="Trebuchet MS"/>
              </a:rPr>
              <a:t>d</a:t>
            </a:r>
            <a:r>
              <a:rPr lang="en-US" sz="2893" spc="-82">
                <a:solidFill>
                  <a:srgbClr val="284181"/>
                </a:solidFill>
                <a:latin typeface="Trebuchet MS"/>
                <a:ea typeface="Trebuchet MS"/>
                <a:cs typeface="Trebuchet MS"/>
                <a:sym typeface="Trebuchet MS"/>
              </a:rPr>
              <a:t>e</a:t>
            </a:r>
            <a:r>
              <a:rPr lang="en-US" sz="2893" spc="-82">
                <a:solidFill>
                  <a:srgbClr val="284181"/>
                </a:solidFill>
                <a:latin typeface="Trebuchet MS"/>
                <a:ea typeface="Trebuchet MS"/>
                <a:cs typeface="Trebuchet MS"/>
                <a:sym typeface="Trebuchet MS"/>
              </a:rPr>
              <a:t> 6</a:t>
            </a:r>
            <a:r>
              <a:rPr lang="en-US" sz="2893" spc="-82">
                <a:solidFill>
                  <a:srgbClr val="284181"/>
                </a:solidFill>
                <a:latin typeface="Trebuchet MS"/>
                <a:ea typeface="Trebuchet MS"/>
                <a:cs typeface="Trebuchet MS"/>
                <a:sym typeface="Trebuchet MS"/>
              </a:rPr>
              <a:t> </a:t>
            </a:r>
            <a:r>
              <a:rPr lang="en-US" sz="2893" spc="-82">
                <a:solidFill>
                  <a:srgbClr val="284181"/>
                </a:solidFill>
                <a:latin typeface="Trebuchet MS"/>
                <a:ea typeface="Trebuchet MS"/>
                <a:cs typeface="Trebuchet MS"/>
                <a:sym typeface="Trebuchet MS"/>
              </a:rPr>
              <a:t>m</a:t>
            </a:r>
            <a:r>
              <a:rPr lang="en-US" sz="2893" spc="-82">
                <a:solidFill>
                  <a:srgbClr val="284181"/>
                </a:solidFill>
                <a:latin typeface="Trebuchet MS"/>
                <a:ea typeface="Trebuchet MS"/>
                <a:cs typeface="Trebuchet MS"/>
                <a:sym typeface="Trebuchet MS"/>
              </a:rPr>
              <a:t>o</a:t>
            </a:r>
            <a:r>
              <a:rPr lang="en-US" sz="2893" spc="-82">
                <a:solidFill>
                  <a:srgbClr val="284181"/>
                </a:solidFill>
                <a:latin typeface="Trebuchet MS"/>
                <a:ea typeface="Trebuchet MS"/>
                <a:cs typeface="Trebuchet MS"/>
                <a:sym typeface="Trebuchet MS"/>
              </a:rPr>
              <a:t>is</a:t>
            </a:r>
            <a:r>
              <a:rPr lang="en-US" sz="2893" spc="-82">
                <a:solidFill>
                  <a:srgbClr val="284181"/>
                </a:solidFill>
                <a:latin typeface="Trebuchet MS"/>
                <a:ea typeface="Trebuchet MS"/>
                <a:cs typeface="Trebuchet MS"/>
                <a:sym typeface="Trebuchet MS"/>
              </a:rPr>
              <a:t> </a:t>
            </a:r>
            <a:r>
              <a:rPr lang="en-US" sz="2893" spc="-82">
                <a:solidFill>
                  <a:srgbClr val="284181"/>
                </a:solidFill>
                <a:latin typeface="Trebuchet MS"/>
                <a:ea typeface="Trebuchet MS"/>
                <a:cs typeface="Trebuchet MS"/>
                <a:sym typeface="Trebuchet MS"/>
              </a:rPr>
              <a:t>c</a:t>
            </a:r>
            <a:r>
              <a:rPr lang="en-US" sz="2893" spc="-82">
                <a:solidFill>
                  <a:srgbClr val="284181"/>
                </a:solidFill>
                <a:latin typeface="Trebuchet MS"/>
                <a:ea typeface="Trebuchet MS"/>
                <a:cs typeface="Trebuchet MS"/>
                <a:sym typeface="Trebuchet MS"/>
              </a:rPr>
              <a:t>ou</a:t>
            </a:r>
            <a:r>
              <a:rPr lang="en-US" sz="2893" spc="-82">
                <a:solidFill>
                  <a:srgbClr val="284181"/>
                </a:solidFill>
                <a:latin typeface="Trebuchet MS"/>
                <a:ea typeface="Trebuchet MS"/>
                <a:cs typeface="Trebuchet MS"/>
                <a:sym typeface="Trebuchet MS"/>
              </a:rPr>
              <a:t>r</a:t>
            </a:r>
            <a:r>
              <a:rPr lang="en-US" sz="2893" spc="-82">
                <a:solidFill>
                  <a:srgbClr val="284181"/>
                </a:solidFill>
                <a:latin typeface="Trebuchet MS"/>
                <a:ea typeface="Trebuchet MS"/>
                <a:cs typeface="Trebuchet MS"/>
                <a:sym typeface="Trebuchet MS"/>
              </a:rPr>
              <a:t>ant</a:t>
            </a:r>
            <a:r>
              <a:rPr lang="en-US" sz="2893" spc="-82">
                <a:solidFill>
                  <a:srgbClr val="284181"/>
                </a:solidFill>
                <a:latin typeface="Trebuchet MS"/>
                <a:ea typeface="Trebuchet MS"/>
                <a:cs typeface="Trebuchet MS"/>
                <a:sym typeface="Trebuchet MS"/>
              </a:rPr>
              <a:t>s,</a:t>
            </a:r>
            <a:r>
              <a:rPr lang="en-US" sz="2893" spc="-82">
                <a:solidFill>
                  <a:srgbClr val="284181"/>
                </a:solidFill>
                <a:latin typeface="Trebuchet MS"/>
                <a:ea typeface="Trebuchet MS"/>
                <a:cs typeface="Trebuchet MS"/>
                <a:sym typeface="Trebuchet MS"/>
              </a:rPr>
              <a:t> </a:t>
            </a:r>
            <a:r>
              <a:rPr lang="en-US" sz="2893" spc="-82">
                <a:solidFill>
                  <a:srgbClr val="284181"/>
                </a:solidFill>
                <a:latin typeface="Trebuchet MS"/>
                <a:ea typeface="Trebuchet MS"/>
                <a:cs typeface="Trebuchet MS"/>
                <a:sym typeface="Trebuchet MS"/>
              </a:rPr>
              <a:t>zér</a:t>
            </a:r>
            <a:r>
              <a:rPr lang="en-US" sz="2893" spc="-82">
                <a:solidFill>
                  <a:srgbClr val="284181"/>
                </a:solidFill>
                <a:latin typeface="Trebuchet MS"/>
                <a:ea typeface="Trebuchet MS"/>
                <a:cs typeface="Trebuchet MS"/>
                <a:sym typeface="Trebuchet MS"/>
              </a:rPr>
              <a:t>o</a:t>
            </a:r>
            <a:r>
              <a:rPr lang="en-US" sz="2893" spc="-82">
                <a:solidFill>
                  <a:srgbClr val="284181"/>
                </a:solidFill>
                <a:latin typeface="Trebuchet MS"/>
                <a:ea typeface="Trebuchet MS"/>
                <a:cs typeface="Trebuchet MS"/>
                <a:sym typeface="Trebuchet MS"/>
              </a:rPr>
              <a:t> t</a:t>
            </a:r>
            <a:r>
              <a:rPr lang="en-US" sz="2893" spc="-82">
                <a:solidFill>
                  <a:srgbClr val="284181"/>
                </a:solidFill>
                <a:latin typeface="Trebuchet MS"/>
                <a:ea typeface="Trebuchet MS"/>
                <a:cs typeface="Trebuchet MS"/>
                <a:sym typeface="Trebuchet MS"/>
              </a:rPr>
              <a:t>r</a:t>
            </a:r>
            <a:r>
              <a:rPr lang="en-US" sz="2893" spc="-82">
                <a:solidFill>
                  <a:srgbClr val="284181"/>
                </a:solidFill>
                <a:latin typeface="Trebuchet MS"/>
                <a:ea typeface="Trebuchet MS"/>
                <a:cs typeface="Trebuchet MS"/>
                <a:sym typeface="Trebuchet MS"/>
              </a:rPr>
              <a:t>aç</a:t>
            </a:r>
            <a:r>
              <a:rPr lang="en-US" sz="2893" spc="-82">
                <a:solidFill>
                  <a:srgbClr val="284181"/>
                </a:solidFill>
                <a:latin typeface="Trebuchet MS"/>
                <a:ea typeface="Trebuchet MS"/>
                <a:cs typeface="Trebuchet MS"/>
                <a:sym typeface="Trebuchet MS"/>
              </a:rPr>
              <a:t>a</a:t>
            </a:r>
            <a:r>
              <a:rPr lang="en-US" sz="2893" spc="-82">
                <a:solidFill>
                  <a:srgbClr val="284181"/>
                </a:solidFill>
                <a:latin typeface="Trebuchet MS"/>
                <a:ea typeface="Trebuchet MS"/>
                <a:cs typeface="Trebuchet MS"/>
                <a:sym typeface="Trebuchet MS"/>
              </a:rPr>
              <a:t>bi</a:t>
            </a:r>
            <a:r>
              <a:rPr lang="en-US" sz="2893" spc="-82">
                <a:solidFill>
                  <a:srgbClr val="284181"/>
                </a:solidFill>
                <a:latin typeface="Trebuchet MS"/>
                <a:ea typeface="Trebuchet MS"/>
                <a:cs typeface="Trebuchet MS"/>
                <a:sym typeface="Trebuchet MS"/>
              </a:rPr>
              <a:t>l</a:t>
            </a:r>
            <a:r>
              <a:rPr lang="en-US" sz="2893" spc="-82">
                <a:solidFill>
                  <a:srgbClr val="284181"/>
                </a:solidFill>
                <a:latin typeface="Trebuchet MS"/>
                <a:ea typeface="Trebuchet MS"/>
                <a:cs typeface="Trebuchet MS"/>
                <a:sym typeface="Trebuchet MS"/>
              </a:rPr>
              <a:t>ité</a:t>
            </a:r>
            <a:r>
              <a:rPr lang="en-US" sz="2893" spc="-82">
                <a:solidFill>
                  <a:srgbClr val="284181"/>
                </a:solidFill>
                <a:latin typeface="Trebuchet MS"/>
                <a:ea typeface="Trebuchet MS"/>
                <a:cs typeface="Trebuchet MS"/>
                <a:sym typeface="Trebuchet MS"/>
              </a:rPr>
              <a:t> </a:t>
            </a:r>
            <a:r>
              <a:rPr lang="en-US" sz="2893" spc="-82">
                <a:solidFill>
                  <a:srgbClr val="284181"/>
                </a:solidFill>
                <a:latin typeface="Trebuchet MS"/>
                <a:ea typeface="Trebuchet MS"/>
                <a:cs typeface="Trebuchet MS"/>
                <a:sym typeface="Trebuchet MS"/>
              </a:rPr>
              <a:t>dans</a:t>
            </a:r>
            <a:r>
              <a:rPr lang="en-US" sz="2893" spc="-82">
                <a:solidFill>
                  <a:srgbClr val="284181"/>
                </a:solidFill>
                <a:latin typeface="Trebuchet MS"/>
                <a:ea typeface="Trebuchet MS"/>
                <a:cs typeface="Trebuchet MS"/>
                <a:sym typeface="Trebuchet MS"/>
              </a:rPr>
              <a:t> u</a:t>
            </a:r>
            <a:r>
              <a:rPr lang="en-US" sz="2893" spc="-82">
                <a:solidFill>
                  <a:srgbClr val="284181"/>
                </a:solidFill>
                <a:latin typeface="Trebuchet MS"/>
                <a:ea typeface="Trebuchet MS"/>
                <a:cs typeface="Trebuchet MS"/>
                <a:sym typeface="Trebuchet MS"/>
              </a:rPr>
              <a:t>n s</a:t>
            </a:r>
            <a:r>
              <a:rPr lang="en-US" sz="2893" spc="-82">
                <a:solidFill>
                  <a:srgbClr val="284181"/>
                </a:solidFill>
                <a:latin typeface="Trebuchet MS"/>
                <a:ea typeface="Trebuchet MS"/>
                <a:cs typeface="Trebuchet MS"/>
                <a:sym typeface="Trebuchet MS"/>
              </a:rPr>
              <a:t>ec</a:t>
            </a:r>
            <a:r>
              <a:rPr lang="en-US" sz="2893" spc="-82">
                <a:solidFill>
                  <a:srgbClr val="284181"/>
                </a:solidFill>
                <a:latin typeface="Trebuchet MS"/>
                <a:ea typeface="Trebuchet MS"/>
                <a:cs typeface="Trebuchet MS"/>
                <a:sym typeface="Trebuchet MS"/>
              </a:rPr>
              <a:t>teur</a:t>
            </a:r>
            <a:r>
              <a:rPr lang="en-US" sz="2893" spc="-82">
                <a:solidFill>
                  <a:srgbClr val="284181"/>
                </a:solidFill>
                <a:latin typeface="Trebuchet MS"/>
                <a:ea typeface="Trebuchet MS"/>
                <a:cs typeface="Trebuchet MS"/>
                <a:sym typeface="Trebuchet MS"/>
              </a:rPr>
              <a:t> d</a:t>
            </a:r>
            <a:r>
              <a:rPr lang="en-US" sz="2893" spc="-82">
                <a:solidFill>
                  <a:srgbClr val="284181"/>
                </a:solidFill>
                <a:latin typeface="Trebuchet MS"/>
                <a:ea typeface="Trebuchet MS"/>
                <a:cs typeface="Trebuchet MS"/>
                <a:sym typeface="Trebuchet MS"/>
              </a:rPr>
              <a:t>'exp</a:t>
            </a:r>
            <a:r>
              <a:rPr lang="en-US" sz="2893" spc="-82">
                <a:solidFill>
                  <a:srgbClr val="284181"/>
                </a:solidFill>
                <a:latin typeface="Trebuchet MS"/>
                <a:ea typeface="Trebuchet MS"/>
                <a:cs typeface="Trebuchet MS"/>
                <a:sym typeface="Trebuchet MS"/>
              </a:rPr>
              <a:t>ortat</a:t>
            </a:r>
            <a:r>
              <a:rPr lang="en-US" sz="2893" spc="-82">
                <a:solidFill>
                  <a:srgbClr val="284181"/>
                </a:solidFill>
                <a:latin typeface="Trebuchet MS"/>
                <a:ea typeface="Trebuchet MS"/>
                <a:cs typeface="Trebuchet MS"/>
                <a:sym typeface="Trebuchet MS"/>
              </a:rPr>
              <a:t>ion d</a:t>
            </a:r>
            <a:r>
              <a:rPr lang="en-US" sz="2893" spc="-82">
                <a:solidFill>
                  <a:srgbClr val="284181"/>
                </a:solidFill>
                <a:latin typeface="Trebuchet MS"/>
                <a:ea typeface="Trebuchet MS"/>
                <a:cs typeface="Trebuchet MS"/>
                <a:sym typeface="Trebuchet MS"/>
              </a:rPr>
              <a:t>e co</a:t>
            </a:r>
            <a:r>
              <a:rPr lang="en-US" sz="2893" spc="-82">
                <a:solidFill>
                  <a:srgbClr val="284181"/>
                </a:solidFill>
                <a:latin typeface="Trebuchet MS"/>
                <a:ea typeface="Trebuchet MS"/>
                <a:cs typeface="Trebuchet MS"/>
                <a:sym typeface="Trebuchet MS"/>
              </a:rPr>
              <a:t>t</a:t>
            </a:r>
            <a:r>
              <a:rPr lang="en-US" sz="2893" spc="-82">
                <a:solidFill>
                  <a:srgbClr val="284181"/>
                </a:solidFill>
                <a:latin typeface="Trebuchet MS"/>
                <a:ea typeface="Trebuchet MS"/>
                <a:cs typeface="Trebuchet MS"/>
                <a:sym typeface="Trebuchet MS"/>
              </a:rPr>
              <a:t>o</a:t>
            </a:r>
            <a:r>
              <a:rPr lang="en-US" sz="2893" spc="-82">
                <a:solidFill>
                  <a:srgbClr val="284181"/>
                </a:solidFill>
                <a:latin typeface="Trebuchet MS"/>
                <a:ea typeface="Trebuchet MS"/>
                <a:cs typeface="Trebuchet MS"/>
                <a:sym typeface="Trebuchet MS"/>
              </a:rPr>
              <a:t>n de</a:t>
            </a:r>
            <a:r>
              <a:rPr lang="en-US" sz="2893" spc="-82">
                <a:solidFill>
                  <a:srgbClr val="284181"/>
                </a:solidFill>
                <a:latin typeface="Trebuchet MS"/>
                <a:ea typeface="Trebuchet MS"/>
                <a:cs typeface="Trebuchet MS"/>
                <a:sym typeface="Trebuchet MS"/>
              </a:rPr>
              <a:t> </a:t>
            </a:r>
            <a:r>
              <a:rPr lang="en-US" sz="2893" spc="-82">
                <a:solidFill>
                  <a:srgbClr val="284181"/>
                </a:solidFill>
                <a:latin typeface="Trebuchet MS"/>
                <a:ea typeface="Trebuchet MS"/>
                <a:cs typeface="Trebuchet MS"/>
                <a:sym typeface="Trebuchet MS"/>
              </a:rPr>
              <a:t>500M+ USD annuel</a:t>
            </a:r>
            <a:r>
              <a:rPr lang="en-US" sz="2893" spc="-82">
                <a:solidFill>
                  <a:srgbClr val="284181"/>
                </a:solidFill>
                <a:latin typeface="Trebuchet MS"/>
                <a:ea typeface="Trebuchet MS"/>
                <a:cs typeface="Trebuchet MS"/>
                <a:sym typeface="Trebuchet MS"/>
              </a:rPr>
              <a:t>s</a:t>
            </a:r>
            <a:r>
              <a:rPr lang="en-US" sz="2893" spc="-82">
                <a:solidFill>
                  <a:srgbClr val="284181"/>
                </a:solidFill>
                <a:latin typeface="Trebuchet MS"/>
                <a:ea typeface="Trebuchet MS"/>
                <a:cs typeface="Trebuchet MS"/>
                <a:sym typeface="Trebuchet MS"/>
              </a:rPr>
              <a:t>.</a:t>
            </a:r>
          </a:p>
          <a:p>
            <a:pPr algn="l" marL="451191" indent="-225596" lvl="1">
              <a:lnSpc>
                <a:spcPts val="2991"/>
              </a:lnSpc>
            </a:pPr>
          </a:p>
        </p:txBody>
      </p:sp>
    </p:spTree>
  </p:cSld>
  <p:clrMapOvr>
    <a:masterClrMapping/>
  </p:clrMapOvr>
</p:sld>
</file>

<file path=ppt/slides/slide5.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603371" y="373380"/>
            <a:ext cx="4376291"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S</a:t>
            </a:r>
            <a:r>
              <a:rPr lang="en-US" b="true" sz="3499">
                <a:solidFill>
                  <a:srgbClr val="284181"/>
                </a:solidFill>
                <a:latin typeface="Trebuchet MS Bold"/>
                <a:ea typeface="Trebuchet MS Bold"/>
                <a:cs typeface="Trebuchet MS Bold"/>
                <a:sym typeface="Trebuchet MS Bold"/>
              </a:rPr>
              <a:t>OLUTION PROPOSÉE</a:t>
            </a:r>
          </a:p>
        </p:txBody>
      </p:sp>
      <p:grpSp>
        <p:nvGrpSpPr>
          <p:cNvPr name="Group 6" id="6"/>
          <p:cNvGrpSpPr/>
          <p:nvPr/>
        </p:nvGrpSpPr>
        <p:grpSpPr>
          <a:xfrm rot="0">
            <a:off x="681361" y="1427712"/>
            <a:ext cx="17092612" cy="2017747"/>
            <a:chOff x="0" y="0"/>
            <a:chExt cx="22790150" cy="2690330"/>
          </a:xfrm>
        </p:grpSpPr>
        <p:sp>
          <p:nvSpPr>
            <p:cNvPr name="Freeform 7" id="7"/>
            <p:cNvSpPr/>
            <p:nvPr/>
          </p:nvSpPr>
          <p:spPr>
            <a:xfrm flipH="false" flipV="false" rot="0">
              <a:off x="0" y="0"/>
              <a:ext cx="22790150" cy="2690310"/>
            </a:xfrm>
            <a:custGeom>
              <a:avLst/>
              <a:gdLst/>
              <a:ahLst/>
              <a:cxnLst/>
              <a:rect r="r" b="b" t="t" l="l"/>
              <a:pathLst>
                <a:path h="2690310" w="22790150">
                  <a:moveTo>
                    <a:pt x="0" y="0"/>
                  </a:moveTo>
                  <a:lnTo>
                    <a:pt x="22790150" y="0"/>
                  </a:lnTo>
                  <a:lnTo>
                    <a:pt x="22790150" y="2690310"/>
                  </a:lnTo>
                  <a:lnTo>
                    <a:pt x="0" y="2690310"/>
                  </a:lnTo>
                  <a:close/>
                </a:path>
              </a:pathLst>
            </a:custGeom>
            <a:solidFill>
              <a:srgbClr val="E6E7E8"/>
            </a:solidFill>
          </p:spPr>
        </p:sp>
      </p:grpSp>
      <p:sp>
        <p:nvSpPr>
          <p:cNvPr name="TextBox 8" id="8"/>
          <p:cNvSpPr txBox="true"/>
          <p:nvPr/>
        </p:nvSpPr>
        <p:spPr>
          <a:xfrm rot="0">
            <a:off x="3115304" y="1599095"/>
            <a:ext cx="14460559" cy="1831848"/>
          </a:xfrm>
          <a:prstGeom prst="rect">
            <a:avLst/>
          </a:prstGeom>
        </p:spPr>
        <p:txBody>
          <a:bodyPr anchor="t" rtlCol="false" tIns="0" lIns="0" bIns="0" rIns="0">
            <a:spAutoFit/>
          </a:bodyPr>
          <a:lstStyle/>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CottonP</a:t>
            </a:r>
            <a:r>
              <a:rPr lang="en-US" b="true" sz="2700" i="true">
                <a:solidFill>
                  <a:srgbClr val="284181"/>
                </a:solidFill>
                <a:latin typeface="Trebuchet MS Bold Italics"/>
                <a:ea typeface="Trebuchet MS Bold Italics"/>
                <a:cs typeface="Trebuchet MS Bold Italics"/>
                <a:sym typeface="Trebuchet MS Bold Italics"/>
              </a:rPr>
              <a:t>ay enregistre numériquement chaque vente de coton et émet un credential vérifiable que l'agriculteur conserve comme preuve infalsifiable. Cela</a:t>
            </a:r>
          </a:p>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élimine la fraude, crée un historique de revenus prouvable pour accéder au crédit, et garantit la transparence des paiements via un système de distribution</a:t>
            </a:r>
          </a:p>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  automatique</a:t>
            </a:r>
          </a:p>
        </p:txBody>
      </p:sp>
      <p:grpSp>
        <p:nvGrpSpPr>
          <p:cNvPr name="Group 9" id="9"/>
          <p:cNvGrpSpPr/>
          <p:nvPr/>
        </p:nvGrpSpPr>
        <p:grpSpPr>
          <a:xfrm rot="0">
            <a:off x="654877" y="3826459"/>
            <a:ext cx="17092612" cy="1663408"/>
            <a:chOff x="0" y="0"/>
            <a:chExt cx="22790150" cy="2217877"/>
          </a:xfrm>
        </p:grpSpPr>
        <p:sp>
          <p:nvSpPr>
            <p:cNvPr name="Freeform 10" id="10"/>
            <p:cNvSpPr/>
            <p:nvPr/>
          </p:nvSpPr>
          <p:spPr>
            <a:xfrm flipH="false" flipV="false" rot="0">
              <a:off x="0" y="0"/>
              <a:ext cx="22790150" cy="2217861"/>
            </a:xfrm>
            <a:custGeom>
              <a:avLst/>
              <a:gdLst/>
              <a:ahLst/>
              <a:cxnLst/>
              <a:rect r="r" b="b" t="t" l="l"/>
              <a:pathLst>
                <a:path h="2217861" w="22790150">
                  <a:moveTo>
                    <a:pt x="0" y="0"/>
                  </a:moveTo>
                  <a:lnTo>
                    <a:pt x="22790150" y="0"/>
                  </a:lnTo>
                  <a:lnTo>
                    <a:pt x="22790150" y="2217861"/>
                  </a:lnTo>
                  <a:lnTo>
                    <a:pt x="0" y="2217861"/>
                  </a:lnTo>
                  <a:close/>
                </a:path>
              </a:pathLst>
            </a:custGeom>
            <a:solidFill>
              <a:srgbClr val="E6E7E8"/>
            </a:solidFill>
          </p:spPr>
        </p:sp>
      </p:grpSp>
      <p:sp>
        <p:nvSpPr>
          <p:cNvPr name="TextBox 11" id="11"/>
          <p:cNvSpPr txBox="true"/>
          <p:nvPr/>
        </p:nvSpPr>
        <p:spPr>
          <a:xfrm rot="0">
            <a:off x="2874073" y="3918452"/>
            <a:ext cx="15413927" cy="1469898"/>
          </a:xfrm>
          <a:prstGeom prst="rect">
            <a:avLst/>
          </a:prstGeom>
        </p:spPr>
        <p:txBody>
          <a:bodyPr anchor="t" rtlCol="false" tIns="0" lIns="0" bIns="0" rIns="0">
            <a:spAutoFit/>
          </a:bodyPr>
          <a:lstStyle/>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 Les chefs de c</a:t>
            </a:r>
            <a:r>
              <a:rPr lang="en-US" b="true" sz="2700" i="true">
                <a:solidFill>
                  <a:srgbClr val="00BFDF"/>
                </a:solidFill>
                <a:latin typeface="Trebuchet MS Bold Italics"/>
                <a:ea typeface="Trebuchet MS Bold Italics"/>
                <a:cs typeface="Trebuchet MS Bold Italics"/>
                <a:sym typeface="Trebuchet MS Bold Italics"/>
              </a:rPr>
              <a:t>oopératives s'authentifient via eSignet  avec leur NPI national . Chaque transaction est liée à l'identité numérique de l'agriculteur, </a:t>
            </a:r>
          </a:p>
          <a:p>
            <a:pPr algn="l">
              <a:lnSpc>
                <a:spcPts val="2916"/>
              </a:lnSpc>
            </a:pPr>
            <a:r>
              <a:rPr lang="en-US" b="true" sz="2700" i="true">
                <a:solidFill>
                  <a:srgbClr val="00BFDF"/>
                </a:solidFill>
                <a:latin typeface="Trebuchet MS Bold Italics"/>
                <a:ea typeface="Trebuchet MS Bold Italics"/>
                <a:cs typeface="Trebuchet MS Bold Italics"/>
                <a:sym typeface="Trebuchet MS Bold Italics"/>
              </a:rPr>
              <a:t>générant un credential vérifiable  stocké dans un wallet mobile, créant ainsi une identité économique portable et souveraine.</a:t>
            </a:r>
          </a:p>
        </p:txBody>
      </p:sp>
      <p:grpSp>
        <p:nvGrpSpPr>
          <p:cNvPr name="Group 12" id="12"/>
          <p:cNvGrpSpPr/>
          <p:nvPr/>
        </p:nvGrpSpPr>
        <p:grpSpPr>
          <a:xfrm rot="0">
            <a:off x="681361" y="5699417"/>
            <a:ext cx="17092612" cy="1522714"/>
            <a:chOff x="0" y="0"/>
            <a:chExt cx="22790150" cy="2030286"/>
          </a:xfrm>
        </p:grpSpPr>
        <p:sp>
          <p:nvSpPr>
            <p:cNvPr name="Freeform 13" id="13"/>
            <p:cNvSpPr/>
            <p:nvPr/>
          </p:nvSpPr>
          <p:spPr>
            <a:xfrm flipH="false" flipV="false" rot="0">
              <a:off x="0" y="0"/>
              <a:ext cx="22790150" cy="2030270"/>
            </a:xfrm>
            <a:custGeom>
              <a:avLst/>
              <a:gdLst/>
              <a:ahLst/>
              <a:cxnLst/>
              <a:rect r="r" b="b" t="t" l="l"/>
              <a:pathLst>
                <a:path h="2030270" w="22790150">
                  <a:moveTo>
                    <a:pt x="0" y="0"/>
                  </a:moveTo>
                  <a:lnTo>
                    <a:pt x="22790150" y="0"/>
                  </a:lnTo>
                  <a:lnTo>
                    <a:pt x="22790150" y="2030270"/>
                  </a:lnTo>
                  <a:lnTo>
                    <a:pt x="0" y="2030270"/>
                  </a:lnTo>
                  <a:close/>
                </a:path>
              </a:pathLst>
            </a:custGeom>
            <a:solidFill>
              <a:srgbClr val="E6E7E8"/>
            </a:solidFill>
          </p:spPr>
        </p:sp>
      </p:grpSp>
      <p:grpSp>
        <p:nvGrpSpPr>
          <p:cNvPr name="Group 14" id="14"/>
          <p:cNvGrpSpPr/>
          <p:nvPr/>
        </p:nvGrpSpPr>
        <p:grpSpPr>
          <a:xfrm rot="0">
            <a:off x="922702" y="5769083"/>
            <a:ext cx="1730912" cy="1634833"/>
            <a:chOff x="0" y="0"/>
            <a:chExt cx="2307882" cy="2179777"/>
          </a:xfrm>
        </p:grpSpPr>
        <p:grpSp>
          <p:nvGrpSpPr>
            <p:cNvPr name="Group 15" id="15"/>
            <p:cNvGrpSpPr/>
            <p:nvPr/>
          </p:nvGrpSpPr>
          <p:grpSpPr>
            <a:xfrm rot="-10800000">
              <a:off x="0" y="0"/>
              <a:ext cx="2307882" cy="2179777"/>
              <a:chOff x="0" y="0"/>
              <a:chExt cx="2307882" cy="2179777"/>
            </a:xfrm>
          </p:grpSpPr>
          <p:sp>
            <p:nvSpPr>
              <p:cNvPr name="Freeform 16" id="16"/>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5A5A5A"/>
              </a:solidFill>
            </p:spPr>
          </p:sp>
        </p:grpSp>
        <p:grpSp>
          <p:nvGrpSpPr>
            <p:cNvPr name="Group 17" id="17"/>
            <p:cNvGrpSpPr/>
            <p:nvPr/>
          </p:nvGrpSpPr>
          <p:grpSpPr>
            <a:xfrm rot="0">
              <a:off x="225158" y="272466"/>
              <a:ext cx="1857565" cy="1634833"/>
              <a:chOff x="0" y="0"/>
              <a:chExt cx="1857565" cy="1634833"/>
            </a:xfrm>
          </p:grpSpPr>
          <p:sp>
            <p:nvSpPr>
              <p:cNvPr name="Freeform 18" id="18"/>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19" id="19"/>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5A5A5A"/>
                    </a:solidFill>
                    <a:latin typeface="Trebuchet MS Bold"/>
                    <a:ea typeface="Trebuchet MS Bold"/>
                    <a:cs typeface="Trebuchet MS Bold"/>
                    <a:sym typeface="Trebuchet MS Bold"/>
                  </a:rPr>
                  <a:t>03</a:t>
                </a:r>
              </a:p>
            </p:txBody>
          </p:sp>
        </p:grpSp>
      </p:grpSp>
      <p:sp>
        <p:nvSpPr>
          <p:cNvPr name="TextBox 20" id="20"/>
          <p:cNvSpPr txBox="true"/>
          <p:nvPr/>
        </p:nvSpPr>
        <p:spPr>
          <a:xfrm rot="0">
            <a:off x="3142630" y="5916325"/>
            <a:ext cx="14433233" cy="1107948"/>
          </a:xfrm>
          <a:prstGeom prst="rect">
            <a:avLst/>
          </a:prstGeom>
        </p:spPr>
        <p:txBody>
          <a:bodyPr anchor="t" rtlCol="false" tIns="0" lIns="0" bIns="0" rIns="0">
            <a:spAutoFit/>
          </a:bodyPr>
          <a:lstStyle/>
          <a:p>
            <a:pPr algn="l">
              <a:lnSpc>
                <a:spcPts val="2916"/>
              </a:lnSpc>
            </a:pPr>
            <a:r>
              <a:rPr lang="en-US" b="true" sz="2700" i="true">
                <a:solidFill>
                  <a:srgbClr val="5A5A5A"/>
                </a:solidFill>
                <a:latin typeface="Trebuchet MS Bold Italics"/>
                <a:ea typeface="Trebuchet MS Bold Italics"/>
                <a:cs typeface="Trebuchet MS Bold Italics"/>
                <a:sym typeface="Trebuchet MS Bold Italics"/>
              </a:rPr>
              <a:t>Pr</a:t>
            </a:r>
            <a:r>
              <a:rPr lang="en-US" b="true" sz="2700" i="true">
                <a:solidFill>
                  <a:srgbClr val="5A5A5A"/>
                </a:solidFill>
                <a:latin typeface="Trebuchet MS Bold Italics"/>
                <a:ea typeface="Trebuchet MS Bold Italics"/>
                <a:cs typeface="Trebuchet MS Bold Italics"/>
                <a:sym typeface="Trebuchet MS Bold Italics"/>
              </a:rPr>
              <a:t>emière solution combinant authentification nationale et credentials vérifiables pour l'inclusion financière agricole . Les agriculteurs possèdent leurs données et  les credentials sont vérifiables instantanément par n'importe quelle institution</a:t>
            </a:r>
          </a:p>
        </p:txBody>
      </p:sp>
      <p:grpSp>
        <p:nvGrpSpPr>
          <p:cNvPr name="Group 21" id="21"/>
          <p:cNvGrpSpPr/>
          <p:nvPr/>
        </p:nvGrpSpPr>
        <p:grpSpPr>
          <a:xfrm rot="0">
            <a:off x="922702" y="3826459"/>
            <a:ext cx="1868815" cy="1634833"/>
            <a:chOff x="0" y="0"/>
            <a:chExt cx="2491753" cy="2179777"/>
          </a:xfrm>
        </p:grpSpPr>
        <p:grpSp>
          <p:nvGrpSpPr>
            <p:cNvPr name="Group 22" id="22"/>
            <p:cNvGrpSpPr/>
            <p:nvPr/>
          </p:nvGrpSpPr>
          <p:grpSpPr>
            <a:xfrm rot="-10800000">
              <a:off x="0" y="0"/>
              <a:ext cx="2307882" cy="2179777"/>
              <a:chOff x="0" y="0"/>
              <a:chExt cx="2307882" cy="2179777"/>
            </a:xfrm>
          </p:grpSpPr>
          <p:sp>
            <p:nvSpPr>
              <p:cNvPr name="Freeform 23" id="23"/>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00BFDF"/>
              </a:solidFill>
            </p:spPr>
          </p:sp>
        </p:grpSp>
        <p:grpSp>
          <p:nvGrpSpPr>
            <p:cNvPr name="Group 24" id="24"/>
            <p:cNvGrpSpPr/>
            <p:nvPr/>
          </p:nvGrpSpPr>
          <p:grpSpPr>
            <a:xfrm rot="0">
              <a:off x="225158" y="272466"/>
              <a:ext cx="1857565" cy="1634833"/>
              <a:chOff x="0" y="0"/>
              <a:chExt cx="1857565" cy="1634833"/>
            </a:xfrm>
          </p:grpSpPr>
          <p:sp>
            <p:nvSpPr>
              <p:cNvPr name="Freeform 25" id="25"/>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26" id="26"/>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00BFDF"/>
                    </a:solidFill>
                    <a:latin typeface="Trebuchet MS Bold"/>
                    <a:ea typeface="Trebuchet MS Bold"/>
                    <a:cs typeface="Trebuchet MS Bold"/>
                    <a:sym typeface="Trebuchet MS Bold"/>
                  </a:rPr>
                  <a:t>02</a:t>
                </a:r>
              </a:p>
            </p:txBody>
          </p:sp>
        </p:grpSp>
        <p:grpSp>
          <p:nvGrpSpPr>
            <p:cNvPr name="Group 27" id="27"/>
            <p:cNvGrpSpPr/>
            <p:nvPr/>
          </p:nvGrpSpPr>
          <p:grpSpPr>
            <a:xfrm rot="0">
              <a:off x="2307882" y="0"/>
              <a:ext cx="183871" cy="185776"/>
              <a:chOff x="0" y="0"/>
              <a:chExt cx="183871" cy="185776"/>
            </a:xfrm>
          </p:grpSpPr>
          <p:sp>
            <p:nvSpPr>
              <p:cNvPr name="Freeform 28" id="28"/>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6ECFE0"/>
              </a:solidFill>
            </p:spPr>
          </p:sp>
        </p:grpSp>
      </p:grpSp>
      <p:grpSp>
        <p:nvGrpSpPr>
          <p:cNvPr name="Group 29" id="29"/>
          <p:cNvGrpSpPr/>
          <p:nvPr/>
        </p:nvGrpSpPr>
        <p:grpSpPr>
          <a:xfrm rot="0">
            <a:off x="922702" y="1688078"/>
            <a:ext cx="1868815" cy="1634833"/>
            <a:chOff x="0" y="0"/>
            <a:chExt cx="2491753" cy="2179777"/>
          </a:xfrm>
        </p:grpSpPr>
        <p:grpSp>
          <p:nvGrpSpPr>
            <p:cNvPr name="Group 30" id="30"/>
            <p:cNvGrpSpPr/>
            <p:nvPr/>
          </p:nvGrpSpPr>
          <p:grpSpPr>
            <a:xfrm rot="-10800000">
              <a:off x="0" y="0"/>
              <a:ext cx="2307882" cy="2179777"/>
              <a:chOff x="0" y="0"/>
              <a:chExt cx="2307882" cy="2179777"/>
            </a:xfrm>
          </p:grpSpPr>
          <p:sp>
            <p:nvSpPr>
              <p:cNvPr name="Freeform 31" id="31"/>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284181"/>
              </a:solidFill>
            </p:spPr>
          </p:sp>
        </p:grpSp>
        <p:grpSp>
          <p:nvGrpSpPr>
            <p:cNvPr name="Group 32" id="32"/>
            <p:cNvGrpSpPr/>
            <p:nvPr/>
          </p:nvGrpSpPr>
          <p:grpSpPr>
            <a:xfrm rot="0">
              <a:off x="225158" y="273177"/>
              <a:ext cx="1857565" cy="1634833"/>
              <a:chOff x="0" y="0"/>
              <a:chExt cx="1857565" cy="1634833"/>
            </a:xfrm>
          </p:grpSpPr>
          <p:sp>
            <p:nvSpPr>
              <p:cNvPr name="Freeform 33" id="33"/>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34" id="34"/>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284181"/>
                    </a:solidFill>
                    <a:latin typeface="Trebuchet MS Bold"/>
                    <a:ea typeface="Trebuchet MS Bold"/>
                    <a:cs typeface="Trebuchet MS Bold"/>
                    <a:sym typeface="Trebuchet MS Bold"/>
                  </a:rPr>
                  <a:t>01</a:t>
                </a:r>
              </a:p>
            </p:txBody>
          </p:sp>
        </p:grpSp>
        <p:grpSp>
          <p:nvGrpSpPr>
            <p:cNvPr name="Group 35" id="35"/>
            <p:cNvGrpSpPr/>
            <p:nvPr/>
          </p:nvGrpSpPr>
          <p:grpSpPr>
            <a:xfrm rot="0">
              <a:off x="2307882" y="3683"/>
              <a:ext cx="183871" cy="185776"/>
              <a:chOff x="0" y="0"/>
              <a:chExt cx="183871" cy="185776"/>
            </a:xfrm>
          </p:grpSpPr>
          <p:sp>
            <p:nvSpPr>
              <p:cNvPr name="Freeform 36" id="36"/>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436AB3"/>
              </a:solidFill>
            </p:spPr>
          </p:sp>
        </p:grpSp>
      </p:grpSp>
      <p:grpSp>
        <p:nvGrpSpPr>
          <p:cNvPr name="Group 37" id="37"/>
          <p:cNvGrpSpPr/>
          <p:nvPr/>
        </p:nvGrpSpPr>
        <p:grpSpPr>
          <a:xfrm rot="0">
            <a:off x="2874074" y="5699417"/>
            <a:ext cx="137903" cy="139332"/>
            <a:chOff x="0" y="0"/>
            <a:chExt cx="183871" cy="185776"/>
          </a:xfrm>
        </p:grpSpPr>
        <p:sp>
          <p:nvSpPr>
            <p:cNvPr name="Freeform 38" id="38"/>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939598"/>
            </a:solidFill>
          </p:spPr>
        </p:sp>
      </p:grpSp>
      <p:grpSp>
        <p:nvGrpSpPr>
          <p:cNvPr name="Group 39" id="39"/>
          <p:cNvGrpSpPr/>
          <p:nvPr/>
        </p:nvGrpSpPr>
        <p:grpSpPr>
          <a:xfrm rot="0">
            <a:off x="511950" y="7710345"/>
            <a:ext cx="17092612" cy="1266549"/>
            <a:chOff x="0" y="0"/>
            <a:chExt cx="22790150" cy="1688732"/>
          </a:xfrm>
        </p:grpSpPr>
        <p:sp>
          <p:nvSpPr>
            <p:cNvPr name="Freeform 40" id="40"/>
            <p:cNvSpPr/>
            <p:nvPr/>
          </p:nvSpPr>
          <p:spPr>
            <a:xfrm flipH="false" flipV="false" rot="0">
              <a:off x="0" y="0"/>
              <a:ext cx="22790150" cy="1688719"/>
            </a:xfrm>
            <a:custGeom>
              <a:avLst/>
              <a:gdLst/>
              <a:ahLst/>
              <a:cxnLst/>
              <a:rect r="r" b="b" t="t" l="l"/>
              <a:pathLst>
                <a:path h="1688719" w="22790150">
                  <a:moveTo>
                    <a:pt x="0" y="0"/>
                  </a:moveTo>
                  <a:lnTo>
                    <a:pt x="22790150" y="0"/>
                  </a:lnTo>
                  <a:lnTo>
                    <a:pt x="22790150" y="1688719"/>
                  </a:lnTo>
                  <a:lnTo>
                    <a:pt x="0" y="1688719"/>
                  </a:lnTo>
                  <a:close/>
                </a:path>
              </a:pathLst>
            </a:custGeom>
            <a:solidFill>
              <a:srgbClr val="E6E7E8"/>
            </a:solidFill>
          </p:spPr>
        </p:sp>
      </p:grpSp>
      <p:grpSp>
        <p:nvGrpSpPr>
          <p:cNvPr name="Group 41" id="41"/>
          <p:cNvGrpSpPr/>
          <p:nvPr/>
        </p:nvGrpSpPr>
        <p:grpSpPr>
          <a:xfrm rot="-10800000">
            <a:off x="1124093" y="7571013"/>
            <a:ext cx="1730912" cy="1634833"/>
            <a:chOff x="0" y="0"/>
            <a:chExt cx="2307882" cy="2179777"/>
          </a:xfrm>
        </p:grpSpPr>
        <p:sp>
          <p:nvSpPr>
            <p:cNvPr name="Freeform 42" id="42"/>
            <p:cNvSpPr/>
            <p:nvPr/>
          </p:nvSpPr>
          <p:spPr>
            <a:xfrm flipH="false" flipV="false" rot="0">
              <a:off x="0" y="0"/>
              <a:ext cx="2307844" cy="2179828"/>
            </a:xfrm>
            <a:custGeom>
              <a:avLst/>
              <a:gdLst/>
              <a:ahLst/>
              <a:cxnLst/>
              <a:rect r="r" b="b" t="t" l="l"/>
              <a:pathLst>
                <a:path h="2179828" w="2307844">
                  <a:moveTo>
                    <a:pt x="2307844" y="2179828"/>
                  </a:moveTo>
                  <a:lnTo>
                    <a:pt x="0" y="2179828"/>
                  </a:lnTo>
                  <a:lnTo>
                    <a:pt x="0" y="274574"/>
                  </a:lnTo>
                  <a:lnTo>
                    <a:pt x="1153922" y="0"/>
                  </a:lnTo>
                  <a:lnTo>
                    <a:pt x="2307844" y="274574"/>
                  </a:lnTo>
                  <a:close/>
                </a:path>
              </a:pathLst>
            </a:custGeom>
            <a:solidFill>
              <a:srgbClr val="284181"/>
            </a:solidFill>
          </p:spPr>
        </p:sp>
      </p:grpSp>
      <p:grpSp>
        <p:nvGrpSpPr>
          <p:cNvPr name="Group 43" id="43"/>
          <p:cNvGrpSpPr/>
          <p:nvPr/>
        </p:nvGrpSpPr>
        <p:grpSpPr>
          <a:xfrm rot="0">
            <a:off x="1292962" y="7775896"/>
            <a:ext cx="1393174" cy="1226125"/>
            <a:chOff x="0" y="0"/>
            <a:chExt cx="1857565" cy="1634833"/>
          </a:xfrm>
        </p:grpSpPr>
        <p:sp>
          <p:nvSpPr>
            <p:cNvPr name="Freeform 44" id="44"/>
            <p:cNvSpPr/>
            <p:nvPr/>
          </p:nvSpPr>
          <p:spPr>
            <a:xfrm flipH="false" flipV="false" rot="0">
              <a:off x="0" y="0"/>
              <a:ext cx="1857502" cy="1634744"/>
            </a:xfrm>
            <a:custGeom>
              <a:avLst/>
              <a:gdLst/>
              <a:ahLst/>
              <a:cxnLst/>
              <a:rect r="r" b="b" t="t" l="l"/>
              <a:pathLst>
                <a:path h="1634744" w="1857502">
                  <a:moveTo>
                    <a:pt x="0" y="817372"/>
                  </a:moveTo>
                  <a:cubicBezTo>
                    <a:pt x="0" y="366014"/>
                    <a:pt x="415798" y="0"/>
                    <a:pt x="928751" y="0"/>
                  </a:cubicBezTo>
                  <a:cubicBezTo>
                    <a:pt x="1441704" y="0"/>
                    <a:pt x="1857502" y="366014"/>
                    <a:pt x="1857502" y="817372"/>
                  </a:cubicBezTo>
                  <a:cubicBezTo>
                    <a:pt x="1857502" y="1268730"/>
                    <a:pt x="1441704" y="1634744"/>
                    <a:pt x="928751" y="1634744"/>
                  </a:cubicBezTo>
                  <a:cubicBezTo>
                    <a:pt x="415798" y="1634744"/>
                    <a:pt x="0" y="1268857"/>
                    <a:pt x="0" y="817372"/>
                  </a:cubicBezTo>
                  <a:close/>
                </a:path>
              </a:pathLst>
            </a:custGeom>
            <a:solidFill>
              <a:srgbClr val="FFFFFF"/>
            </a:solidFill>
          </p:spPr>
        </p:sp>
        <p:sp>
          <p:nvSpPr>
            <p:cNvPr name="TextBox 45" id="45"/>
            <p:cNvSpPr txBox="true"/>
            <p:nvPr/>
          </p:nvSpPr>
          <p:spPr>
            <a:xfrm>
              <a:off x="0" y="-9525"/>
              <a:ext cx="1857565" cy="1644358"/>
            </a:xfrm>
            <a:prstGeom prst="rect">
              <a:avLst/>
            </a:prstGeom>
          </p:spPr>
          <p:txBody>
            <a:bodyPr anchor="ctr" rtlCol="false" tIns="50800" lIns="50800" bIns="50800" rIns="50800"/>
            <a:lstStyle/>
            <a:p>
              <a:pPr algn="ctr">
                <a:lnSpc>
                  <a:spcPts val="5040"/>
                </a:lnSpc>
              </a:pPr>
              <a:r>
                <a:rPr lang="en-US" b="true" sz="4200">
                  <a:solidFill>
                    <a:srgbClr val="284181"/>
                  </a:solidFill>
                  <a:latin typeface="Trebuchet MS Bold"/>
                  <a:ea typeface="Trebuchet MS Bold"/>
                  <a:cs typeface="Trebuchet MS Bold"/>
                  <a:sym typeface="Trebuchet MS Bold"/>
                </a:rPr>
                <a:t>04</a:t>
              </a:r>
            </a:p>
          </p:txBody>
        </p:sp>
      </p:grpSp>
      <p:sp>
        <p:nvSpPr>
          <p:cNvPr name="TextBox 46" id="46"/>
          <p:cNvSpPr txBox="true"/>
          <p:nvPr/>
        </p:nvSpPr>
        <p:spPr>
          <a:xfrm rot="0">
            <a:off x="3115304" y="7799170"/>
            <a:ext cx="13752422" cy="1107948"/>
          </a:xfrm>
          <a:prstGeom prst="rect">
            <a:avLst/>
          </a:prstGeom>
        </p:spPr>
        <p:txBody>
          <a:bodyPr anchor="t" rtlCol="false" tIns="0" lIns="0" bIns="0" rIns="0">
            <a:spAutoFit/>
          </a:bodyPr>
          <a:lstStyle/>
          <a:p>
            <a:pPr algn="l">
              <a:lnSpc>
                <a:spcPts val="2916"/>
              </a:lnSpc>
            </a:pPr>
            <a:r>
              <a:rPr lang="en-US" b="true" sz="2700" i="true">
                <a:solidFill>
                  <a:srgbClr val="284181"/>
                </a:solidFill>
                <a:latin typeface="Trebuchet MS Bold Italics"/>
                <a:ea typeface="Trebuchet MS Bold Italics"/>
                <a:cs typeface="Trebuchet MS Bold Italics"/>
                <a:sym typeface="Trebuchet MS Bold Italics"/>
              </a:rPr>
              <a:t>Infr</a:t>
            </a:r>
            <a:r>
              <a:rPr lang="en-US" b="true" sz="2700" i="true">
                <a:solidFill>
                  <a:srgbClr val="284181"/>
                </a:solidFill>
                <a:latin typeface="Trebuchet MS Bold Italics"/>
                <a:ea typeface="Trebuchet MS Bold Italics"/>
                <a:cs typeface="Trebuchet MS Bold Italics"/>
                <a:sym typeface="Trebuchet MS Bold Italics"/>
              </a:rPr>
              <a:t>astructure eSignet/MOSIP déployée nationalement, connectivité mobile dans les zones rurales ,   formation des chefs de coopératives à l'utilisation de la plateforme</a:t>
            </a:r>
          </a:p>
        </p:txBody>
      </p:sp>
      <p:grpSp>
        <p:nvGrpSpPr>
          <p:cNvPr name="Group 47" id="47"/>
          <p:cNvGrpSpPr/>
          <p:nvPr/>
        </p:nvGrpSpPr>
        <p:grpSpPr>
          <a:xfrm rot="0">
            <a:off x="2855004" y="7573775"/>
            <a:ext cx="137903" cy="139332"/>
            <a:chOff x="0" y="0"/>
            <a:chExt cx="183871" cy="185776"/>
          </a:xfrm>
        </p:grpSpPr>
        <p:sp>
          <p:nvSpPr>
            <p:cNvPr name="Freeform 48" id="48"/>
            <p:cNvSpPr/>
            <p:nvPr/>
          </p:nvSpPr>
          <p:spPr>
            <a:xfrm flipH="false" flipV="false" rot="0">
              <a:off x="0" y="0"/>
              <a:ext cx="183896" cy="185801"/>
            </a:xfrm>
            <a:custGeom>
              <a:avLst/>
              <a:gdLst/>
              <a:ahLst/>
              <a:cxnLst/>
              <a:rect r="r" b="b" t="t" l="l"/>
              <a:pathLst>
                <a:path h="185801" w="183896">
                  <a:moveTo>
                    <a:pt x="0" y="185801"/>
                  </a:moveTo>
                  <a:lnTo>
                    <a:pt x="0" y="0"/>
                  </a:lnTo>
                  <a:lnTo>
                    <a:pt x="183896" y="185801"/>
                  </a:lnTo>
                  <a:close/>
                </a:path>
              </a:pathLst>
            </a:custGeom>
            <a:solidFill>
              <a:srgbClr val="436AB3"/>
            </a:solidFill>
          </p:spPr>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Freeform 4" id="4"/>
          <p:cNvSpPr/>
          <p:nvPr/>
        </p:nvSpPr>
        <p:spPr>
          <a:xfrm flipH="false" flipV="false" rot="0">
            <a:off x="2462214" y="1496804"/>
            <a:ext cx="13805435" cy="7761496"/>
          </a:xfrm>
          <a:custGeom>
            <a:avLst/>
            <a:gdLst/>
            <a:ahLst/>
            <a:cxnLst/>
            <a:rect r="r" b="b" t="t" l="l"/>
            <a:pathLst>
              <a:path h="7761496" w="13805435">
                <a:moveTo>
                  <a:pt x="0" y="0"/>
                </a:moveTo>
                <a:lnTo>
                  <a:pt x="13805435" y="0"/>
                </a:lnTo>
                <a:lnTo>
                  <a:pt x="13805435" y="7761496"/>
                </a:lnTo>
                <a:lnTo>
                  <a:pt x="0" y="7761496"/>
                </a:lnTo>
                <a:lnTo>
                  <a:pt x="0" y="0"/>
                </a:lnTo>
                <a:close/>
              </a:path>
            </a:pathLst>
          </a:custGeom>
          <a:blipFill>
            <a:blip r:embed="rId2"/>
            <a:stretch>
              <a:fillRect l="0" t="-11016" r="0" b="-7490"/>
            </a:stretch>
          </a:blipFill>
        </p:spPr>
      </p:sp>
      <p:sp>
        <p:nvSpPr>
          <p:cNvPr name="TextBox 5" id="5"/>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6" id="6"/>
          <p:cNvSpPr txBox="true"/>
          <p:nvPr/>
        </p:nvSpPr>
        <p:spPr>
          <a:xfrm rot="0">
            <a:off x="603371" y="373380"/>
            <a:ext cx="4475708"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FLUX D'I</a:t>
            </a:r>
            <a:r>
              <a:rPr lang="en-US" b="true" sz="3499">
                <a:solidFill>
                  <a:srgbClr val="284181"/>
                </a:solidFill>
                <a:latin typeface="Trebuchet MS Bold"/>
                <a:ea typeface="Trebuchet MS Bold"/>
                <a:cs typeface="Trebuchet MS Bold"/>
                <a:sym typeface="Trebuchet MS Bold"/>
              </a:rPr>
              <a:t>NFORMATION</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5261715" y="9851822"/>
            <a:ext cx="7764570" cy="203778"/>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6" id="6"/>
          <p:cNvSpPr txBox="true"/>
          <p:nvPr/>
        </p:nvSpPr>
        <p:spPr>
          <a:xfrm rot="0">
            <a:off x="603371" y="373380"/>
            <a:ext cx="5004346"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PA</a:t>
            </a:r>
            <a:r>
              <a:rPr lang="en-US" b="true" sz="3499">
                <a:solidFill>
                  <a:srgbClr val="284181"/>
                </a:solidFill>
                <a:latin typeface="Trebuchet MS Bold"/>
                <a:ea typeface="Trebuchet MS Bold"/>
                <a:cs typeface="Trebuchet MS Bold"/>
                <a:sym typeface="Trebuchet MS Bold"/>
              </a:rPr>
              <a:t>RCOURS UTILISATEUR</a:t>
            </a:r>
          </a:p>
        </p:txBody>
      </p:sp>
      <p:sp>
        <p:nvSpPr>
          <p:cNvPr name="TextBox 7" id="7"/>
          <p:cNvSpPr txBox="true"/>
          <p:nvPr/>
        </p:nvSpPr>
        <p:spPr>
          <a:xfrm rot="0">
            <a:off x="681361" y="1338262"/>
            <a:ext cx="16686627" cy="7610475"/>
          </a:xfrm>
          <a:prstGeom prst="rect">
            <a:avLst/>
          </a:prstGeom>
        </p:spPr>
        <p:txBody>
          <a:bodyPr anchor="t" rtlCol="false" tIns="0" lIns="0" bIns="0" rIns="0">
            <a:spAutoFit/>
          </a:bodyPr>
          <a:lstStyle/>
          <a:p>
            <a:pPr algn="l">
              <a:lnSpc>
                <a:spcPts val="3599"/>
              </a:lnSpc>
            </a:pPr>
            <a:r>
              <a:rPr lang="en-US" sz="2999" i="true">
                <a:solidFill>
                  <a:srgbClr val="595959"/>
                </a:solidFill>
                <a:latin typeface="Trebuchet MS Italics"/>
                <a:ea typeface="Trebuchet MS Italics"/>
                <a:cs typeface="Trebuchet MS Italics"/>
                <a:sym typeface="Trebuchet MS Italics"/>
              </a:rPr>
              <a:t> Acteur : Koffi Mensah (Chef de Coopérat</a:t>
            </a:r>
            <a:r>
              <a:rPr lang="en-US" sz="2999" i="true">
                <a:solidFill>
                  <a:srgbClr val="595959"/>
                </a:solidFill>
                <a:latin typeface="Trebuchet MS Italics"/>
                <a:ea typeface="Trebuchet MS Italics"/>
                <a:cs typeface="Trebuchet MS Italics"/>
                <a:sym typeface="Trebuchet MS Italics"/>
              </a:rPr>
              <a:t>ive)</a:t>
            </a:r>
          </a:p>
          <a:p>
            <a:pPr algn="l">
              <a:lnSpc>
                <a:spcPts val="3599"/>
              </a:lnSpc>
            </a:pPr>
          </a:p>
          <a:p>
            <a:pPr algn="l">
              <a:lnSpc>
                <a:spcPts val="3599"/>
              </a:lnSpc>
            </a:pPr>
            <a:r>
              <a:rPr lang="en-US" sz="2999" i="true">
                <a:solidFill>
                  <a:srgbClr val="595959"/>
                </a:solidFill>
                <a:latin typeface="Trebuchet MS Italics"/>
                <a:ea typeface="Trebuchet MS Italics"/>
                <a:cs typeface="Trebuchet MS Italics"/>
                <a:sym typeface="Trebuchet MS Italics"/>
              </a:rPr>
              <a:t>1. Koffi ouvre l'application CottonPay sur son smartphone</a:t>
            </a:r>
          </a:p>
          <a:p>
            <a:pPr algn="l">
              <a:lnSpc>
                <a:spcPts val="3599"/>
              </a:lnSpc>
            </a:pPr>
            <a:r>
              <a:rPr lang="en-US" sz="2999" i="true">
                <a:solidFill>
                  <a:srgbClr val="595959"/>
                </a:solidFill>
                <a:latin typeface="Trebuchet MS Italics"/>
                <a:ea typeface="Trebuchet MS Italics"/>
                <a:cs typeface="Trebuchet MS Italics"/>
                <a:sym typeface="Trebuchet MS Italics"/>
              </a:rPr>
              <a:t>2. Il clique sur "Se connecter avec eSignet"                                                                                                                                         3. Il entre son NPI (Numéro Personnel d'Identification)</a:t>
            </a:r>
          </a:p>
          <a:p>
            <a:pPr algn="l">
              <a:lnSpc>
                <a:spcPts val="3599"/>
              </a:lnSpc>
            </a:pPr>
            <a:r>
              <a:rPr lang="en-US" sz="2999" i="true">
                <a:solidFill>
                  <a:srgbClr val="595959"/>
                </a:solidFill>
                <a:latin typeface="Trebuchet MS Italics"/>
                <a:ea typeface="Trebuchet MS Italics"/>
                <a:cs typeface="Trebuchet MS Italics"/>
                <a:sym typeface="Trebuchet MS Italics"/>
              </a:rPr>
              <a:t>4. Il reçoit un code OTP par SMS sur son téléphone                                                                                                                      5. Il entre le code OTP pour vérifier son identité</a:t>
            </a:r>
          </a:p>
          <a:p>
            <a:pPr algn="l">
              <a:lnSpc>
                <a:spcPts val="3599"/>
              </a:lnSpc>
            </a:pPr>
            <a:r>
              <a:rPr lang="en-US" sz="2999" i="true">
                <a:solidFill>
                  <a:srgbClr val="595959"/>
                </a:solidFill>
                <a:latin typeface="Trebuchet MS Italics"/>
                <a:ea typeface="Trebuchet MS Italics"/>
                <a:cs typeface="Trebuchet MS Italics"/>
                <a:sym typeface="Trebuchet MS Italics"/>
              </a:rPr>
              <a:t>6. eSignet valide son identité - il est connecté au dashboard</a:t>
            </a:r>
          </a:p>
          <a:p>
            <a:pPr algn="l">
              <a:lnSpc>
                <a:spcPts val="3599"/>
              </a:lnSpc>
            </a:pPr>
            <a:r>
              <a:rPr lang="en-US" sz="2999" i="true">
                <a:solidFill>
                  <a:srgbClr val="595959"/>
                </a:solidFill>
                <a:latin typeface="Trebuchet MS Italics"/>
                <a:ea typeface="Trebuchet MS Italics"/>
                <a:cs typeface="Trebuchet MS Italics"/>
                <a:sym typeface="Trebuchet MS Italics"/>
              </a:rPr>
              <a:t>7. Il clique sur "Enregistrer une livraison"</a:t>
            </a:r>
          </a:p>
          <a:p>
            <a:pPr algn="l">
              <a:lnSpc>
                <a:spcPts val="3599"/>
              </a:lnSpc>
            </a:pPr>
            <a:r>
              <a:rPr lang="en-US" sz="2999" i="true">
                <a:solidFill>
                  <a:srgbClr val="595959"/>
                </a:solidFill>
                <a:latin typeface="Trebuchet MS Italics"/>
                <a:ea typeface="Trebuchet MS Italics"/>
                <a:cs typeface="Trebuchet MS Italics"/>
                <a:sym typeface="Trebuchet MS Italics"/>
              </a:rPr>
              <a:t>8. Il sélectionne l'agriculteur Adjovi Dossou dans la liste</a:t>
            </a:r>
          </a:p>
          <a:p>
            <a:pPr algn="l">
              <a:lnSpc>
                <a:spcPts val="3599"/>
              </a:lnSpc>
            </a:pPr>
            <a:r>
              <a:rPr lang="en-US" sz="2999" i="true">
                <a:solidFill>
                  <a:srgbClr val="595959"/>
                </a:solidFill>
                <a:latin typeface="Trebuchet MS Italics"/>
                <a:ea typeface="Trebuchet MS Italics"/>
                <a:cs typeface="Trebuchet MS Italics"/>
                <a:sym typeface="Trebuchet MS Italics"/>
              </a:rPr>
              <a:t>9. Il entre le poids : 150 kg, prix unitaire : 500 FCFA/kg</a:t>
            </a:r>
          </a:p>
          <a:p>
            <a:pPr algn="l">
              <a:lnSpc>
                <a:spcPts val="3599"/>
              </a:lnSpc>
            </a:pPr>
            <a:r>
              <a:rPr lang="en-US" sz="2999" i="true">
                <a:solidFill>
                  <a:srgbClr val="595959"/>
                </a:solidFill>
                <a:latin typeface="Trebuchet MS Italics"/>
                <a:ea typeface="Trebuchet MS Italics"/>
                <a:cs typeface="Trebuchet MS Italics"/>
                <a:sym typeface="Trebuchet MS Italics"/>
              </a:rPr>
              <a:t>10. Le système calcule automatiquement : 75 000 FCFA</a:t>
            </a:r>
          </a:p>
          <a:p>
            <a:pPr algn="l">
              <a:lnSpc>
                <a:spcPts val="3599"/>
              </a:lnSpc>
            </a:pPr>
            <a:r>
              <a:rPr lang="en-US" sz="2999" i="true">
                <a:solidFill>
                  <a:srgbClr val="595959"/>
                </a:solidFill>
                <a:latin typeface="Trebuchet MS Italics"/>
                <a:ea typeface="Trebuchet MS Italics"/>
                <a:cs typeface="Trebuchet MS Italics"/>
                <a:sym typeface="Trebuchet MS Italics"/>
              </a:rPr>
              <a:t>11. Il clique sur "Enregistrer la vente"</a:t>
            </a:r>
          </a:p>
          <a:p>
            <a:pPr algn="l">
              <a:lnSpc>
                <a:spcPts val="3599"/>
              </a:lnSpc>
            </a:pPr>
            <a:r>
              <a:rPr lang="en-US" sz="2999" i="true">
                <a:solidFill>
                  <a:srgbClr val="595959"/>
                </a:solidFill>
                <a:latin typeface="Trebuchet MS Italics"/>
                <a:ea typeface="Trebuchet MS Italics"/>
                <a:cs typeface="Trebuchet MS Italics"/>
                <a:sym typeface="Trebuchet MS Italics"/>
              </a:rPr>
              <a:t>12. Le système génère instantanément un QR code avec le credential vérifiable</a:t>
            </a:r>
          </a:p>
          <a:p>
            <a:pPr algn="l">
              <a:lnSpc>
                <a:spcPts val="3599"/>
              </a:lnSpc>
            </a:pPr>
            <a:r>
              <a:rPr lang="en-US" sz="2999" i="true">
                <a:solidFill>
                  <a:srgbClr val="595959"/>
                </a:solidFill>
                <a:latin typeface="Trebuchet MS Italics"/>
                <a:ea typeface="Trebuchet MS Italics"/>
                <a:cs typeface="Trebuchet MS Italics"/>
                <a:sym typeface="Trebuchet MS Italics"/>
              </a:rPr>
              <a:t>13. Koffi montre le QR code à Adjovi qui le scanne avec son téléphone</a:t>
            </a:r>
          </a:p>
          <a:p>
            <a:pPr algn="l">
              <a:lnSpc>
                <a:spcPts val="3599"/>
              </a:lnSpc>
            </a:pPr>
            <a:r>
              <a:rPr lang="en-US" sz="2999" i="true">
                <a:solidFill>
                  <a:srgbClr val="595959"/>
                </a:solidFill>
                <a:latin typeface="Trebuchet MS Italics"/>
                <a:ea typeface="Trebuchet MS Italics"/>
                <a:cs typeface="Trebuchet MS Italics"/>
                <a:sym typeface="Trebuchet MS Italics"/>
              </a:rPr>
              <a:t>14. Adjovi reçoit la preuve de sa vente dans son wallet mobile</a:t>
            </a:r>
          </a:p>
          <a:p>
            <a:pPr algn="l">
              <a:lnSpc>
                <a:spcPts val="3599"/>
              </a:lnSpc>
            </a:pPr>
            <a:r>
              <a:rPr lang="en-US" sz="2999" i="true">
                <a:solidFill>
                  <a:srgbClr val="595959"/>
                </a:solidFill>
                <a:latin typeface="Trebuchet MS Italics"/>
                <a:ea typeface="Trebuchet MS Italics"/>
                <a:cs typeface="Trebuchet MS Italics"/>
                <a:sym typeface="Trebuchet MS Italics"/>
              </a:rPr>
              <a:t>15. La transaction est enregistrée de manière permanente et infalsifiable</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4140">
            <a:off x="650110" y="9570596"/>
            <a:ext cx="11861930" cy="9525"/>
            <a:chOff x="0" y="0"/>
            <a:chExt cx="15815907" cy="12700"/>
          </a:xfrm>
        </p:grpSpPr>
        <p:sp>
          <p:nvSpPr>
            <p:cNvPr name="Freeform 3" id="3"/>
            <p:cNvSpPr/>
            <p:nvPr/>
          </p:nvSpPr>
          <p:spPr>
            <a:xfrm flipH="false" flipV="false" rot="0">
              <a:off x="0" y="0"/>
              <a:ext cx="15815945" cy="12700"/>
            </a:xfrm>
            <a:custGeom>
              <a:avLst/>
              <a:gdLst/>
              <a:ahLst/>
              <a:cxnLst/>
              <a:rect r="r" b="b" t="t" l="l"/>
              <a:pathLst>
                <a:path h="12700" w="15815945">
                  <a:moveTo>
                    <a:pt x="6350" y="0"/>
                  </a:moveTo>
                  <a:lnTo>
                    <a:pt x="15809595" y="0"/>
                  </a:lnTo>
                  <a:cubicBezTo>
                    <a:pt x="15813151" y="0"/>
                    <a:pt x="15815945" y="2794"/>
                    <a:pt x="15815945" y="6350"/>
                  </a:cubicBezTo>
                  <a:cubicBezTo>
                    <a:pt x="15815945" y="9906"/>
                    <a:pt x="15813151" y="12700"/>
                    <a:pt x="15809595" y="12700"/>
                  </a:cubicBezTo>
                  <a:lnTo>
                    <a:pt x="6350" y="12700"/>
                  </a:lnTo>
                  <a:cubicBezTo>
                    <a:pt x="2794" y="12700"/>
                    <a:pt x="0" y="9906"/>
                    <a:pt x="0" y="6350"/>
                  </a:cubicBezTo>
                  <a:cubicBezTo>
                    <a:pt x="0" y="2794"/>
                    <a:pt x="2794" y="0"/>
                    <a:pt x="6350" y="0"/>
                  </a:cubicBezTo>
                  <a:close/>
                </a:path>
              </a:pathLst>
            </a:custGeom>
            <a:solidFill>
              <a:srgbClr val="284181"/>
            </a:solidFill>
          </p:spPr>
        </p:sp>
      </p:grpSp>
      <p:grpSp>
        <p:nvGrpSpPr>
          <p:cNvPr name="Group 4" id="4"/>
          <p:cNvGrpSpPr/>
          <p:nvPr/>
        </p:nvGrpSpPr>
        <p:grpSpPr>
          <a:xfrm rot="10020">
            <a:off x="12682004" y="9570596"/>
            <a:ext cx="4898631" cy="9525"/>
            <a:chOff x="0" y="0"/>
            <a:chExt cx="6531508" cy="12700"/>
          </a:xfrm>
        </p:grpSpPr>
        <p:sp>
          <p:nvSpPr>
            <p:cNvPr name="Freeform 5" id="5"/>
            <p:cNvSpPr/>
            <p:nvPr/>
          </p:nvSpPr>
          <p:spPr>
            <a:xfrm flipH="false" flipV="false" rot="0">
              <a:off x="0" y="0"/>
              <a:ext cx="6531483" cy="12700"/>
            </a:xfrm>
            <a:custGeom>
              <a:avLst/>
              <a:gdLst/>
              <a:ahLst/>
              <a:cxnLst/>
              <a:rect r="r" b="b" t="t" l="l"/>
              <a:pathLst>
                <a:path h="12700" w="6531483">
                  <a:moveTo>
                    <a:pt x="6350" y="0"/>
                  </a:moveTo>
                  <a:lnTo>
                    <a:pt x="6525133" y="0"/>
                  </a:lnTo>
                  <a:cubicBezTo>
                    <a:pt x="6528689" y="0"/>
                    <a:pt x="6531483" y="2794"/>
                    <a:pt x="6531483" y="6350"/>
                  </a:cubicBezTo>
                  <a:cubicBezTo>
                    <a:pt x="6531483" y="9906"/>
                    <a:pt x="6528689" y="12700"/>
                    <a:pt x="6525133" y="12700"/>
                  </a:cubicBezTo>
                  <a:lnTo>
                    <a:pt x="6350" y="12700"/>
                  </a:lnTo>
                  <a:cubicBezTo>
                    <a:pt x="2794" y="12700"/>
                    <a:pt x="0" y="9906"/>
                    <a:pt x="0" y="6350"/>
                  </a:cubicBezTo>
                  <a:cubicBezTo>
                    <a:pt x="0" y="2794"/>
                    <a:pt x="2794" y="0"/>
                    <a:pt x="6350" y="0"/>
                  </a:cubicBezTo>
                  <a:close/>
                </a:path>
              </a:pathLst>
            </a:custGeom>
            <a:solidFill>
              <a:srgbClr val="00BFDF"/>
            </a:solidFill>
          </p:spPr>
        </p:sp>
      </p:grpSp>
      <p:sp>
        <p:nvSpPr>
          <p:cNvPr name="TextBox 6" id="6"/>
          <p:cNvSpPr txBox="true"/>
          <p:nvPr/>
        </p:nvSpPr>
        <p:spPr>
          <a:xfrm rot="0">
            <a:off x="681361" y="9762649"/>
            <a:ext cx="960149" cy="29295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7" id="7"/>
          <p:cNvSpPr txBox="true"/>
          <p:nvPr/>
        </p:nvSpPr>
        <p:spPr>
          <a:xfrm rot="0">
            <a:off x="5261715" y="9861347"/>
            <a:ext cx="7764570" cy="194253"/>
          </a:xfrm>
          <a:prstGeom prst="rect">
            <a:avLst/>
          </a:prstGeom>
        </p:spPr>
        <p:txBody>
          <a:bodyPr anchor="t" rtlCol="false" tIns="0" lIns="0" bIns="0" rIns="0">
            <a:spAutoFit/>
          </a:bodyPr>
          <a:lstStyle/>
          <a:p>
            <a:pPr algn="ctr">
              <a:lnSpc>
                <a:spcPts val="1296"/>
              </a:lnSpc>
            </a:pPr>
            <a:r>
              <a:rPr lang="en-US" sz="1200">
                <a:solidFill>
                  <a:srgbClr val="595959"/>
                </a:solidFill>
                <a:latin typeface="Trebuchet MS"/>
                <a:ea typeface="Trebuchet MS"/>
                <a:cs typeface="Trebuchet MS"/>
                <a:sym typeface="Trebuchet MS"/>
              </a:rPr>
              <a:t> All rights reserved. This document is proprietary and confidential.</a:t>
            </a:r>
          </a:p>
        </p:txBody>
      </p:sp>
      <p:sp>
        <p:nvSpPr>
          <p:cNvPr name="TextBox 8" id="8"/>
          <p:cNvSpPr txBox="true"/>
          <p:nvPr/>
        </p:nvSpPr>
        <p:spPr>
          <a:xfrm rot="0">
            <a:off x="603371" y="401955"/>
            <a:ext cx="3963743" cy="472440"/>
          </a:xfrm>
          <a:prstGeom prst="rect">
            <a:avLst/>
          </a:prstGeom>
        </p:spPr>
        <p:txBody>
          <a:bodyPr anchor="t" rtlCol="false" tIns="0" lIns="0" bIns="0" rIns="0">
            <a:spAutoFit/>
          </a:bodyPr>
          <a:lstStyle/>
          <a:p>
            <a:pPr algn="l">
              <a:lnSpc>
                <a:spcPts val="3780"/>
              </a:lnSpc>
            </a:pPr>
            <a:r>
              <a:rPr lang="en-US" sz="3500" b="true">
                <a:solidFill>
                  <a:srgbClr val="284181"/>
                </a:solidFill>
                <a:latin typeface="Trebuchet MS Bold"/>
                <a:ea typeface="Trebuchet MS Bold"/>
                <a:cs typeface="Trebuchet MS Bold"/>
                <a:sym typeface="Trebuchet MS Bold"/>
              </a:rPr>
              <a:t>IMPACT POTENTIEL</a:t>
            </a:r>
          </a:p>
        </p:txBody>
      </p:sp>
      <p:grpSp>
        <p:nvGrpSpPr>
          <p:cNvPr name="Group 9" id="9"/>
          <p:cNvGrpSpPr/>
          <p:nvPr/>
        </p:nvGrpSpPr>
        <p:grpSpPr>
          <a:xfrm rot="10920">
            <a:off x="3290564" y="3973020"/>
            <a:ext cx="4508030" cy="9525"/>
            <a:chOff x="0" y="0"/>
            <a:chExt cx="6010707" cy="12700"/>
          </a:xfrm>
        </p:grpSpPr>
        <p:sp>
          <p:nvSpPr>
            <p:cNvPr name="Freeform 10" id="10"/>
            <p:cNvSpPr/>
            <p:nvPr/>
          </p:nvSpPr>
          <p:spPr>
            <a:xfrm flipH="false" flipV="false" rot="0">
              <a:off x="0" y="0"/>
              <a:ext cx="6010656" cy="12700"/>
            </a:xfrm>
            <a:custGeom>
              <a:avLst/>
              <a:gdLst/>
              <a:ahLst/>
              <a:cxnLst/>
              <a:rect r="r" b="b" t="t" l="l"/>
              <a:pathLst>
                <a:path h="12700" w="6010656">
                  <a:moveTo>
                    <a:pt x="6350" y="0"/>
                  </a:moveTo>
                  <a:lnTo>
                    <a:pt x="6004306" y="0"/>
                  </a:lnTo>
                  <a:cubicBezTo>
                    <a:pt x="6007862" y="0"/>
                    <a:pt x="6010656" y="2794"/>
                    <a:pt x="6010656" y="6350"/>
                  </a:cubicBezTo>
                  <a:cubicBezTo>
                    <a:pt x="6010656" y="9906"/>
                    <a:pt x="6007862" y="12700"/>
                    <a:pt x="6004306" y="12700"/>
                  </a:cubicBezTo>
                  <a:lnTo>
                    <a:pt x="6350" y="12700"/>
                  </a:lnTo>
                  <a:cubicBezTo>
                    <a:pt x="2794" y="12700"/>
                    <a:pt x="0" y="9906"/>
                    <a:pt x="0" y="6350"/>
                  </a:cubicBezTo>
                  <a:cubicBezTo>
                    <a:pt x="0" y="2794"/>
                    <a:pt x="2794" y="0"/>
                    <a:pt x="6350" y="0"/>
                  </a:cubicBezTo>
                  <a:close/>
                </a:path>
              </a:pathLst>
            </a:custGeom>
            <a:solidFill>
              <a:srgbClr val="FFFFFF"/>
            </a:solidFill>
          </p:spPr>
        </p:sp>
      </p:grpSp>
      <p:grpSp>
        <p:nvGrpSpPr>
          <p:cNvPr name="Group 11" id="11"/>
          <p:cNvGrpSpPr/>
          <p:nvPr/>
        </p:nvGrpSpPr>
        <p:grpSpPr>
          <a:xfrm rot="10920">
            <a:off x="3290564" y="5925941"/>
            <a:ext cx="4508030" cy="9525"/>
            <a:chOff x="0" y="0"/>
            <a:chExt cx="6010707" cy="12700"/>
          </a:xfrm>
        </p:grpSpPr>
        <p:sp>
          <p:nvSpPr>
            <p:cNvPr name="Freeform 12" id="12"/>
            <p:cNvSpPr/>
            <p:nvPr/>
          </p:nvSpPr>
          <p:spPr>
            <a:xfrm flipH="false" flipV="false" rot="0">
              <a:off x="0" y="0"/>
              <a:ext cx="6010656" cy="12700"/>
            </a:xfrm>
            <a:custGeom>
              <a:avLst/>
              <a:gdLst/>
              <a:ahLst/>
              <a:cxnLst/>
              <a:rect r="r" b="b" t="t" l="l"/>
              <a:pathLst>
                <a:path h="12700" w="6010656">
                  <a:moveTo>
                    <a:pt x="6350" y="0"/>
                  </a:moveTo>
                  <a:lnTo>
                    <a:pt x="6004306" y="0"/>
                  </a:lnTo>
                  <a:cubicBezTo>
                    <a:pt x="6007862" y="0"/>
                    <a:pt x="6010656" y="2794"/>
                    <a:pt x="6010656" y="6350"/>
                  </a:cubicBezTo>
                  <a:cubicBezTo>
                    <a:pt x="6010656" y="9906"/>
                    <a:pt x="6007862" y="12700"/>
                    <a:pt x="6004306" y="12700"/>
                  </a:cubicBezTo>
                  <a:lnTo>
                    <a:pt x="6350" y="12700"/>
                  </a:lnTo>
                  <a:cubicBezTo>
                    <a:pt x="2794" y="12700"/>
                    <a:pt x="0" y="9906"/>
                    <a:pt x="0" y="6350"/>
                  </a:cubicBezTo>
                  <a:cubicBezTo>
                    <a:pt x="0" y="2794"/>
                    <a:pt x="2794" y="0"/>
                    <a:pt x="6350" y="0"/>
                  </a:cubicBezTo>
                  <a:close/>
                </a:path>
              </a:pathLst>
            </a:custGeom>
            <a:solidFill>
              <a:srgbClr val="FFFFFF"/>
            </a:solidFill>
          </p:spPr>
        </p:sp>
      </p:grpSp>
      <p:grpSp>
        <p:nvGrpSpPr>
          <p:cNvPr name="Group 13" id="13"/>
          <p:cNvGrpSpPr/>
          <p:nvPr/>
        </p:nvGrpSpPr>
        <p:grpSpPr>
          <a:xfrm rot="0">
            <a:off x="3167120" y="1459668"/>
            <a:ext cx="4471073" cy="1755086"/>
            <a:chOff x="0" y="0"/>
            <a:chExt cx="5961431" cy="2340115"/>
          </a:xfrm>
        </p:grpSpPr>
        <p:sp>
          <p:nvSpPr>
            <p:cNvPr name="Freeform 14" id="14"/>
            <p:cNvSpPr/>
            <p:nvPr/>
          </p:nvSpPr>
          <p:spPr>
            <a:xfrm flipH="false" flipV="false" rot="0">
              <a:off x="0" y="0"/>
              <a:ext cx="5961380" cy="2340102"/>
            </a:xfrm>
            <a:custGeom>
              <a:avLst/>
              <a:gdLst/>
              <a:ahLst/>
              <a:cxnLst/>
              <a:rect r="r" b="b" t="t" l="l"/>
              <a:pathLst>
                <a:path h="2340102" w="5961380">
                  <a:moveTo>
                    <a:pt x="0" y="0"/>
                  </a:moveTo>
                  <a:lnTo>
                    <a:pt x="5961380" y="0"/>
                  </a:lnTo>
                  <a:lnTo>
                    <a:pt x="5961380" y="2340102"/>
                  </a:lnTo>
                  <a:lnTo>
                    <a:pt x="0" y="2340102"/>
                  </a:lnTo>
                  <a:close/>
                </a:path>
              </a:pathLst>
            </a:custGeom>
            <a:blipFill>
              <a:blip r:embed="rId3">
                <a:alphaModFix amt="0"/>
              </a:blip>
              <a:stretch>
                <a:fillRect l="-399" t="0" r="-400" b="0"/>
              </a:stretch>
            </a:blipFill>
          </p:spPr>
        </p:sp>
      </p:grpSp>
      <p:grpSp>
        <p:nvGrpSpPr>
          <p:cNvPr name="Group 15" id="15"/>
          <p:cNvGrpSpPr/>
          <p:nvPr/>
        </p:nvGrpSpPr>
        <p:grpSpPr>
          <a:xfrm rot="0">
            <a:off x="3167120" y="1495387"/>
            <a:ext cx="4471073" cy="1719367"/>
            <a:chOff x="0" y="0"/>
            <a:chExt cx="5961431" cy="2292490"/>
          </a:xfrm>
        </p:grpSpPr>
        <p:sp>
          <p:nvSpPr>
            <p:cNvPr name="Freeform 16" id="16"/>
            <p:cNvSpPr/>
            <p:nvPr/>
          </p:nvSpPr>
          <p:spPr>
            <a:xfrm flipH="false" flipV="false" rot="0">
              <a:off x="0" y="0"/>
              <a:ext cx="5961432" cy="2292488"/>
            </a:xfrm>
            <a:custGeom>
              <a:avLst/>
              <a:gdLst/>
              <a:ahLst/>
              <a:cxnLst/>
              <a:rect r="r" b="b" t="t" l="l"/>
              <a:pathLst>
                <a:path h="2292488" w="5961432">
                  <a:moveTo>
                    <a:pt x="0" y="0"/>
                  </a:moveTo>
                  <a:lnTo>
                    <a:pt x="5961432" y="0"/>
                  </a:lnTo>
                  <a:lnTo>
                    <a:pt x="5961432" y="2292488"/>
                  </a:lnTo>
                  <a:lnTo>
                    <a:pt x="0" y="2292488"/>
                  </a:lnTo>
                  <a:close/>
                </a:path>
              </a:pathLst>
            </a:custGeom>
            <a:blipFill>
              <a:blip r:embed="rId4">
                <a:alphaModFix amt="0"/>
              </a:blip>
              <a:stretch>
                <a:fillRect l="0" t="-669" r="0" b="-669"/>
              </a:stretch>
            </a:blipFill>
          </p:spPr>
        </p:sp>
        <p:sp>
          <p:nvSpPr>
            <p:cNvPr name="TextBox 17" id="17"/>
            <p:cNvSpPr txBox="true"/>
            <p:nvPr/>
          </p:nvSpPr>
          <p:spPr>
            <a:xfrm>
              <a:off x="0" y="47625"/>
              <a:ext cx="5961431" cy="2244865"/>
            </a:xfrm>
            <a:prstGeom prst="rect">
              <a:avLst/>
            </a:prstGeom>
          </p:spPr>
          <p:txBody>
            <a:bodyPr anchor="ctr" rtlCol="false" tIns="0" lIns="0" bIns="0" rIns="0"/>
            <a:lstStyle/>
            <a:p>
              <a:pPr algn="l">
                <a:lnSpc>
                  <a:spcPts val="5184"/>
                </a:lnSpc>
              </a:pPr>
              <a:r>
                <a:rPr lang="en-US" b="true" sz="4800" i="true">
                  <a:solidFill>
                    <a:srgbClr val="284181"/>
                  </a:solidFill>
                  <a:latin typeface="Trebuchet MS Bold Italics"/>
                  <a:ea typeface="Trebuchet MS Bold Italics"/>
                  <a:cs typeface="Trebuchet MS Bold Italics"/>
                  <a:sym typeface="Trebuchet MS Bold Italics"/>
                </a:rPr>
                <a:t>300K+</a:t>
              </a:r>
            </a:p>
            <a:p>
              <a:pPr algn="l">
                <a:lnSpc>
                  <a:spcPts val="2520"/>
                </a:lnSpc>
              </a:pPr>
              <a:r>
                <a:rPr lang="en-US" sz="2100" i="true">
                  <a:solidFill>
                    <a:srgbClr val="3F3F3F"/>
                  </a:solidFill>
                  <a:latin typeface="Trebuchet MS Italics"/>
                  <a:ea typeface="Trebuchet MS Italics"/>
                  <a:cs typeface="Trebuchet MS Italics"/>
                  <a:sym typeface="Trebuchet MS Italics"/>
                </a:rPr>
                <a:t>Nombre de personnes impactées par la solution (producteurs de coton et leurs familles au Bénin)</a:t>
              </a:r>
            </a:p>
          </p:txBody>
        </p:sp>
      </p:grpSp>
      <p:grpSp>
        <p:nvGrpSpPr>
          <p:cNvPr name="Group 18" id="18"/>
          <p:cNvGrpSpPr/>
          <p:nvPr/>
        </p:nvGrpSpPr>
        <p:grpSpPr>
          <a:xfrm rot="0">
            <a:off x="1409700" y="1712595"/>
            <a:ext cx="1352550" cy="1352550"/>
            <a:chOff x="0" y="0"/>
            <a:chExt cx="1803400" cy="1803400"/>
          </a:xfrm>
        </p:grpSpPr>
        <p:sp>
          <p:nvSpPr>
            <p:cNvPr name="Freeform 19" id="19"/>
            <p:cNvSpPr/>
            <p:nvPr/>
          </p:nvSpPr>
          <p:spPr>
            <a:xfrm flipH="false" flipV="false" rot="0">
              <a:off x="0" y="0"/>
              <a:ext cx="1803400" cy="1803400"/>
            </a:xfrm>
            <a:custGeom>
              <a:avLst/>
              <a:gdLst/>
              <a:ahLst/>
              <a:cxnLst/>
              <a:rect r="r" b="b" t="t" l="l"/>
              <a:pathLst>
                <a:path h="1803400" w="1803400">
                  <a:moveTo>
                    <a:pt x="0" y="901700"/>
                  </a:moveTo>
                  <a:cubicBezTo>
                    <a:pt x="0" y="403733"/>
                    <a:pt x="403733" y="0"/>
                    <a:pt x="901700" y="0"/>
                  </a:cubicBezTo>
                  <a:cubicBezTo>
                    <a:pt x="1399667" y="0"/>
                    <a:pt x="1803400" y="403733"/>
                    <a:pt x="1803400" y="901700"/>
                  </a:cubicBezTo>
                  <a:cubicBezTo>
                    <a:pt x="1803400" y="1399667"/>
                    <a:pt x="1399667" y="1803400"/>
                    <a:pt x="901700" y="1803400"/>
                  </a:cubicBezTo>
                  <a:cubicBezTo>
                    <a:pt x="403733" y="1803400"/>
                    <a:pt x="0" y="1399667"/>
                    <a:pt x="0" y="901700"/>
                  </a:cubicBezTo>
                  <a:close/>
                </a:path>
              </a:pathLst>
            </a:custGeom>
            <a:solidFill>
              <a:srgbClr val="284181"/>
            </a:solidFill>
          </p:spPr>
        </p:sp>
      </p:grpSp>
      <p:sp>
        <p:nvSpPr>
          <p:cNvPr name="Freeform 20" id="20"/>
          <p:cNvSpPr/>
          <p:nvPr/>
        </p:nvSpPr>
        <p:spPr>
          <a:xfrm flipH="false" flipV="false" rot="0">
            <a:off x="1754981" y="2057876"/>
            <a:ext cx="661988" cy="661988"/>
          </a:xfrm>
          <a:custGeom>
            <a:avLst/>
            <a:gdLst/>
            <a:ahLst/>
            <a:cxnLst/>
            <a:rect r="r" b="b" t="t" l="l"/>
            <a:pathLst>
              <a:path h="661988" w="661988">
                <a:moveTo>
                  <a:pt x="0" y="0"/>
                </a:moveTo>
                <a:lnTo>
                  <a:pt x="661988" y="0"/>
                </a:lnTo>
                <a:lnTo>
                  <a:pt x="661988" y="661988"/>
                </a:lnTo>
                <a:lnTo>
                  <a:pt x="0" y="66198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21" id="21"/>
          <p:cNvGrpSpPr/>
          <p:nvPr/>
        </p:nvGrpSpPr>
        <p:grpSpPr>
          <a:xfrm rot="0">
            <a:off x="3302479" y="3980278"/>
            <a:ext cx="4200363" cy="2069402"/>
            <a:chOff x="0" y="0"/>
            <a:chExt cx="5600484" cy="2759202"/>
          </a:xfrm>
        </p:grpSpPr>
        <p:sp>
          <p:nvSpPr>
            <p:cNvPr name="Freeform 22" id="22"/>
            <p:cNvSpPr/>
            <p:nvPr/>
          </p:nvSpPr>
          <p:spPr>
            <a:xfrm flipH="false" flipV="false" rot="0">
              <a:off x="0" y="0"/>
              <a:ext cx="5600446" cy="2759202"/>
            </a:xfrm>
            <a:custGeom>
              <a:avLst/>
              <a:gdLst/>
              <a:ahLst/>
              <a:cxnLst/>
              <a:rect r="r" b="b" t="t" l="l"/>
              <a:pathLst>
                <a:path h="2759202" w="5600446">
                  <a:moveTo>
                    <a:pt x="0" y="0"/>
                  </a:moveTo>
                  <a:lnTo>
                    <a:pt x="5600446" y="0"/>
                  </a:lnTo>
                  <a:lnTo>
                    <a:pt x="5600446" y="2759202"/>
                  </a:lnTo>
                  <a:lnTo>
                    <a:pt x="0" y="2759202"/>
                  </a:lnTo>
                  <a:close/>
                </a:path>
              </a:pathLst>
            </a:custGeom>
            <a:blipFill>
              <a:blip r:embed="rId3">
                <a:alphaModFix amt="0"/>
              </a:blip>
              <a:stretch>
                <a:fillRect l="-13255" t="0" r="-13256" b="0"/>
              </a:stretch>
            </a:blipFill>
          </p:spPr>
        </p:sp>
      </p:grpSp>
      <p:grpSp>
        <p:nvGrpSpPr>
          <p:cNvPr name="Group 23" id="23"/>
          <p:cNvGrpSpPr/>
          <p:nvPr/>
        </p:nvGrpSpPr>
        <p:grpSpPr>
          <a:xfrm rot="0">
            <a:off x="3302479" y="4015997"/>
            <a:ext cx="4200363" cy="2033692"/>
            <a:chOff x="0" y="0"/>
            <a:chExt cx="5600484" cy="2711590"/>
          </a:xfrm>
        </p:grpSpPr>
        <p:sp>
          <p:nvSpPr>
            <p:cNvPr name="Freeform 24" id="24"/>
            <p:cNvSpPr/>
            <p:nvPr/>
          </p:nvSpPr>
          <p:spPr>
            <a:xfrm flipH="false" flipV="false" rot="0">
              <a:off x="0" y="0"/>
              <a:ext cx="5600484" cy="2711588"/>
            </a:xfrm>
            <a:custGeom>
              <a:avLst/>
              <a:gdLst/>
              <a:ahLst/>
              <a:cxnLst/>
              <a:rect r="r" b="b" t="t" l="l"/>
              <a:pathLst>
                <a:path h="2711588" w="5600484">
                  <a:moveTo>
                    <a:pt x="0" y="0"/>
                  </a:moveTo>
                  <a:lnTo>
                    <a:pt x="5600484" y="0"/>
                  </a:lnTo>
                  <a:lnTo>
                    <a:pt x="5600484" y="2711588"/>
                  </a:lnTo>
                  <a:lnTo>
                    <a:pt x="0" y="2711588"/>
                  </a:lnTo>
                  <a:close/>
                </a:path>
              </a:pathLst>
            </a:custGeom>
            <a:blipFill>
              <a:blip r:embed="rId4">
                <a:alphaModFix amt="0"/>
              </a:blip>
              <a:stretch>
                <a:fillRect l="-12120" t="0" r="-12120" b="0"/>
              </a:stretch>
            </a:blipFill>
          </p:spPr>
        </p:sp>
        <p:sp>
          <p:nvSpPr>
            <p:cNvPr name="TextBox 25" id="25"/>
            <p:cNvSpPr txBox="true"/>
            <p:nvPr/>
          </p:nvSpPr>
          <p:spPr>
            <a:xfrm>
              <a:off x="0" y="47625"/>
              <a:ext cx="5600484" cy="2663965"/>
            </a:xfrm>
            <a:prstGeom prst="rect">
              <a:avLst/>
            </a:prstGeom>
          </p:spPr>
          <p:txBody>
            <a:bodyPr anchor="ctr" rtlCol="false" tIns="0" lIns="0" bIns="0" rIns="0"/>
            <a:lstStyle/>
            <a:p>
              <a:pPr algn="l">
                <a:lnSpc>
                  <a:spcPts val="5184"/>
                </a:lnSpc>
              </a:pPr>
              <a:r>
                <a:rPr lang="en-US" b="true" sz="4800" i="true">
                  <a:solidFill>
                    <a:srgbClr val="00BFDF"/>
                  </a:solidFill>
                  <a:latin typeface="Trebuchet MS Bold Italics"/>
                  <a:ea typeface="Trebuchet MS Bold Italics"/>
                  <a:cs typeface="Trebuchet MS Bold Italics"/>
                  <a:sym typeface="Trebuchet MS Bold Italics"/>
                </a:rPr>
                <a:t>40%</a:t>
              </a:r>
            </a:p>
            <a:p>
              <a:pPr algn="l">
                <a:lnSpc>
                  <a:spcPts val="2520"/>
                </a:lnSpc>
              </a:pPr>
              <a:r>
                <a:rPr lang="en-US" sz="2100" i="true">
                  <a:solidFill>
                    <a:srgbClr val="3F3F3F"/>
                  </a:solidFill>
                  <a:latin typeface="Trebuchet MS Italics"/>
                  <a:ea typeface="Trebuchet MS Italics"/>
                  <a:cs typeface="Trebuchet MS Italics"/>
                  <a:sym typeface="Trebuchet MS Italics"/>
                </a:rPr>
                <a:t>Proportion de femmes agricultrices bénéficiant d'un accès égal aux preuves de revenus et au crédit bancaire</a:t>
              </a:r>
            </a:p>
          </p:txBody>
        </p:sp>
      </p:grpSp>
      <p:grpSp>
        <p:nvGrpSpPr>
          <p:cNvPr name="Group 26" id="26"/>
          <p:cNvGrpSpPr/>
          <p:nvPr/>
        </p:nvGrpSpPr>
        <p:grpSpPr>
          <a:xfrm rot="0">
            <a:off x="1409700" y="4282735"/>
            <a:ext cx="1352550" cy="1352550"/>
            <a:chOff x="0" y="0"/>
            <a:chExt cx="1803400" cy="1803400"/>
          </a:xfrm>
        </p:grpSpPr>
        <p:sp>
          <p:nvSpPr>
            <p:cNvPr name="Freeform 27" id="27"/>
            <p:cNvSpPr/>
            <p:nvPr/>
          </p:nvSpPr>
          <p:spPr>
            <a:xfrm flipH="false" flipV="false" rot="0">
              <a:off x="0" y="0"/>
              <a:ext cx="1803400" cy="1803400"/>
            </a:xfrm>
            <a:custGeom>
              <a:avLst/>
              <a:gdLst/>
              <a:ahLst/>
              <a:cxnLst/>
              <a:rect r="r" b="b" t="t" l="l"/>
              <a:pathLst>
                <a:path h="1803400" w="1803400">
                  <a:moveTo>
                    <a:pt x="0" y="901700"/>
                  </a:moveTo>
                  <a:cubicBezTo>
                    <a:pt x="0" y="403733"/>
                    <a:pt x="403733" y="0"/>
                    <a:pt x="901700" y="0"/>
                  </a:cubicBezTo>
                  <a:cubicBezTo>
                    <a:pt x="1399667" y="0"/>
                    <a:pt x="1803400" y="403733"/>
                    <a:pt x="1803400" y="901700"/>
                  </a:cubicBezTo>
                  <a:cubicBezTo>
                    <a:pt x="1803400" y="1399667"/>
                    <a:pt x="1399667" y="1803400"/>
                    <a:pt x="901700" y="1803400"/>
                  </a:cubicBezTo>
                  <a:cubicBezTo>
                    <a:pt x="403733" y="1803400"/>
                    <a:pt x="0" y="1399667"/>
                    <a:pt x="0" y="901700"/>
                  </a:cubicBezTo>
                  <a:close/>
                </a:path>
              </a:pathLst>
            </a:custGeom>
            <a:solidFill>
              <a:srgbClr val="00BFDF"/>
            </a:solidFill>
          </p:spPr>
        </p:sp>
      </p:grpSp>
      <p:sp>
        <p:nvSpPr>
          <p:cNvPr name="Freeform 28" id="28"/>
          <p:cNvSpPr/>
          <p:nvPr/>
        </p:nvSpPr>
        <p:spPr>
          <a:xfrm flipH="false" flipV="false" rot="0">
            <a:off x="1754981" y="4626169"/>
            <a:ext cx="661988" cy="665664"/>
          </a:xfrm>
          <a:custGeom>
            <a:avLst/>
            <a:gdLst/>
            <a:ahLst/>
            <a:cxnLst/>
            <a:rect r="r" b="b" t="t" l="l"/>
            <a:pathLst>
              <a:path h="665664" w="661988">
                <a:moveTo>
                  <a:pt x="0" y="0"/>
                </a:moveTo>
                <a:lnTo>
                  <a:pt x="661988" y="0"/>
                </a:lnTo>
                <a:lnTo>
                  <a:pt x="661988" y="665664"/>
                </a:lnTo>
                <a:lnTo>
                  <a:pt x="0" y="665664"/>
                </a:lnTo>
                <a:lnTo>
                  <a:pt x="0" y="0"/>
                </a:lnTo>
                <a:close/>
              </a:path>
            </a:pathLst>
          </a:custGeom>
          <a:blipFill>
            <a:blip r:embed="rId7">
              <a:extLst>
                <a:ext uri="{96DAC541-7B7A-43D3-8B79-37D633B846F1}">
                  <asvg:svgBlip xmlns:asvg="http://schemas.microsoft.com/office/drawing/2016/SVG/main" r:embed="rId8"/>
                </a:ext>
              </a:extLst>
            </a:blip>
            <a:stretch>
              <a:fillRect l="-277" t="0" r="-277" b="0"/>
            </a:stretch>
          </a:blipFill>
        </p:spPr>
      </p:sp>
      <p:grpSp>
        <p:nvGrpSpPr>
          <p:cNvPr name="Group 29" id="29"/>
          <p:cNvGrpSpPr/>
          <p:nvPr/>
        </p:nvGrpSpPr>
        <p:grpSpPr>
          <a:xfrm rot="0">
            <a:off x="3302479" y="6797726"/>
            <a:ext cx="4200363" cy="2069411"/>
            <a:chOff x="0" y="0"/>
            <a:chExt cx="5600484" cy="2759215"/>
          </a:xfrm>
        </p:grpSpPr>
        <p:sp>
          <p:nvSpPr>
            <p:cNvPr name="Freeform 30" id="30"/>
            <p:cNvSpPr/>
            <p:nvPr/>
          </p:nvSpPr>
          <p:spPr>
            <a:xfrm flipH="false" flipV="false" rot="0">
              <a:off x="0" y="0"/>
              <a:ext cx="5600446" cy="2759202"/>
            </a:xfrm>
            <a:custGeom>
              <a:avLst/>
              <a:gdLst/>
              <a:ahLst/>
              <a:cxnLst/>
              <a:rect r="r" b="b" t="t" l="l"/>
              <a:pathLst>
                <a:path h="2759202" w="5600446">
                  <a:moveTo>
                    <a:pt x="0" y="0"/>
                  </a:moveTo>
                  <a:lnTo>
                    <a:pt x="5600446" y="0"/>
                  </a:lnTo>
                  <a:lnTo>
                    <a:pt x="5600446" y="2759202"/>
                  </a:lnTo>
                  <a:lnTo>
                    <a:pt x="0" y="2759202"/>
                  </a:lnTo>
                  <a:close/>
                </a:path>
              </a:pathLst>
            </a:custGeom>
            <a:blipFill>
              <a:blip r:embed="rId3">
                <a:alphaModFix amt="0"/>
              </a:blip>
              <a:stretch>
                <a:fillRect l="-13255" t="0" r="-13256" b="0"/>
              </a:stretch>
            </a:blipFill>
          </p:spPr>
        </p:sp>
      </p:grpSp>
      <p:grpSp>
        <p:nvGrpSpPr>
          <p:cNvPr name="Group 31" id="31"/>
          <p:cNvGrpSpPr/>
          <p:nvPr/>
        </p:nvGrpSpPr>
        <p:grpSpPr>
          <a:xfrm rot="0">
            <a:off x="3302479" y="6833445"/>
            <a:ext cx="4200363" cy="2033692"/>
            <a:chOff x="0" y="0"/>
            <a:chExt cx="5600484" cy="2711590"/>
          </a:xfrm>
        </p:grpSpPr>
        <p:sp>
          <p:nvSpPr>
            <p:cNvPr name="Freeform 32" id="32"/>
            <p:cNvSpPr/>
            <p:nvPr/>
          </p:nvSpPr>
          <p:spPr>
            <a:xfrm flipH="false" flipV="false" rot="0">
              <a:off x="0" y="0"/>
              <a:ext cx="5600484" cy="2711588"/>
            </a:xfrm>
            <a:custGeom>
              <a:avLst/>
              <a:gdLst/>
              <a:ahLst/>
              <a:cxnLst/>
              <a:rect r="r" b="b" t="t" l="l"/>
              <a:pathLst>
                <a:path h="2711588" w="5600484">
                  <a:moveTo>
                    <a:pt x="0" y="0"/>
                  </a:moveTo>
                  <a:lnTo>
                    <a:pt x="5600484" y="0"/>
                  </a:lnTo>
                  <a:lnTo>
                    <a:pt x="5600484" y="2711588"/>
                  </a:lnTo>
                  <a:lnTo>
                    <a:pt x="0" y="2711588"/>
                  </a:lnTo>
                  <a:close/>
                </a:path>
              </a:pathLst>
            </a:custGeom>
            <a:blipFill>
              <a:blip r:embed="rId4">
                <a:alphaModFix amt="0"/>
              </a:blip>
              <a:stretch>
                <a:fillRect l="-12120" t="0" r="-12120" b="0"/>
              </a:stretch>
            </a:blipFill>
          </p:spPr>
        </p:sp>
        <p:sp>
          <p:nvSpPr>
            <p:cNvPr name="TextBox 33" id="33"/>
            <p:cNvSpPr txBox="true"/>
            <p:nvPr/>
          </p:nvSpPr>
          <p:spPr>
            <a:xfrm>
              <a:off x="0" y="47625"/>
              <a:ext cx="5600484" cy="2663965"/>
            </a:xfrm>
            <a:prstGeom prst="rect">
              <a:avLst/>
            </a:prstGeom>
          </p:spPr>
          <p:txBody>
            <a:bodyPr anchor="ctr" rtlCol="false" tIns="0" lIns="0" bIns="0" rIns="0"/>
            <a:lstStyle/>
            <a:p>
              <a:pPr algn="l">
                <a:lnSpc>
                  <a:spcPts val="5184"/>
                </a:lnSpc>
              </a:pPr>
              <a:r>
                <a:rPr lang="en-US" b="true" sz="4800" i="true">
                  <a:solidFill>
                    <a:srgbClr val="58595B"/>
                  </a:solidFill>
                  <a:latin typeface="Trebuchet MS Bold Italics"/>
                  <a:ea typeface="Trebuchet MS Bold Italics"/>
                  <a:cs typeface="Trebuchet MS Bold Italics"/>
                  <a:sym typeface="Trebuchet MS Bold Italics"/>
                </a:rPr>
                <a:t>90%</a:t>
              </a:r>
            </a:p>
            <a:p>
              <a:pPr algn="l">
                <a:lnSpc>
                  <a:spcPts val="2520"/>
                </a:lnSpc>
              </a:pPr>
              <a:r>
                <a:rPr lang="en-US" b="true" sz="2100" i="true">
                  <a:solidFill>
                    <a:srgbClr val="3F3F3F"/>
                  </a:solidFill>
                  <a:latin typeface="Trebuchet MS Bold Italics"/>
                  <a:ea typeface="Trebuchet MS Bold Italics"/>
                  <a:cs typeface="Trebuchet MS Bold Italics"/>
                  <a:sym typeface="Trebuchet MS Bold Italics"/>
                </a:rPr>
                <a:t> Réduction du temps de traitement des paiements (de plusieurs semaines à quelques minutes)</a:t>
              </a:r>
            </a:p>
          </p:txBody>
        </p:sp>
      </p:grpSp>
      <p:grpSp>
        <p:nvGrpSpPr>
          <p:cNvPr name="Group 34" id="34"/>
          <p:cNvGrpSpPr/>
          <p:nvPr/>
        </p:nvGrpSpPr>
        <p:grpSpPr>
          <a:xfrm rot="0">
            <a:off x="1409700" y="6938591"/>
            <a:ext cx="1352550" cy="1352550"/>
            <a:chOff x="0" y="0"/>
            <a:chExt cx="1803400" cy="1803400"/>
          </a:xfrm>
        </p:grpSpPr>
        <p:sp>
          <p:nvSpPr>
            <p:cNvPr name="Freeform 35" id="35"/>
            <p:cNvSpPr/>
            <p:nvPr/>
          </p:nvSpPr>
          <p:spPr>
            <a:xfrm flipH="false" flipV="false" rot="0">
              <a:off x="0" y="0"/>
              <a:ext cx="1803400" cy="1803400"/>
            </a:xfrm>
            <a:custGeom>
              <a:avLst/>
              <a:gdLst/>
              <a:ahLst/>
              <a:cxnLst/>
              <a:rect r="r" b="b" t="t" l="l"/>
              <a:pathLst>
                <a:path h="1803400" w="1803400">
                  <a:moveTo>
                    <a:pt x="0" y="901700"/>
                  </a:moveTo>
                  <a:cubicBezTo>
                    <a:pt x="0" y="403733"/>
                    <a:pt x="403733" y="0"/>
                    <a:pt x="901700" y="0"/>
                  </a:cubicBezTo>
                  <a:cubicBezTo>
                    <a:pt x="1399667" y="0"/>
                    <a:pt x="1803400" y="403733"/>
                    <a:pt x="1803400" y="901700"/>
                  </a:cubicBezTo>
                  <a:cubicBezTo>
                    <a:pt x="1803400" y="1399667"/>
                    <a:pt x="1399667" y="1803400"/>
                    <a:pt x="901700" y="1803400"/>
                  </a:cubicBezTo>
                  <a:cubicBezTo>
                    <a:pt x="403733" y="1803400"/>
                    <a:pt x="0" y="1399667"/>
                    <a:pt x="0" y="901700"/>
                  </a:cubicBezTo>
                  <a:close/>
                </a:path>
              </a:pathLst>
            </a:custGeom>
            <a:solidFill>
              <a:srgbClr val="595959"/>
            </a:solidFill>
          </p:spPr>
        </p:sp>
      </p:grpSp>
      <p:sp>
        <p:nvSpPr>
          <p:cNvPr name="Freeform 36" id="36"/>
          <p:cNvSpPr/>
          <p:nvPr/>
        </p:nvSpPr>
        <p:spPr>
          <a:xfrm flipH="false" flipV="false" rot="0">
            <a:off x="1758658" y="7289387"/>
            <a:ext cx="654634" cy="650958"/>
          </a:xfrm>
          <a:custGeom>
            <a:avLst/>
            <a:gdLst/>
            <a:ahLst/>
            <a:cxnLst/>
            <a:rect r="r" b="b" t="t" l="l"/>
            <a:pathLst>
              <a:path h="650958" w="654634">
                <a:moveTo>
                  <a:pt x="0" y="0"/>
                </a:moveTo>
                <a:lnTo>
                  <a:pt x="654634" y="0"/>
                </a:lnTo>
                <a:lnTo>
                  <a:pt x="654634" y="650958"/>
                </a:lnTo>
                <a:lnTo>
                  <a:pt x="0" y="650958"/>
                </a:lnTo>
                <a:lnTo>
                  <a:pt x="0" y="0"/>
                </a:lnTo>
                <a:close/>
              </a:path>
            </a:pathLst>
          </a:custGeom>
          <a:blipFill>
            <a:blip r:embed="rId9">
              <a:extLst>
                <a:ext uri="{96DAC541-7B7A-43D3-8B79-37D633B846F1}">
                  <asvg:svgBlip xmlns:asvg="http://schemas.microsoft.com/office/drawing/2016/SVG/main" r:embed="rId10"/>
                </a:ext>
              </a:extLst>
            </a:blip>
            <a:stretch>
              <a:fillRect l="0" t="-282" r="0" b="-282"/>
            </a:stretch>
          </a:blipFill>
        </p:spPr>
      </p:sp>
      <p:grpSp>
        <p:nvGrpSpPr>
          <p:cNvPr name="Group 37" id="37"/>
          <p:cNvGrpSpPr/>
          <p:nvPr/>
        </p:nvGrpSpPr>
        <p:grpSpPr>
          <a:xfrm rot="0">
            <a:off x="11459394" y="899284"/>
            <a:ext cx="6724621" cy="6599692"/>
            <a:chOff x="0" y="0"/>
            <a:chExt cx="8966162" cy="8799589"/>
          </a:xfrm>
        </p:grpSpPr>
        <p:sp>
          <p:nvSpPr>
            <p:cNvPr name="Freeform 38" id="38"/>
            <p:cNvSpPr/>
            <p:nvPr/>
          </p:nvSpPr>
          <p:spPr>
            <a:xfrm flipH="false" flipV="false" rot="0">
              <a:off x="0" y="0"/>
              <a:ext cx="8966200" cy="8799576"/>
            </a:xfrm>
            <a:custGeom>
              <a:avLst/>
              <a:gdLst/>
              <a:ahLst/>
              <a:cxnLst/>
              <a:rect r="r" b="b" t="t" l="l"/>
              <a:pathLst>
                <a:path h="8799576" w="8966200">
                  <a:moveTo>
                    <a:pt x="0" y="0"/>
                  </a:moveTo>
                  <a:lnTo>
                    <a:pt x="8966200" y="0"/>
                  </a:lnTo>
                  <a:lnTo>
                    <a:pt x="8966200" y="8799576"/>
                  </a:lnTo>
                  <a:lnTo>
                    <a:pt x="0" y="8799576"/>
                  </a:lnTo>
                  <a:lnTo>
                    <a:pt x="0" y="0"/>
                  </a:lnTo>
                  <a:close/>
                </a:path>
              </a:pathLst>
            </a:custGeom>
            <a:blipFill>
              <a:blip r:embed="rId11"/>
              <a:stretch>
                <a:fillRect l="0" t="-8" r="0" b="-8"/>
              </a:stretch>
            </a:blipFill>
          </p:spPr>
        </p:sp>
      </p:grpSp>
      <p:sp>
        <p:nvSpPr>
          <p:cNvPr name="Freeform 39" id="39"/>
          <p:cNvSpPr/>
          <p:nvPr/>
        </p:nvSpPr>
        <p:spPr>
          <a:xfrm flipH="false" flipV="false" rot="0">
            <a:off x="14313532" y="3351190"/>
            <a:ext cx="1277607" cy="1302991"/>
          </a:xfrm>
          <a:custGeom>
            <a:avLst/>
            <a:gdLst/>
            <a:ahLst/>
            <a:cxnLst/>
            <a:rect r="r" b="b" t="t" l="l"/>
            <a:pathLst>
              <a:path h="1302991" w="1277607">
                <a:moveTo>
                  <a:pt x="0" y="0"/>
                </a:moveTo>
                <a:lnTo>
                  <a:pt x="1277607" y="0"/>
                </a:lnTo>
                <a:lnTo>
                  <a:pt x="1277607" y="1302992"/>
                </a:lnTo>
                <a:lnTo>
                  <a:pt x="0" y="1302992"/>
                </a:lnTo>
                <a:lnTo>
                  <a:pt x="0" y="0"/>
                </a:lnTo>
                <a:close/>
              </a:path>
            </a:pathLst>
          </a:custGeom>
          <a:blipFill>
            <a:blip r:embed="rId12">
              <a:extLst>
                <a:ext uri="{96DAC541-7B7A-43D3-8B79-37D633B846F1}">
                  <asvg:svgBlip xmlns:asvg="http://schemas.microsoft.com/office/drawing/2016/SVG/main" r:embed="rId13"/>
                </a:ext>
              </a:extLst>
            </a:blip>
            <a:stretch>
              <a:fillRect l="-249" t="0" r="-249" b="0"/>
            </a:stretch>
          </a:blipFill>
        </p:spPr>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4140">
            <a:off x="650110" y="9570596"/>
            <a:ext cx="11861930" cy="9525"/>
            <a:chOff x="0" y="0"/>
            <a:chExt cx="15815907" cy="12700"/>
          </a:xfrm>
        </p:grpSpPr>
        <p:sp>
          <p:nvSpPr>
            <p:cNvPr name="Freeform 3" id="3"/>
            <p:cNvSpPr/>
            <p:nvPr/>
          </p:nvSpPr>
          <p:spPr>
            <a:xfrm flipH="false" flipV="false" rot="0">
              <a:off x="0" y="0"/>
              <a:ext cx="15815945" cy="12700"/>
            </a:xfrm>
            <a:custGeom>
              <a:avLst/>
              <a:gdLst/>
              <a:ahLst/>
              <a:cxnLst/>
              <a:rect r="r" b="b" t="t" l="l"/>
              <a:pathLst>
                <a:path h="12700" w="15815945">
                  <a:moveTo>
                    <a:pt x="6350" y="0"/>
                  </a:moveTo>
                  <a:lnTo>
                    <a:pt x="15809595" y="0"/>
                  </a:lnTo>
                  <a:cubicBezTo>
                    <a:pt x="15813151" y="0"/>
                    <a:pt x="15815945" y="2794"/>
                    <a:pt x="15815945" y="6350"/>
                  </a:cubicBezTo>
                  <a:cubicBezTo>
                    <a:pt x="15815945" y="9906"/>
                    <a:pt x="15813151" y="12700"/>
                    <a:pt x="15809595" y="12700"/>
                  </a:cubicBezTo>
                  <a:lnTo>
                    <a:pt x="6350" y="12700"/>
                  </a:lnTo>
                  <a:cubicBezTo>
                    <a:pt x="2794" y="12700"/>
                    <a:pt x="0" y="9906"/>
                    <a:pt x="0" y="6350"/>
                  </a:cubicBezTo>
                  <a:cubicBezTo>
                    <a:pt x="0" y="2794"/>
                    <a:pt x="2794" y="0"/>
                    <a:pt x="6350" y="0"/>
                  </a:cubicBezTo>
                  <a:close/>
                </a:path>
              </a:pathLst>
            </a:custGeom>
            <a:solidFill>
              <a:srgbClr val="284181"/>
            </a:solidFill>
          </p:spPr>
        </p:sp>
      </p:grpSp>
      <p:grpSp>
        <p:nvGrpSpPr>
          <p:cNvPr name="Group 4" id="4"/>
          <p:cNvGrpSpPr/>
          <p:nvPr/>
        </p:nvGrpSpPr>
        <p:grpSpPr>
          <a:xfrm rot="10020">
            <a:off x="12682004" y="9570596"/>
            <a:ext cx="4898631" cy="9525"/>
            <a:chOff x="0" y="0"/>
            <a:chExt cx="6531508" cy="12700"/>
          </a:xfrm>
        </p:grpSpPr>
        <p:sp>
          <p:nvSpPr>
            <p:cNvPr name="Freeform 5" id="5"/>
            <p:cNvSpPr/>
            <p:nvPr/>
          </p:nvSpPr>
          <p:spPr>
            <a:xfrm flipH="false" flipV="false" rot="0">
              <a:off x="0" y="0"/>
              <a:ext cx="6531483" cy="12700"/>
            </a:xfrm>
            <a:custGeom>
              <a:avLst/>
              <a:gdLst/>
              <a:ahLst/>
              <a:cxnLst/>
              <a:rect r="r" b="b" t="t" l="l"/>
              <a:pathLst>
                <a:path h="12700" w="6531483">
                  <a:moveTo>
                    <a:pt x="6350" y="0"/>
                  </a:moveTo>
                  <a:lnTo>
                    <a:pt x="6525133" y="0"/>
                  </a:lnTo>
                  <a:cubicBezTo>
                    <a:pt x="6528689" y="0"/>
                    <a:pt x="6531483" y="2794"/>
                    <a:pt x="6531483" y="6350"/>
                  </a:cubicBezTo>
                  <a:cubicBezTo>
                    <a:pt x="6531483" y="9906"/>
                    <a:pt x="6528689" y="12700"/>
                    <a:pt x="6525133" y="12700"/>
                  </a:cubicBezTo>
                  <a:lnTo>
                    <a:pt x="6350" y="12700"/>
                  </a:lnTo>
                  <a:cubicBezTo>
                    <a:pt x="2794" y="12700"/>
                    <a:pt x="0" y="9906"/>
                    <a:pt x="0" y="6350"/>
                  </a:cubicBezTo>
                  <a:cubicBezTo>
                    <a:pt x="0" y="2794"/>
                    <a:pt x="2794" y="0"/>
                    <a:pt x="6350" y="0"/>
                  </a:cubicBezTo>
                  <a:close/>
                </a:path>
              </a:pathLst>
            </a:custGeom>
            <a:solidFill>
              <a:srgbClr val="00BFDF"/>
            </a:solidFill>
          </p:spPr>
        </p:sp>
      </p:grpSp>
      <p:sp>
        <p:nvSpPr>
          <p:cNvPr name="TextBox 6" id="6"/>
          <p:cNvSpPr txBox="true"/>
          <p:nvPr/>
        </p:nvSpPr>
        <p:spPr>
          <a:xfrm rot="0">
            <a:off x="681361" y="9781699"/>
            <a:ext cx="960149" cy="190500"/>
          </a:xfrm>
          <a:prstGeom prst="rect">
            <a:avLst/>
          </a:prstGeom>
        </p:spPr>
        <p:txBody>
          <a:bodyPr anchor="t" rtlCol="false" tIns="0" lIns="0" bIns="0" rIns="0">
            <a:spAutoFit/>
          </a:bodyPr>
          <a:lstStyle/>
          <a:p>
            <a:pPr algn="l">
              <a:lnSpc>
                <a:spcPts val="1380"/>
              </a:lnSpc>
            </a:pPr>
            <a:r>
              <a:rPr lang="en-US" sz="1150">
                <a:solidFill>
                  <a:srgbClr val="595959"/>
                </a:solidFill>
                <a:latin typeface="Trebuchet MS"/>
                <a:ea typeface="Trebuchet MS"/>
                <a:cs typeface="Trebuchet MS"/>
                <a:sym typeface="Trebuchet MS"/>
              </a:rPr>
              <a:t>‹#›</a:t>
            </a:r>
          </a:p>
        </p:txBody>
      </p:sp>
      <p:sp>
        <p:nvSpPr>
          <p:cNvPr name="TextBox 7" id="7"/>
          <p:cNvSpPr txBox="true"/>
          <p:nvPr/>
        </p:nvSpPr>
        <p:spPr>
          <a:xfrm rot="0">
            <a:off x="603371" y="401955"/>
            <a:ext cx="10411568" cy="472440"/>
          </a:xfrm>
          <a:prstGeom prst="rect">
            <a:avLst/>
          </a:prstGeom>
        </p:spPr>
        <p:txBody>
          <a:bodyPr anchor="t" rtlCol="false" tIns="0" lIns="0" bIns="0" rIns="0">
            <a:spAutoFit/>
          </a:bodyPr>
          <a:lstStyle/>
          <a:p>
            <a:pPr algn="l">
              <a:lnSpc>
                <a:spcPts val="3779"/>
              </a:lnSpc>
            </a:pPr>
            <a:r>
              <a:rPr lang="en-US" sz="3499" b="true">
                <a:solidFill>
                  <a:srgbClr val="284181"/>
                </a:solidFill>
                <a:latin typeface="Trebuchet MS Bold"/>
                <a:ea typeface="Trebuchet MS Bold"/>
                <a:cs typeface="Trebuchet MS Bold"/>
                <a:sym typeface="Trebuchet MS Bold"/>
              </a:rPr>
              <a:t>DÉFIS ET CARTOGRAPHIE DES PARTIES PRENANTES</a:t>
            </a:r>
          </a:p>
        </p:txBody>
      </p:sp>
      <p:graphicFrame>
        <p:nvGraphicFramePr>
          <p:cNvPr name="Table 8" id="8"/>
          <p:cNvGraphicFramePr>
            <a:graphicFrameLocks noGrp="true"/>
          </p:cNvGraphicFramePr>
          <p:nvPr/>
        </p:nvGraphicFramePr>
        <p:xfrm>
          <a:off x="603371" y="1041109"/>
          <a:ext cx="16789400" cy="8534400"/>
        </p:xfrm>
        <a:graphic>
          <a:graphicData uri="http://schemas.openxmlformats.org/drawingml/2006/table">
            <a:tbl>
              <a:tblPr/>
              <a:tblGrid>
                <a:gridCol w="5778573"/>
                <a:gridCol w="5759604"/>
                <a:gridCol w="5251224"/>
              </a:tblGrid>
              <a:tr h="1045393">
                <a:tc>
                  <a:txBody>
                    <a:bodyPr anchor="t" rtlCol="false"/>
                    <a:lstStyle/>
                    <a:p>
                      <a:pPr algn="ctr">
                        <a:lnSpc>
                          <a:spcPts val="2520"/>
                        </a:lnSpc>
                        <a:defRPr/>
                      </a:pPr>
                      <a:r>
                        <a:rPr lang="en-US" sz="2100">
                          <a:solidFill>
                            <a:srgbClr val="FFFFFF"/>
                          </a:solidFill>
                          <a:latin typeface="Trebuchet MS"/>
                          <a:ea typeface="Trebuchet MS"/>
                          <a:cs typeface="Trebuchet MS"/>
                          <a:sym typeface="Trebuchet MS"/>
                        </a:rPr>
                        <a:t>Challenges</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284181"/>
                    </a:solidFill>
                  </a:tcPr>
                </a:tc>
                <a:tc>
                  <a:txBody>
                    <a:bodyPr anchor="t" rtlCol="false"/>
                    <a:lstStyle/>
                    <a:p>
                      <a:pPr algn="ctr">
                        <a:lnSpc>
                          <a:spcPts val="2640"/>
                        </a:lnSpc>
                        <a:defRPr/>
                      </a:pPr>
                      <a:r>
                        <a:rPr lang="en-US" sz="2200">
                          <a:solidFill>
                            <a:srgbClr val="FFFFFF"/>
                          </a:solidFill>
                          <a:latin typeface="Trebuchet MS"/>
                          <a:ea typeface="Trebuchet MS"/>
                          <a:cs typeface="Trebuchet MS"/>
                          <a:sym typeface="Trebuchet MS"/>
                        </a:rPr>
                        <a:t>Solution</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284181"/>
                    </a:solidFill>
                  </a:tcPr>
                </a:tc>
                <a:tc>
                  <a:txBody>
                    <a:bodyPr anchor="t" rtlCol="false"/>
                    <a:lstStyle/>
                    <a:p>
                      <a:pPr algn="ctr">
                        <a:lnSpc>
                          <a:spcPts val="2760"/>
                        </a:lnSpc>
                        <a:defRPr/>
                      </a:pPr>
                      <a:r>
                        <a:rPr lang="en-US" sz="2300">
                          <a:solidFill>
                            <a:srgbClr val="FFFFFF"/>
                          </a:solidFill>
                          <a:latin typeface="Trebuchet MS"/>
                          <a:ea typeface="Trebuchet MS"/>
                          <a:cs typeface="Trebuchet MS"/>
                          <a:sym typeface="Trebuchet MS"/>
                        </a:rPr>
                        <a:t>Stakeholder</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4762">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284181"/>
                    </a:solidFill>
                  </a:tcPr>
                </a:tc>
              </a:tr>
              <a:tr h="1068126">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 Adoption par les collectionneurs : Résistance au changement des pratiques informelles établies</a:t>
                      </a:r>
                      <a:endParaRPr lang="en-US" sz="1100"/>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12700">
                      <a:solidFill>
                        <a:srgbClr val="00BFDF"/>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Programme de formation et d'incitation financière pour les premiers adoptants. Démonstration des gains de transparence et de traçabilité</a:t>
                      </a:r>
                      <a:endParaRPr lang="en-US" sz="1100"/>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12700">
                      <a:solidFill>
                        <a:srgbClr val="00BFDF"/>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Sociétés cotonnières (SONAPRA), Coopératives agricoles, Ministère de l'Agriculture</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12700">
                      <a:solidFill>
                        <a:srgbClr val="00BFDF"/>
                      </a:solidFill>
                      <a:prstDash val="solid"/>
                      <a:round/>
                      <a:headEnd type="none" w="med" len="med"/>
                      <a:tailEnd type="none" w="med" len="med"/>
                    </a:lnB>
                  </a:tcPr>
                </a:tc>
              </a:tr>
              <a:tr h="1260760">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Connectivité limitée : Zones rurales avec accès internet instable ou inexistant</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Déploiement de la solution offline-first via USSD et PWA. Partenariat avec opérateurs télécoms pour améliorer la couverture.</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MTN Benin, Moov Africa, Ministère du Numérique et de la Digitalisation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377839">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Réglementation des données : Conformité avec les lois sur la protection des données biométriques</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Collaboration avec les autorités pour garantir le respect du Code du Numérique. Audits de sécurité réguliers.</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APDP (Autorité de Protection des Données Personnelles), ARCEP Bénin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260760">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Intégration Mobile Money : Accords techniques et commerciaux avec les opérateurs de paiement</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Partenariats stratégiques avec les plateformes Mobile Money existantes. API standardisées pour l'interopérabilité.</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MTN Mobile Money, Moov Money, BCEAO (Banque Centrale)</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260760">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Financement initial : Coûts de déploiement de l'infrastructure et formation des utilisateurs</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Recherche de subventions auprès d'organisations de développement. Modèle freemium avec frais minimes par transaction.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Banque Mondiale, AFD, USAID, Fondations tech (Gates Foundation)</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r h="1260760">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Confiance des banques : Acceptation des credentials vérifiables comme preuves de revenus</a:t>
                      </a:r>
                      <a:endParaRPr lang="en-US" sz="1100"/>
                    </a:p>
                    <a:p>
                      <a:pPr algn="l">
                        <a:lnSpc>
                          <a:spcPts val="2100"/>
                        </a:lnSpc>
                      </a:pPr>
                    </a:p>
                  </a:txBody>
                  <a:tcPr marL="63077" marR="63077" marT="63077" marB="63077" anchor="ctr">
                    <a:lnL cmpd="sng" algn="ctr" cap="flat" w="9525">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040"/>
                        </a:lnSpc>
                        <a:defRPr/>
                      </a:pPr>
                      <a:r>
                        <a:rPr lang="en-US" sz="1700">
                          <a:solidFill>
                            <a:srgbClr val="595959"/>
                          </a:solidFill>
                          <a:latin typeface="Trebuchet MS"/>
                          <a:ea typeface="Trebuchet MS"/>
                          <a:cs typeface="Trebuchet MS"/>
                          <a:sym typeface="Trebuchet MS"/>
                        </a:rPr>
                        <a:t>Pilotes avec institutions financières partenaires. Certification des credentials par des auditeurs indépendants.</a:t>
                      </a:r>
                      <a:endParaRPr lang="en-US" sz="1100"/>
                    </a:p>
                    <a:p>
                      <a:pPr algn="l">
                        <a:lnSpc>
                          <a:spcPts val="204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c>
                  <a:txBody>
                    <a:bodyPr anchor="t" rtlCol="false"/>
                    <a:lstStyle/>
                    <a:p>
                      <a:pPr algn="l">
                        <a:lnSpc>
                          <a:spcPts val="2100"/>
                        </a:lnSpc>
                        <a:defRPr/>
                      </a:pPr>
                      <a:r>
                        <a:rPr lang="en-US" sz="1750">
                          <a:solidFill>
                            <a:srgbClr val="595959"/>
                          </a:solidFill>
                          <a:latin typeface="Trebuchet MS"/>
                          <a:ea typeface="Trebuchet MS"/>
                          <a:cs typeface="Trebuchet MS"/>
                          <a:sym typeface="Trebuchet MS"/>
                        </a:rPr>
                        <a:t>Banques commerciales (BIBE, BOA), Institutions de microfinance, Association Professionnelle des Banques</a:t>
                      </a:r>
                      <a:endParaRPr lang="en-US" sz="1100"/>
                    </a:p>
                    <a:p>
                      <a:pPr algn="l">
                        <a:lnSpc>
                          <a:spcPts val="2100"/>
                        </a:lnSpc>
                      </a:pPr>
                    </a:p>
                  </a:txBody>
                  <a:tcPr marL="63077" marR="63077" marT="63077" marB="63077" anchor="ctr">
                    <a:lnL cmpd="sng" algn="ctr" cap="flat" w="4762">
                      <a:solidFill>
                        <a:srgbClr val="000000"/>
                      </a:solidFill>
                      <a:prstDash val="solid"/>
                      <a:round/>
                      <a:headEnd type="none" w="med" len="med"/>
                      <a:tailEnd type="none" w="med" len="med"/>
                    </a:lnL>
                    <a:lnR cmpd="sng" algn="ctr" cap="flat" w="4762">
                      <a:solidFill>
                        <a:srgbClr val="000000"/>
                      </a:solidFill>
                      <a:prstDash val="solid"/>
                      <a:round/>
                      <a:headEnd type="none" w="med" len="med"/>
                      <a:tailEnd type="none" w="med" len="med"/>
                    </a:lnR>
                    <a:lnT cmpd="sng" algn="ctr" cap="flat" w="12700">
                      <a:solidFill>
                        <a:srgbClr val="00BFDF"/>
                      </a:solidFill>
                      <a:prstDash val="solid"/>
                      <a:round/>
                      <a:headEnd type="none" w="med" len="med"/>
                      <a:tailEnd type="none" w="med" len="med"/>
                    </a:lnT>
                    <a:lnB cmpd="sng" algn="ctr" cap="flat" w="12700">
                      <a:solidFill>
                        <a:srgbClr val="595959"/>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81361" y="9781699"/>
            <a:ext cx="960149" cy="273901"/>
          </a:xfrm>
          <a:prstGeom prst="rect">
            <a:avLst/>
          </a:prstGeom>
        </p:spPr>
        <p:txBody>
          <a:bodyPr anchor="t" rtlCol="false" tIns="0" lIns="0" bIns="0" rIns="0">
            <a:spAutoFit/>
          </a:bodyPr>
          <a:lstStyle/>
          <a:p>
            <a:pPr algn="l">
              <a:lnSpc>
                <a:spcPts val="1620"/>
              </a:lnSpc>
            </a:pPr>
            <a:r>
              <a:rPr lang="en-US" sz="1350">
                <a:solidFill>
                  <a:srgbClr val="595959"/>
                </a:solidFill>
                <a:latin typeface="Trebuchet MS"/>
                <a:ea typeface="Trebuchet MS"/>
                <a:cs typeface="Trebuchet MS"/>
                <a:sym typeface="Trebuchet MS"/>
              </a:rPr>
              <a:t>‹#›</a:t>
            </a:r>
          </a:p>
        </p:txBody>
      </p:sp>
      <p:sp>
        <p:nvSpPr>
          <p:cNvPr name="TextBox 5" id="5"/>
          <p:cNvSpPr txBox="true"/>
          <p:nvPr/>
        </p:nvSpPr>
        <p:spPr>
          <a:xfrm rot="0">
            <a:off x="603371" y="373380"/>
            <a:ext cx="2487513" cy="501015"/>
          </a:xfrm>
          <a:prstGeom prst="rect">
            <a:avLst/>
          </a:prstGeom>
        </p:spPr>
        <p:txBody>
          <a:bodyPr anchor="t" rtlCol="false" tIns="0" lIns="0" bIns="0" rIns="0">
            <a:spAutoFit/>
          </a:bodyPr>
          <a:lstStyle/>
          <a:p>
            <a:pPr algn="l">
              <a:lnSpc>
                <a:spcPts val="3780"/>
              </a:lnSpc>
            </a:pPr>
            <a:r>
              <a:rPr lang="en-US" b="true" sz="3500">
                <a:solidFill>
                  <a:srgbClr val="284181"/>
                </a:solidFill>
                <a:latin typeface="Trebuchet MS Bold"/>
                <a:ea typeface="Trebuchet MS Bold"/>
                <a:cs typeface="Trebuchet MS Bold"/>
                <a:sym typeface="Trebuchet MS Bold"/>
              </a:rPr>
              <a:t>PROTOTYPE</a:t>
            </a:r>
          </a:p>
        </p:txBody>
      </p:sp>
      <p:grpSp>
        <p:nvGrpSpPr>
          <p:cNvPr name="Group 6" id="6"/>
          <p:cNvGrpSpPr/>
          <p:nvPr/>
        </p:nvGrpSpPr>
        <p:grpSpPr>
          <a:xfrm rot="0">
            <a:off x="1932049" y="1346702"/>
            <a:ext cx="14423902" cy="7593596"/>
            <a:chOff x="0" y="0"/>
            <a:chExt cx="16531831" cy="8703335"/>
          </a:xfrm>
        </p:grpSpPr>
        <p:sp>
          <p:nvSpPr>
            <p:cNvPr name="Freeform 7" id="7"/>
            <p:cNvSpPr/>
            <p:nvPr/>
          </p:nvSpPr>
          <p:spPr>
            <a:xfrm flipH="false" flipV="false" rot="0">
              <a:off x="0" y="0"/>
              <a:ext cx="16531766" cy="8703360"/>
            </a:xfrm>
            <a:custGeom>
              <a:avLst/>
              <a:gdLst/>
              <a:ahLst/>
              <a:cxnLst/>
              <a:rect r="r" b="b" t="t" l="l"/>
              <a:pathLst>
                <a:path h="8703360" w="16531766">
                  <a:moveTo>
                    <a:pt x="0" y="0"/>
                  </a:moveTo>
                  <a:lnTo>
                    <a:pt x="16531766" y="0"/>
                  </a:lnTo>
                  <a:lnTo>
                    <a:pt x="16531766" y="8703360"/>
                  </a:lnTo>
                  <a:lnTo>
                    <a:pt x="0" y="8703360"/>
                  </a:lnTo>
                  <a:lnTo>
                    <a:pt x="0" y="0"/>
                  </a:lnTo>
                  <a:close/>
                </a:path>
              </a:pathLst>
            </a:custGeom>
            <a:blipFill>
              <a:blip r:embed="rId2"/>
              <a:stretch>
                <a:fillRect l="0" t="-799" r="0" b="-799"/>
              </a:stretch>
            </a:blipFill>
          </p:spPr>
        </p:sp>
      </p:gr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name="AutoShape 2" id="2"/>
          <p:cNvSpPr/>
          <p:nvPr/>
        </p:nvSpPr>
        <p:spPr>
          <a:xfrm rot="4140">
            <a:off x="654872" y="9575359"/>
            <a:ext cx="11852405" cy="0"/>
          </a:xfrm>
          <a:prstGeom prst="line">
            <a:avLst/>
          </a:prstGeom>
          <a:ln cap="rnd" w="9525">
            <a:solidFill>
              <a:srgbClr val="284181"/>
            </a:solidFill>
            <a:prstDash val="solid"/>
            <a:headEnd type="none" len="sm" w="sm"/>
            <a:tailEnd type="none" len="sm" w="sm"/>
          </a:ln>
        </p:spPr>
      </p:sp>
      <p:sp>
        <p:nvSpPr>
          <p:cNvPr name="AutoShape 3" id="3"/>
          <p:cNvSpPr/>
          <p:nvPr/>
        </p:nvSpPr>
        <p:spPr>
          <a:xfrm rot="10020">
            <a:off x="12686767" y="9575359"/>
            <a:ext cx="4889106" cy="0"/>
          </a:xfrm>
          <a:prstGeom prst="line">
            <a:avLst/>
          </a:prstGeom>
          <a:ln cap="rnd" w="9525">
            <a:solidFill>
              <a:srgbClr val="00BFDF"/>
            </a:solidFill>
            <a:prstDash val="solid"/>
            <a:headEnd type="none" len="sm" w="sm"/>
            <a:tailEnd type="none" len="sm" w="sm"/>
          </a:ln>
        </p:spPr>
      </p:sp>
      <p:sp>
        <p:nvSpPr>
          <p:cNvPr name="TextBox 4" id="4"/>
          <p:cNvSpPr txBox="true"/>
          <p:nvPr/>
        </p:nvSpPr>
        <p:spPr>
          <a:xfrm rot="0">
            <a:off x="603371" y="373380"/>
            <a:ext cx="5486549" cy="501015"/>
          </a:xfrm>
          <a:prstGeom prst="rect">
            <a:avLst/>
          </a:prstGeom>
        </p:spPr>
        <p:txBody>
          <a:bodyPr anchor="t" rtlCol="false" tIns="0" lIns="0" bIns="0" rIns="0">
            <a:spAutoFit/>
          </a:bodyPr>
          <a:lstStyle/>
          <a:p>
            <a:pPr algn="l">
              <a:lnSpc>
                <a:spcPts val="3779"/>
              </a:lnSpc>
            </a:pPr>
            <a:r>
              <a:rPr lang="en-US" b="true" sz="3499">
                <a:solidFill>
                  <a:srgbClr val="284181"/>
                </a:solidFill>
                <a:latin typeface="Trebuchet MS Bold"/>
                <a:ea typeface="Trebuchet MS Bold"/>
                <a:cs typeface="Trebuchet MS Bold"/>
                <a:sym typeface="Trebuchet MS Bold"/>
              </a:rPr>
              <a:t>GO-TO-MARKET STRATEGY</a:t>
            </a:r>
          </a:p>
        </p:txBody>
      </p:sp>
      <p:sp>
        <p:nvSpPr>
          <p:cNvPr name="TextBox 5" id="5"/>
          <p:cNvSpPr txBox="true"/>
          <p:nvPr/>
        </p:nvSpPr>
        <p:spPr>
          <a:xfrm rot="0">
            <a:off x="679594" y="1314153"/>
            <a:ext cx="16928811" cy="7842885"/>
          </a:xfrm>
          <a:prstGeom prst="rect">
            <a:avLst/>
          </a:prstGeom>
        </p:spPr>
        <p:txBody>
          <a:bodyPr anchor="t" rtlCol="false" tIns="0" lIns="0" bIns="0" rIns="0">
            <a:spAutoFit/>
          </a:bodyPr>
          <a:lstStyle/>
          <a:p>
            <a:pPr algn="l" marL="712087" indent="-356044" lvl="1">
              <a:lnSpc>
                <a:spcPts val="3239"/>
              </a:lnSpc>
              <a:buFont typeface="Arial"/>
              <a:buChar char="•"/>
            </a:pPr>
            <a:r>
              <a:rPr lang="en-US" b="true" sz="2999">
                <a:solidFill>
                  <a:srgbClr val="284181"/>
                </a:solidFill>
                <a:latin typeface="Trebuchet MS Bold"/>
                <a:ea typeface="Trebuchet MS Bold"/>
                <a:cs typeface="Trebuchet MS Bold"/>
                <a:sym typeface="Trebuchet MS Bold"/>
              </a:rPr>
              <a:t>P</a:t>
            </a:r>
            <a:r>
              <a:rPr lang="en-US" b="true" sz="2999">
                <a:solidFill>
                  <a:srgbClr val="284181"/>
                </a:solidFill>
                <a:latin typeface="Trebuchet MS Bold"/>
                <a:ea typeface="Trebuchet MS Bold"/>
                <a:cs typeface="Trebuchet MS Bold"/>
                <a:sym typeface="Trebuchet MS Bold"/>
              </a:rPr>
              <a:t>roposition de valeur pour les utilisateur</a:t>
            </a:r>
            <a:r>
              <a:rPr lang="en-US" sz="2999">
                <a:solidFill>
                  <a:srgbClr val="284181"/>
                </a:solidFill>
                <a:latin typeface="Trebuchet MS"/>
                <a:ea typeface="Trebuchet MS"/>
                <a:cs typeface="Trebuchet MS"/>
                <a:sym typeface="Trebuchet MS"/>
              </a:rPr>
              <a:t>s: </a:t>
            </a:r>
          </a:p>
          <a:p>
            <a:pPr algn="l">
              <a:lnSpc>
                <a:spcPts val="3239"/>
              </a:lnSpc>
            </a:pPr>
          </a:p>
          <a:p>
            <a:pPr algn="l" marL="1452863" indent="-484288" lvl="2">
              <a:lnSpc>
                <a:spcPts val="2915"/>
              </a:lnSpc>
              <a:buFont typeface="Arial"/>
              <a:buChar char="⚬"/>
            </a:pPr>
            <a:r>
              <a:rPr lang="en-US" sz="2699">
                <a:solidFill>
                  <a:srgbClr val="5A5A5A"/>
                </a:solidFill>
                <a:latin typeface="Trebuchet MS"/>
                <a:ea typeface="Trebuchet MS"/>
                <a:cs typeface="Trebuchet MS"/>
                <a:sym typeface="Trebuchet MS"/>
              </a:rPr>
              <a:t> </a:t>
            </a:r>
            <a:r>
              <a:rPr lang="en-US" sz="2699">
                <a:solidFill>
                  <a:srgbClr val="5A5A5A"/>
                </a:solidFill>
                <a:latin typeface="Trebuchet MS"/>
                <a:ea typeface="Trebuchet MS"/>
                <a:cs typeface="Trebuchet MS"/>
                <a:sym typeface="Trebuchet MS"/>
              </a:rPr>
              <a:t>CottonPay donne aux agriculteurs une preuve instantanée et infalsifiable de chaque vente de coton, leur permettant d'accéder au crédit et à l'assurance pour la première fois. Les chefs de coopératives obtiennent un suivi transparent des paiements et une distribution automatisée, éliminant les litiges et renforçant la confiance avec leurs membres.</a:t>
            </a:r>
          </a:p>
          <a:p>
            <a:pPr algn="l">
              <a:lnSpc>
                <a:spcPts val="2699"/>
              </a:lnSpc>
            </a:pPr>
          </a:p>
          <a:p>
            <a:pPr algn="l" marL="735823" indent="-367911" lvl="1">
              <a:lnSpc>
                <a:spcPts val="3347"/>
              </a:lnSpc>
              <a:buFont typeface="Arial"/>
              <a:buChar char="•"/>
            </a:pPr>
            <a:r>
              <a:rPr lang="en-US" b="true" sz="3099">
                <a:solidFill>
                  <a:srgbClr val="284181"/>
                </a:solidFill>
                <a:latin typeface="Trebuchet MS Bold"/>
                <a:ea typeface="Trebuchet MS Bold"/>
                <a:cs typeface="Trebuchet MS Bold"/>
                <a:sym typeface="Trebuchet MS Bold"/>
              </a:rPr>
              <a:t>Can</a:t>
            </a:r>
            <a:r>
              <a:rPr lang="en-US" b="true" sz="3099">
                <a:solidFill>
                  <a:srgbClr val="284181"/>
                </a:solidFill>
                <a:latin typeface="Trebuchet MS Bold"/>
                <a:ea typeface="Trebuchet MS Bold"/>
                <a:cs typeface="Trebuchet MS Bold"/>
                <a:sym typeface="Trebuchet MS Bold"/>
              </a:rPr>
              <a:t>aux de distribution</a:t>
            </a:r>
            <a:r>
              <a:rPr lang="en-US" sz="3099">
                <a:solidFill>
                  <a:srgbClr val="284181"/>
                </a:solidFill>
                <a:latin typeface="Trebuchet MS"/>
                <a:ea typeface="Trebuchet MS"/>
                <a:cs typeface="Trebuchet MS"/>
                <a:sym typeface="Trebuchet MS"/>
              </a:rPr>
              <a:t> :</a:t>
            </a:r>
            <a:r>
              <a:rPr lang="en-US" sz="3099">
                <a:solidFill>
                  <a:srgbClr val="5A5A5A"/>
                </a:solidFill>
                <a:latin typeface="Trebuchet MS"/>
                <a:ea typeface="Trebuchet MS"/>
                <a:cs typeface="Trebuchet MS"/>
                <a:sym typeface="Trebuchet MS"/>
              </a:rPr>
              <a:t> </a:t>
            </a:r>
          </a:p>
          <a:p>
            <a:pPr algn="l">
              <a:lnSpc>
                <a:spcPts val="3347"/>
              </a:lnSpc>
            </a:pPr>
          </a:p>
          <a:p>
            <a:pPr algn="l" marL="1452863" indent="-484288" lvl="2">
              <a:lnSpc>
                <a:spcPts val="2915"/>
              </a:lnSpc>
              <a:buFont typeface="Arial"/>
              <a:buChar char="⚬"/>
            </a:pPr>
            <a:r>
              <a:rPr lang="en-US" sz="2699">
                <a:solidFill>
                  <a:srgbClr val="5A5A5A"/>
                </a:solidFill>
                <a:latin typeface="Trebuchet MS"/>
                <a:ea typeface="Trebuchet MS"/>
                <a:cs typeface="Trebuchet MS"/>
                <a:sym typeface="Trebuchet MS"/>
              </a:rPr>
              <a:t> Partenar</a:t>
            </a:r>
            <a:r>
              <a:rPr lang="en-US" sz="2699">
                <a:solidFill>
                  <a:srgbClr val="5A5A5A"/>
                </a:solidFill>
                <a:latin typeface="Trebuchet MS"/>
                <a:ea typeface="Trebuchet MS"/>
                <a:cs typeface="Trebuchet MS"/>
                <a:sym typeface="Trebuchet MS"/>
              </a:rPr>
              <a:t>iat direct avec des coopératives cotonnières et les unions agricoles régionales . Endorsement gouvernemental via le Ministère de l'Agriculture pour un déploiement national. Intégration avec les opérateurs Mobile Money existants (MTN, Moov) pour une vérification de paiement fluide.</a:t>
            </a:r>
          </a:p>
          <a:p>
            <a:pPr algn="l">
              <a:lnSpc>
                <a:spcPts val="2807"/>
              </a:lnSpc>
            </a:pPr>
          </a:p>
          <a:p>
            <a:pPr algn="l" marL="1506672" indent="-502224" lvl="2">
              <a:lnSpc>
                <a:spcPts val="3023"/>
              </a:lnSpc>
              <a:buFont typeface="Arial"/>
              <a:buChar char="⚬"/>
            </a:pPr>
            <a:r>
              <a:rPr lang="en-US" sz="2799">
                <a:solidFill>
                  <a:srgbClr val="5A5A5A"/>
                </a:solidFill>
                <a:latin typeface="Trebuchet MS"/>
                <a:ea typeface="Trebuchet MS"/>
                <a:cs typeface="Trebuchet MS"/>
                <a:sym typeface="Trebuchet MS"/>
              </a:rPr>
              <a:t>M</a:t>
            </a:r>
            <a:r>
              <a:rPr lang="en-US" sz="2799">
                <a:solidFill>
                  <a:srgbClr val="5A5A5A"/>
                </a:solidFill>
                <a:latin typeface="Trebuchet MS"/>
                <a:ea typeface="Trebuchet MS"/>
                <a:cs typeface="Trebuchet MS"/>
                <a:sym typeface="Trebuchet MS"/>
              </a:rPr>
              <a:t>essaging produit et tactiques marketing:</a:t>
            </a:r>
          </a:p>
          <a:p>
            <a:pPr algn="l">
              <a:lnSpc>
                <a:spcPts val="3023"/>
              </a:lnSpc>
            </a:pPr>
          </a:p>
          <a:p>
            <a:pPr algn="l" marL="2374897" indent="-395816" lvl="5">
              <a:lnSpc>
                <a:spcPts val="2375"/>
              </a:lnSpc>
              <a:buFont typeface="Arial"/>
              <a:buChar char="⚬"/>
            </a:pPr>
            <a:r>
              <a:rPr lang="en-US" sz="2199">
                <a:solidFill>
                  <a:srgbClr val="5A5A5A"/>
                </a:solidFill>
                <a:latin typeface="Trebuchet MS"/>
                <a:ea typeface="Trebuchet MS"/>
                <a:cs typeface="Trebuchet MS"/>
                <a:sym typeface="Trebuchet MS"/>
              </a:rPr>
              <a:t> "Votre coton, votre preuve, votre avenir" - Message centré sur la propriété et l'autonomisation. </a:t>
            </a:r>
          </a:p>
          <a:p>
            <a:pPr algn="l">
              <a:lnSpc>
                <a:spcPts val="2483"/>
              </a:lnSpc>
            </a:pPr>
          </a:p>
          <a:p>
            <a:pPr algn="l" marL="2374897" indent="-395816" lvl="5">
              <a:lnSpc>
                <a:spcPts val="2375"/>
              </a:lnSpc>
              <a:buFont typeface="Arial"/>
              <a:buChar char="⚬"/>
            </a:pPr>
            <a:r>
              <a:rPr lang="en-US" sz="2199">
                <a:solidFill>
                  <a:srgbClr val="5A5A5A"/>
                </a:solidFill>
                <a:latin typeface="Trebuchet MS"/>
                <a:ea typeface="Trebuchet MS"/>
                <a:cs typeface="Trebuchet MS"/>
                <a:sym typeface="Trebuchet MS"/>
              </a:rPr>
              <a:t>Tactiques incluent démonstrations terrain lors des assemblées de coopératives, sessions de formation avec guides visuels pour utilisateurs analphabètes, spots radio en langues locales , et témoignages de coopératives pilotes montrant l'augmentation de l'accès au crédit et la réduction de la fraude.</a:t>
            </a:r>
          </a:p>
          <a:p>
            <a:pPr algn="l" marL="2312078" indent="-578020" lvl="3">
              <a:lnSpc>
                <a:spcPts val="2699"/>
              </a:lnSpc>
            </a:pP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AutoShape 2" id="2"/>
          <p:cNvSpPr/>
          <p:nvPr/>
        </p:nvSpPr>
        <p:spPr>
          <a:xfrm rot="-2700">
            <a:off x="681038" y="9575359"/>
            <a:ext cx="12025941" cy="0"/>
          </a:xfrm>
          <a:prstGeom prst="line">
            <a:avLst/>
          </a:prstGeom>
          <a:ln cap="rnd" w="9525">
            <a:solidFill>
              <a:srgbClr val="284181"/>
            </a:solidFill>
            <a:prstDash val="solid"/>
            <a:headEnd type="none" len="sm" w="sm"/>
            <a:tailEnd type="none" len="sm" w="sm"/>
          </a:ln>
        </p:spPr>
      </p:sp>
      <p:sp>
        <p:nvSpPr>
          <p:cNvPr name="AutoShape 3" id="3"/>
          <p:cNvSpPr/>
          <p:nvPr/>
        </p:nvSpPr>
        <p:spPr>
          <a:xfrm rot="-9780">
            <a:off x="12903117" y="9575359"/>
            <a:ext cx="3357534" cy="0"/>
          </a:xfrm>
          <a:prstGeom prst="line">
            <a:avLst/>
          </a:prstGeom>
          <a:ln cap="rnd" w="9525">
            <a:solidFill>
              <a:srgbClr val="00BFDF"/>
            </a:solidFill>
            <a:prstDash val="solid"/>
            <a:headEnd type="none" len="sm" w="sm"/>
            <a:tailEnd type="none" len="sm" w="sm"/>
          </a:ln>
        </p:spPr>
      </p:sp>
      <p:grpSp>
        <p:nvGrpSpPr>
          <p:cNvPr name="Group 4" id="4"/>
          <p:cNvGrpSpPr/>
          <p:nvPr/>
        </p:nvGrpSpPr>
        <p:grpSpPr>
          <a:xfrm rot="0">
            <a:off x="3139459" y="0"/>
            <a:ext cx="15166829" cy="9727178"/>
            <a:chOff x="0" y="0"/>
            <a:chExt cx="20222439" cy="12969570"/>
          </a:xfrm>
        </p:grpSpPr>
        <p:sp>
          <p:nvSpPr>
            <p:cNvPr name="Freeform 5" id="5"/>
            <p:cNvSpPr/>
            <p:nvPr/>
          </p:nvSpPr>
          <p:spPr>
            <a:xfrm flipH="false" flipV="false" rot="0">
              <a:off x="0" y="0"/>
              <a:ext cx="20222463" cy="12969621"/>
            </a:xfrm>
            <a:custGeom>
              <a:avLst/>
              <a:gdLst/>
              <a:ahLst/>
              <a:cxnLst/>
              <a:rect r="r" b="b" t="t" l="l"/>
              <a:pathLst>
                <a:path h="12969621" w="20222463">
                  <a:moveTo>
                    <a:pt x="0" y="0"/>
                  </a:moveTo>
                  <a:lnTo>
                    <a:pt x="20222463" y="0"/>
                  </a:lnTo>
                  <a:lnTo>
                    <a:pt x="20222463" y="12969621"/>
                  </a:lnTo>
                  <a:lnTo>
                    <a:pt x="0" y="12969621"/>
                  </a:lnTo>
                  <a:lnTo>
                    <a:pt x="0" y="0"/>
                  </a:lnTo>
                  <a:close/>
                </a:path>
              </a:pathLst>
            </a:custGeom>
            <a:blipFill>
              <a:blip r:embed="rId2"/>
              <a:stretch>
                <a:fillRect l="0" t="0" r="-351" b="0"/>
              </a:stretch>
            </a:blipFill>
          </p:spPr>
        </p:sp>
      </p:grpSp>
      <p:grpSp>
        <p:nvGrpSpPr>
          <p:cNvPr name="Group 6" id="6"/>
          <p:cNvGrpSpPr/>
          <p:nvPr/>
        </p:nvGrpSpPr>
        <p:grpSpPr>
          <a:xfrm rot="0">
            <a:off x="37338" y="0"/>
            <a:ext cx="18268950" cy="10287000"/>
            <a:chOff x="0" y="0"/>
            <a:chExt cx="24358600" cy="13716000"/>
          </a:xfrm>
        </p:grpSpPr>
        <p:sp>
          <p:nvSpPr>
            <p:cNvPr name="Freeform 7" id="7"/>
            <p:cNvSpPr/>
            <p:nvPr/>
          </p:nvSpPr>
          <p:spPr>
            <a:xfrm flipH="false" flipV="false" rot="0">
              <a:off x="0" y="0"/>
              <a:ext cx="24358600" cy="13716000"/>
            </a:xfrm>
            <a:custGeom>
              <a:avLst/>
              <a:gdLst/>
              <a:ahLst/>
              <a:cxnLst/>
              <a:rect r="r" b="b" t="t" l="l"/>
              <a:pathLst>
                <a:path h="13716000" w="24358600">
                  <a:moveTo>
                    <a:pt x="0" y="0"/>
                  </a:moveTo>
                  <a:lnTo>
                    <a:pt x="24358600" y="0"/>
                  </a:lnTo>
                  <a:lnTo>
                    <a:pt x="24358600" y="13716000"/>
                  </a:lnTo>
                  <a:lnTo>
                    <a:pt x="0" y="13716000"/>
                  </a:lnTo>
                  <a:lnTo>
                    <a:pt x="0" y="0"/>
                  </a:lnTo>
                  <a:close/>
                </a:path>
              </a:pathLst>
            </a:custGeom>
            <a:blipFill>
              <a:blip r:embed="rId3"/>
              <a:stretch>
                <a:fillRect l="-13" t="0" r="-13" b="0"/>
              </a:stretch>
            </a:blipFill>
          </p:spPr>
        </p:sp>
      </p:grpSp>
      <p:grpSp>
        <p:nvGrpSpPr>
          <p:cNvPr name="Group 8" id="8"/>
          <p:cNvGrpSpPr/>
          <p:nvPr/>
        </p:nvGrpSpPr>
        <p:grpSpPr>
          <a:xfrm rot="0">
            <a:off x="15338736" y="8296989"/>
            <a:ext cx="2781833" cy="1593980"/>
            <a:chOff x="0" y="0"/>
            <a:chExt cx="3709111" cy="2125307"/>
          </a:xfrm>
        </p:grpSpPr>
        <p:sp>
          <p:nvSpPr>
            <p:cNvPr name="Freeform 9" id="9"/>
            <p:cNvSpPr/>
            <p:nvPr/>
          </p:nvSpPr>
          <p:spPr>
            <a:xfrm flipH="false" flipV="false" rot="0">
              <a:off x="0" y="0"/>
              <a:ext cx="3709162" cy="2125345"/>
            </a:xfrm>
            <a:custGeom>
              <a:avLst/>
              <a:gdLst/>
              <a:ahLst/>
              <a:cxnLst/>
              <a:rect r="r" b="b" t="t" l="l"/>
              <a:pathLst>
                <a:path h="2125345" w="3709162">
                  <a:moveTo>
                    <a:pt x="0" y="0"/>
                  </a:moveTo>
                  <a:lnTo>
                    <a:pt x="3709162" y="0"/>
                  </a:lnTo>
                  <a:lnTo>
                    <a:pt x="3709162" y="2125345"/>
                  </a:lnTo>
                  <a:lnTo>
                    <a:pt x="0" y="2125345"/>
                  </a:lnTo>
                  <a:close/>
                </a:path>
              </a:pathLst>
            </a:custGeom>
            <a:solidFill>
              <a:srgbClr val="FFFFFF"/>
            </a:solidFill>
          </p:spPr>
        </p:sp>
      </p:grpSp>
      <p:grpSp>
        <p:nvGrpSpPr>
          <p:cNvPr name="Group 10" id="10"/>
          <p:cNvGrpSpPr/>
          <p:nvPr/>
        </p:nvGrpSpPr>
        <p:grpSpPr>
          <a:xfrm rot="0">
            <a:off x="512997" y="7206339"/>
            <a:ext cx="8957567" cy="897953"/>
            <a:chOff x="0" y="0"/>
            <a:chExt cx="11943423" cy="1197270"/>
          </a:xfrm>
        </p:grpSpPr>
        <p:sp>
          <p:nvSpPr>
            <p:cNvPr name="Freeform 11" id="11"/>
            <p:cNvSpPr/>
            <p:nvPr/>
          </p:nvSpPr>
          <p:spPr>
            <a:xfrm flipH="false" flipV="false" rot="0">
              <a:off x="0" y="0"/>
              <a:ext cx="11943428" cy="1197272"/>
            </a:xfrm>
            <a:custGeom>
              <a:avLst/>
              <a:gdLst/>
              <a:ahLst/>
              <a:cxnLst/>
              <a:rect r="r" b="b" t="t" l="l"/>
              <a:pathLst>
                <a:path h="1197272" w="11943428">
                  <a:moveTo>
                    <a:pt x="0" y="0"/>
                  </a:moveTo>
                  <a:lnTo>
                    <a:pt x="11943428" y="0"/>
                  </a:lnTo>
                  <a:lnTo>
                    <a:pt x="11943428" y="1197272"/>
                  </a:lnTo>
                  <a:lnTo>
                    <a:pt x="0" y="1197272"/>
                  </a:lnTo>
                  <a:close/>
                </a:path>
              </a:pathLst>
            </a:custGeom>
            <a:blipFill>
              <a:blip r:embed="rId4">
                <a:alphaModFix amt="0"/>
              </a:blip>
              <a:stretch>
                <a:fillRect l="0" t="-149123" r="0" b="-139623"/>
              </a:stretch>
            </a:blipFill>
          </p:spPr>
        </p:sp>
        <p:sp>
          <p:nvSpPr>
            <p:cNvPr name="TextBox 12" id="12"/>
            <p:cNvSpPr txBox="true"/>
            <p:nvPr/>
          </p:nvSpPr>
          <p:spPr>
            <a:xfrm>
              <a:off x="0" y="38100"/>
              <a:ext cx="11943423" cy="1159170"/>
            </a:xfrm>
            <a:prstGeom prst="rect">
              <a:avLst/>
            </a:prstGeom>
          </p:spPr>
          <p:txBody>
            <a:bodyPr anchor="b" rtlCol="false" tIns="0" lIns="0" bIns="0" rIns="0"/>
            <a:lstStyle/>
            <a:p>
              <a:pPr algn="l">
                <a:lnSpc>
                  <a:spcPts val="5248"/>
                </a:lnSpc>
              </a:pPr>
              <a:r>
                <a:rPr lang="en-US" sz="4859" b="true">
                  <a:solidFill>
                    <a:srgbClr val="284181"/>
                  </a:solidFill>
                  <a:latin typeface="Trebuchet MS Bold"/>
                  <a:ea typeface="Trebuchet MS Bold"/>
                  <a:cs typeface="Trebuchet MS Bold"/>
                  <a:sym typeface="Trebuchet MS Bold"/>
                </a:rPr>
                <a:t>MERCI </a:t>
              </a:r>
            </a:p>
          </p:txBody>
        </p:sp>
      </p:gr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DAHINp1DAlY</dc:identifier>
  <dcterms:modified xsi:type="dcterms:W3CDTF">2011-08-01T06:04:30Z</dcterms:modified>
  <cp:revision>1</cp:revision>
  <dc:title>EVOLUTICS</dc:title>
</cp:coreProperties>
</file>