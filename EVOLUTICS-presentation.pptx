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6"/>
  </p:notesMasterIdLst>
  <p:sldIdLst>
    <p:sldId id="256" r:id="rId6"/>
    <p:sldId id="257" r:id="rId7"/>
    <p:sldId id="258" r:id="rId8"/>
    <p:sldId id="259" r:id="rId9"/>
    <p:sldId id="260" r:id="rId10"/>
    <p:sldId id="261" r:id="rId11"/>
    <p:sldId id="262" r:id="rId12"/>
    <p:sldId id="263" r:id="rId13"/>
    <p:sldId id="264" r:id="rId14"/>
    <p:sldId id="265" r:id="rId15"/>
  </p:sldIdLst>
  <p:sldSz cx="18288000" cy="10287000"/>
  <p:notesSz cx="6858000" cy="9144000"/>
  <p:embeddedFontLst>
    <p:embeddedFont>
      <p:font typeface="Trebuchet MS Bold Italics" charset="1" panose="020B0703020202090204"/>
      <p:regular r:id="rId19"/>
    </p:embeddedFont>
    <p:embeddedFont>
      <p:font typeface="Trebuchet MS" charset="1" panose="020B0603020202020204"/>
      <p:regular r:id="rId20"/>
    </p:embeddedFont>
    <p:embeddedFont>
      <p:font typeface="Arial Italics" charset="1" panose="020B0604020202090204"/>
      <p:regular r:id="rId21"/>
    </p:embeddedFont>
    <p:embeddedFont>
      <p:font typeface="Trebuchet MS Italics" charset="1" panose="020B0603020202090204"/>
      <p:regular r:id="rId23"/>
    </p:embeddedFont>
    <p:embeddedFont>
      <p:font typeface="Trebuchet MS Bold" charset="1" panose="020B0703020202020204"/>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notesMasters/notesMaster1.xml" Type="http://schemas.openxmlformats.org/officeDocument/2006/relationships/notesMaster"/><Relationship Id="rId17" Target="theme/theme2.xml" Type="http://schemas.openxmlformats.org/officeDocument/2006/relationships/theme"/><Relationship Id="rId18" Target="notesSlides/notesSlide1.xml" Type="http://schemas.openxmlformats.org/officeDocument/2006/relationships/notesSlide"/><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22" Target="notesSlides/notesSlide2.xml" Type="http://schemas.openxmlformats.org/officeDocument/2006/relationships/notesSlide"/><Relationship Id="rId23" Target="fonts/font23.fntdata" Type="http://schemas.openxmlformats.org/officeDocument/2006/relationships/font"/><Relationship Id="rId24" Target="fonts/font24.fntdata" Type="http://schemas.openxmlformats.org/officeDocument/2006/relationships/font"/><Relationship Id="rId25" Target="notesSlides/notesSlide3.xml" Type="http://schemas.openxmlformats.org/officeDocument/2006/relationships/notesSlide"/><Relationship Id="rId26" Target="notesSlides/notesSlide4.xml" Type="http://schemas.openxmlformats.org/officeDocument/2006/relationships/notesSlide"/><Relationship Id="rId27" Target="notesSlides/notesSlide5.xml" Type="http://schemas.openxmlformats.org/officeDocument/2006/relationships/notesSlide"/><Relationship Id="rId28" Target="notesSlides/notesSlide6.xml" Type="http://schemas.openxmlformats.org/officeDocument/2006/relationships/notesSlide"/><Relationship Id="rId29" Target="notesSlides/notesSlide7.xml" Type="http://schemas.openxmlformats.org/officeDocument/2006/relationships/notesSlide"/><Relationship Id="rId3" Target="viewProps.xml" Type="http://schemas.openxmlformats.org/officeDocument/2006/relationships/viewProps"/><Relationship Id="rId30" Target="notesSlides/notesSlide8.xml" Type="http://schemas.openxmlformats.org/officeDocument/2006/relationships/notesSlide"/><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png" Type="http://schemas.openxmlformats.org/officeDocument/2006/relationships/image"/><Relationship Id="rId4" Target="../media/image2.png" Type="http://schemas.openxmlformats.org/officeDocument/2006/relationships/image"/><Relationship Id="rId5" Target="../media/image3.png" Type="http://schemas.openxmlformats.org/officeDocument/2006/relationships/image"/><Relationship Id="rId6" Target="../media/image4.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5.png" Type="http://schemas.openxmlformats.org/officeDocument/2006/relationships/image"/><Relationship Id="rId4" Target="../media/image4.jpeg" Type="http://schemas.openxmlformats.org/officeDocument/2006/relationships/image"/><Relationship Id="rId5" Target="../media/image6.png" Type="http://schemas.openxmlformats.org/officeDocument/2006/relationships/image"/><Relationship Id="rId6" Target="../media/image7.jpeg" Type="http://schemas.openxmlformats.org/officeDocument/2006/relationships/image"/><Relationship Id="rId7" Target="../media/image8.jpeg" Type="http://schemas.openxmlformats.org/officeDocument/2006/relationships/image"/><Relationship Id="rId8" Target="../media/image9.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7.png" Type="http://schemas.openxmlformats.org/officeDocument/2006/relationships/image"/><Relationship Id="rId11" Target="../media/image18.png" Type="http://schemas.openxmlformats.org/officeDocument/2006/relationships/image"/><Relationship Id="rId12" Target="../media/image19.svg" Type="http://schemas.openxmlformats.org/officeDocument/2006/relationships/image"/><Relationship Id="rId2" Target="../notesSlides/notesSlide7.xml" Type="http://schemas.openxmlformats.org/officeDocument/2006/relationships/notesSlide"/><Relationship Id="rId3" Target="../media/image4.jpeg" Type="http://schemas.openxmlformats.org/officeDocument/2006/relationships/image"/><Relationship Id="rId4" Target="../media/image11.png" Type="http://schemas.openxmlformats.org/officeDocument/2006/relationships/image"/><Relationship Id="rId5" Target="../media/image12.svg" Type="http://schemas.openxmlformats.org/officeDocument/2006/relationships/image"/><Relationship Id="rId6" Target="../media/image13.png" Type="http://schemas.openxmlformats.org/officeDocument/2006/relationships/image"/><Relationship Id="rId7" Target="../media/image14.svg" Type="http://schemas.openxmlformats.org/officeDocument/2006/relationships/image"/><Relationship Id="rId8" Target="../media/image15.png" Type="http://schemas.openxmlformats.org/officeDocument/2006/relationships/image"/><Relationship Id="rId9" Target="../media/image16.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0.jpeg" Type="http://schemas.openxmlformats.org/officeDocument/2006/relationships/image"/><Relationship Id="rId3" Target="../media/image21.png" Type="http://schemas.openxmlformats.org/officeDocument/2006/relationships/image"/><Relationship Id="rId4" Target="../media/image4.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5135"/>
            <a:ext cx="18295839" cy="10302135"/>
            <a:chOff x="0" y="0"/>
            <a:chExt cx="24394452" cy="13736180"/>
          </a:xfrm>
        </p:grpSpPr>
        <p:sp>
          <p:nvSpPr>
            <p:cNvPr name="Freeform 3" id="3"/>
            <p:cNvSpPr/>
            <p:nvPr/>
          </p:nvSpPr>
          <p:spPr>
            <a:xfrm flipH="false" flipV="false" rot="0">
              <a:off x="0" y="0"/>
              <a:ext cx="24394413" cy="13736193"/>
            </a:xfrm>
            <a:custGeom>
              <a:avLst/>
              <a:gdLst/>
              <a:ahLst/>
              <a:cxnLst/>
              <a:rect r="r" b="b" t="t" l="l"/>
              <a:pathLst>
                <a:path h="13736193" w="24394413">
                  <a:moveTo>
                    <a:pt x="0" y="0"/>
                  </a:moveTo>
                  <a:lnTo>
                    <a:pt x="24394413" y="0"/>
                  </a:lnTo>
                  <a:lnTo>
                    <a:pt x="24394413" y="13736193"/>
                  </a:lnTo>
                  <a:lnTo>
                    <a:pt x="0" y="13736193"/>
                  </a:lnTo>
                  <a:lnTo>
                    <a:pt x="0" y="0"/>
                  </a:lnTo>
                  <a:close/>
                </a:path>
              </a:pathLst>
            </a:custGeom>
            <a:blipFill>
              <a:blip r:embed="rId3"/>
              <a:stretch>
                <a:fillRect l="0" t="0" r="-26" b="0"/>
              </a:stretch>
            </a:blipFill>
          </p:spPr>
        </p:sp>
      </p:grpSp>
      <p:grpSp>
        <p:nvGrpSpPr>
          <p:cNvPr name="Group 4" id="4"/>
          <p:cNvGrpSpPr/>
          <p:nvPr/>
        </p:nvGrpSpPr>
        <p:grpSpPr>
          <a:xfrm rot="0">
            <a:off x="10179644" y="8720928"/>
            <a:ext cx="2845822" cy="802862"/>
            <a:chOff x="0" y="0"/>
            <a:chExt cx="3794430" cy="1070483"/>
          </a:xfrm>
        </p:grpSpPr>
        <p:sp>
          <p:nvSpPr>
            <p:cNvPr name="Freeform 5" id="5"/>
            <p:cNvSpPr/>
            <p:nvPr/>
          </p:nvSpPr>
          <p:spPr>
            <a:xfrm flipH="false" flipV="false" rot="0">
              <a:off x="0" y="0"/>
              <a:ext cx="3794379" cy="1070483"/>
            </a:xfrm>
            <a:custGeom>
              <a:avLst/>
              <a:gdLst/>
              <a:ahLst/>
              <a:cxnLst/>
              <a:rect r="r" b="b" t="t" l="l"/>
              <a:pathLst>
                <a:path h="1070483" w="3794379">
                  <a:moveTo>
                    <a:pt x="0" y="0"/>
                  </a:moveTo>
                  <a:lnTo>
                    <a:pt x="3794379" y="0"/>
                  </a:lnTo>
                  <a:lnTo>
                    <a:pt x="3794379" y="1070483"/>
                  </a:lnTo>
                  <a:lnTo>
                    <a:pt x="0" y="1070483"/>
                  </a:lnTo>
                  <a:lnTo>
                    <a:pt x="0" y="0"/>
                  </a:lnTo>
                  <a:close/>
                </a:path>
              </a:pathLst>
            </a:custGeom>
            <a:blipFill>
              <a:blip r:embed="rId4"/>
              <a:stretch>
                <a:fillRect l="0" t="0" r="-1" b="0"/>
              </a:stretch>
            </a:blipFill>
          </p:spPr>
        </p:sp>
      </p:grpSp>
      <p:grpSp>
        <p:nvGrpSpPr>
          <p:cNvPr name="Group 6" id="6"/>
          <p:cNvGrpSpPr/>
          <p:nvPr/>
        </p:nvGrpSpPr>
        <p:grpSpPr>
          <a:xfrm rot="0">
            <a:off x="13658793" y="8338385"/>
            <a:ext cx="1418577" cy="1179471"/>
            <a:chOff x="0" y="0"/>
            <a:chExt cx="1891436" cy="1572628"/>
          </a:xfrm>
        </p:grpSpPr>
        <p:sp>
          <p:nvSpPr>
            <p:cNvPr name="Freeform 7" id="7"/>
            <p:cNvSpPr/>
            <p:nvPr/>
          </p:nvSpPr>
          <p:spPr>
            <a:xfrm flipH="false" flipV="false" rot="0">
              <a:off x="0" y="0"/>
              <a:ext cx="1891411" cy="1572641"/>
            </a:xfrm>
            <a:custGeom>
              <a:avLst/>
              <a:gdLst/>
              <a:ahLst/>
              <a:cxnLst/>
              <a:rect r="r" b="b" t="t" l="l"/>
              <a:pathLst>
                <a:path h="1572641" w="1891411">
                  <a:moveTo>
                    <a:pt x="0" y="0"/>
                  </a:moveTo>
                  <a:lnTo>
                    <a:pt x="1891411" y="0"/>
                  </a:lnTo>
                  <a:lnTo>
                    <a:pt x="1891411" y="1572641"/>
                  </a:lnTo>
                  <a:lnTo>
                    <a:pt x="0" y="1572641"/>
                  </a:lnTo>
                  <a:lnTo>
                    <a:pt x="0" y="0"/>
                  </a:lnTo>
                  <a:close/>
                </a:path>
              </a:pathLst>
            </a:custGeom>
            <a:blipFill>
              <a:blip r:embed="rId5"/>
              <a:stretch>
                <a:fillRect l="0" t="0" r="-1" b="0"/>
              </a:stretch>
            </a:blipFill>
          </p:spPr>
        </p:sp>
      </p:grpSp>
      <p:sp>
        <p:nvSpPr>
          <p:cNvPr name="AutoShape 8" id="8"/>
          <p:cNvSpPr/>
          <p:nvPr/>
        </p:nvSpPr>
        <p:spPr>
          <a:xfrm rot="5373840">
            <a:off x="14768370" y="8892216"/>
            <a:ext cx="1251318" cy="0"/>
          </a:xfrm>
          <a:prstGeom prst="line">
            <a:avLst/>
          </a:prstGeom>
          <a:ln cap="rnd" w="9525">
            <a:solidFill>
              <a:srgbClr val="D1D3D4"/>
            </a:solidFill>
            <a:prstDash val="solid"/>
            <a:headEnd type="none" len="sm" w="sm"/>
            <a:tailEnd type="none" len="sm" w="sm"/>
          </a:ln>
        </p:spPr>
      </p:sp>
      <p:sp>
        <p:nvSpPr>
          <p:cNvPr name="AutoShape 9" id="9"/>
          <p:cNvSpPr/>
          <p:nvPr/>
        </p:nvSpPr>
        <p:spPr>
          <a:xfrm rot="5373840">
            <a:off x="12716466" y="8892216"/>
            <a:ext cx="1251318" cy="0"/>
          </a:xfrm>
          <a:prstGeom prst="line">
            <a:avLst/>
          </a:prstGeom>
          <a:ln cap="rnd" w="9525">
            <a:solidFill>
              <a:srgbClr val="D1D3D4"/>
            </a:solidFill>
            <a:prstDash val="solid"/>
            <a:headEnd type="none" len="sm" w="sm"/>
            <a:tailEnd type="none" len="sm" w="sm"/>
          </a:ln>
        </p:spPr>
      </p:sp>
      <p:grpSp>
        <p:nvGrpSpPr>
          <p:cNvPr name="Group 10" id="10"/>
          <p:cNvGrpSpPr/>
          <p:nvPr/>
        </p:nvGrpSpPr>
        <p:grpSpPr>
          <a:xfrm rot="0">
            <a:off x="797890" y="6497053"/>
            <a:ext cx="8346110" cy="1308287"/>
            <a:chOff x="0" y="0"/>
            <a:chExt cx="11128146" cy="1744382"/>
          </a:xfrm>
        </p:grpSpPr>
        <p:sp>
          <p:nvSpPr>
            <p:cNvPr name="Freeform 11" id="11"/>
            <p:cNvSpPr/>
            <p:nvPr/>
          </p:nvSpPr>
          <p:spPr>
            <a:xfrm flipH="false" flipV="false" rot="0">
              <a:off x="0" y="0"/>
              <a:ext cx="11128142" cy="1744381"/>
            </a:xfrm>
            <a:custGeom>
              <a:avLst/>
              <a:gdLst/>
              <a:ahLst/>
              <a:cxnLst/>
              <a:rect r="r" b="b" t="t" l="l"/>
              <a:pathLst>
                <a:path h="1744381" w="11128142">
                  <a:moveTo>
                    <a:pt x="0" y="0"/>
                  </a:moveTo>
                  <a:lnTo>
                    <a:pt x="11128142" y="0"/>
                  </a:lnTo>
                  <a:lnTo>
                    <a:pt x="11128142" y="1744381"/>
                  </a:lnTo>
                  <a:lnTo>
                    <a:pt x="0" y="1744381"/>
                  </a:lnTo>
                  <a:close/>
                </a:path>
              </a:pathLst>
            </a:custGeom>
            <a:blipFill>
              <a:blip r:embed="rId6">
                <a:alphaModFix amt="0"/>
              </a:blip>
              <a:stretch>
                <a:fillRect l="0" t="-74303" r="0" b="-74303"/>
              </a:stretch>
            </a:blipFill>
          </p:spPr>
        </p:sp>
        <p:sp>
          <p:nvSpPr>
            <p:cNvPr name="TextBox 12" id="12"/>
            <p:cNvSpPr txBox="true"/>
            <p:nvPr/>
          </p:nvSpPr>
          <p:spPr>
            <a:xfrm>
              <a:off x="0" y="38100"/>
              <a:ext cx="11128146" cy="1706282"/>
            </a:xfrm>
            <a:prstGeom prst="rect">
              <a:avLst/>
            </a:prstGeom>
          </p:spPr>
          <p:txBody>
            <a:bodyPr anchor="b" rtlCol="false" tIns="0" lIns="0" bIns="0" rIns="0"/>
            <a:lstStyle/>
            <a:p>
              <a:pPr algn="l">
                <a:lnSpc>
                  <a:spcPts val="4536"/>
                </a:lnSpc>
              </a:pPr>
              <a:r>
                <a:rPr lang="en-US" b="true" sz="4200" i="true">
                  <a:solidFill>
                    <a:srgbClr val="FFFFFF"/>
                  </a:solidFill>
                  <a:latin typeface="Trebuchet MS Bold Italics"/>
                  <a:ea typeface="Trebuchet MS Bold Italics"/>
                  <a:cs typeface="Trebuchet MS Bold Italics"/>
                  <a:sym typeface="Trebuchet MS Bold Italics"/>
                </a:rPr>
                <a:t>EVOLUTICS</a:t>
              </a:r>
            </a:p>
          </p:txBody>
        </p:sp>
      </p:grpSp>
      <p:grpSp>
        <p:nvGrpSpPr>
          <p:cNvPr name="Group 13" id="13"/>
          <p:cNvGrpSpPr/>
          <p:nvPr/>
        </p:nvGrpSpPr>
        <p:grpSpPr>
          <a:xfrm rot="0">
            <a:off x="793971" y="8046091"/>
            <a:ext cx="8350029" cy="1764059"/>
            <a:chOff x="0" y="0"/>
            <a:chExt cx="11133372" cy="2352078"/>
          </a:xfrm>
        </p:grpSpPr>
        <p:sp>
          <p:nvSpPr>
            <p:cNvPr name="Freeform 14" id="14"/>
            <p:cNvSpPr/>
            <p:nvPr/>
          </p:nvSpPr>
          <p:spPr>
            <a:xfrm flipH="false" flipV="false" rot="0">
              <a:off x="0" y="0"/>
              <a:ext cx="11133368" cy="2352078"/>
            </a:xfrm>
            <a:custGeom>
              <a:avLst/>
              <a:gdLst/>
              <a:ahLst/>
              <a:cxnLst/>
              <a:rect r="r" b="b" t="t" l="l"/>
              <a:pathLst>
                <a:path h="2352078" w="11133368">
                  <a:moveTo>
                    <a:pt x="0" y="0"/>
                  </a:moveTo>
                  <a:lnTo>
                    <a:pt x="11133368" y="0"/>
                  </a:lnTo>
                  <a:lnTo>
                    <a:pt x="11133368" y="2352078"/>
                  </a:lnTo>
                  <a:lnTo>
                    <a:pt x="0" y="2352078"/>
                  </a:lnTo>
                  <a:close/>
                </a:path>
              </a:pathLst>
            </a:custGeom>
            <a:blipFill>
              <a:blip r:embed="rId6">
                <a:alphaModFix amt="0"/>
              </a:blip>
              <a:stretch>
                <a:fillRect l="0" t="-67241" r="46" b="-17133"/>
              </a:stretch>
            </a:blipFill>
          </p:spPr>
        </p:sp>
        <p:sp>
          <p:nvSpPr>
            <p:cNvPr name="TextBox 15" id="15"/>
            <p:cNvSpPr txBox="true"/>
            <p:nvPr/>
          </p:nvSpPr>
          <p:spPr>
            <a:xfrm>
              <a:off x="0" y="38100"/>
              <a:ext cx="11133372" cy="2313978"/>
            </a:xfrm>
            <a:prstGeom prst="rect">
              <a:avLst/>
            </a:prstGeom>
          </p:spPr>
          <p:txBody>
            <a:bodyPr anchor="b" rtlCol="false" tIns="0" lIns="0" bIns="0" rIns="0"/>
            <a:lstStyle/>
            <a:p>
              <a:pPr algn="l">
                <a:lnSpc>
                  <a:spcPts val="4195"/>
                </a:lnSpc>
              </a:pPr>
              <a:r>
                <a:rPr lang="en-US" sz="3885">
                  <a:solidFill>
                    <a:srgbClr val="FFFFFF"/>
                  </a:solidFill>
                  <a:latin typeface="Trebuchet MS"/>
                  <a:ea typeface="Trebuchet MS"/>
                  <a:cs typeface="Trebuchet MS"/>
                  <a:sym typeface="Trebuchet MS"/>
                </a:rPr>
                <a:t>Pla</a:t>
              </a:r>
              <a:r>
                <a:rPr lang="en-US" sz="3885">
                  <a:solidFill>
                    <a:srgbClr val="FFFFFF"/>
                  </a:solidFill>
                  <a:latin typeface="Trebuchet MS"/>
                  <a:ea typeface="Trebuchet MS"/>
                  <a:cs typeface="Trebuchet MS"/>
                  <a:sym typeface="Trebuchet MS"/>
                </a:rPr>
                <a:t>teforme d'identité numérique pour la traçabilité et l'inclusion financière des agriculteurs</a:t>
              </a:r>
            </a:p>
          </p:txBody>
        </p:sp>
      </p:grpSp>
      <p:sp>
        <p:nvSpPr>
          <p:cNvPr name="TextBox 16" id="16"/>
          <p:cNvSpPr txBox="true"/>
          <p:nvPr/>
        </p:nvSpPr>
        <p:spPr>
          <a:xfrm rot="0">
            <a:off x="9803482" y="2545632"/>
            <a:ext cx="5453863" cy="897084"/>
          </a:xfrm>
          <a:prstGeom prst="rect">
            <a:avLst/>
          </a:prstGeom>
        </p:spPr>
        <p:txBody>
          <a:bodyPr anchor="t" rtlCol="false" tIns="0" lIns="0" bIns="0" rIns="0">
            <a:spAutoFit/>
          </a:bodyPr>
          <a:lstStyle/>
          <a:p>
            <a:pPr algn="l">
              <a:lnSpc>
                <a:spcPts val="3240"/>
              </a:lnSpc>
            </a:pPr>
            <a:r>
              <a:rPr lang="en-US" sz="2700" i="true">
                <a:solidFill>
                  <a:srgbClr val="000000"/>
                </a:solidFill>
                <a:latin typeface="Arial Italics"/>
                <a:ea typeface="Arial Italics"/>
                <a:cs typeface="Arial Italics"/>
                <a:sym typeface="Arial Italics"/>
              </a:rPr>
              <a:t>A title image will appear here. </a:t>
            </a:r>
          </a:p>
          <a:p>
            <a:pPr algn="l">
              <a:lnSpc>
                <a:spcPts val="3240"/>
              </a:lnSpc>
            </a:pPr>
            <a:r>
              <a:rPr lang="en-US" sz="2700" i="true">
                <a:solidFill>
                  <a:srgbClr val="000000"/>
                </a:solidFill>
                <a:latin typeface="Arial Italics"/>
                <a:ea typeface="Arial Italics"/>
                <a:cs typeface="Arial Italics"/>
                <a:sym typeface="Arial Italics"/>
              </a:rPr>
              <a:t>Don’t worry about this space</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140">
            <a:off x="654872" y="9575359"/>
            <a:ext cx="11852405" cy="0"/>
          </a:xfrm>
          <a:prstGeom prst="line">
            <a:avLst/>
          </a:prstGeom>
          <a:ln cap="rnd" w="9525">
            <a:solidFill>
              <a:srgbClr val="284181"/>
            </a:solidFill>
            <a:prstDash val="solid"/>
            <a:headEnd type="none" len="sm" w="sm"/>
            <a:tailEnd type="none" len="sm" w="sm"/>
          </a:ln>
        </p:spPr>
      </p:sp>
      <p:sp>
        <p:nvSpPr>
          <p:cNvPr name="AutoShape 3" id="3"/>
          <p:cNvSpPr/>
          <p:nvPr/>
        </p:nvSpPr>
        <p:spPr>
          <a:xfrm rot="10020">
            <a:off x="12686767" y="9575359"/>
            <a:ext cx="4889106" cy="0"/>
          </a:xfrm>
          <a:prstGeom prst="line">
            <a:avLst/>
          </a:prstGeom>
          <a:ln cap="rnd" w="9525">
            <a:solidFill>
              <a:srgbClr val="00BFDF"/>
            </a:solidFill>
            <a:prstDash val="solid"/>
            <a:headEnd type="none" len="sm" w="sm"/>
            <a:tailEnd type="none" len="sm" w="sm"/>
          </a:ln>
        </p:spPr>
      </p:sp>
      <p:grpSp>
        <p:nvGrpSpPr>
          <p:cNvPr name="Group 4" id="4"/>
          <p:cNvGrpSpPr/>
          <p:nvPr/>
        </p:nvGrpSpPr>
        <p:grpSpPr>
          <a:xfrm rot="0">
            <a:off x="749322" y="3741877"/>
            <a:ext cx="3165758" cy="4312358"/>
            <a:chOff x="0" y="0"/>
            <a:chExt cx="4221010" cy="5749811"/>
          </a:xfrm>
        </p:grpSpPr>
        <p:sp>
          <p:nvSpPr>
            <p:cNvPr name="Freeform 5" id="5"/>
            <p:cNvSpPr/>
            <p:nvPr/>
          </p:nvSpPr>
          <p:spPr>
            <a:xfrm flipH="false" flipV="false" rot="0">
              <a:off x="0" y="0"/>
              <a:ext cx="4220972" cy="5749798"/>
            </a:xfrm>
            <a:custGeom>
              <a:avLst/>
              <a:gdLst/>
              <a:ahLst/>
              <a:cxnLst/>
              <a:rect r="r" b="b" t="t" l="l"/>
              <a:pathLst>
                <a:path h="5749798" w="4220972">
                  <a:moveTo>
                    <a:pt x="0" y="2110486"/>
                  </a:moveTo>
                  <a:cubicBezTo>
                    <a:pt x="0" y="944880"/>
                    <a:pt x="944880" y="0"/>
                    <a:pt x="2110486" y="0"/>
                  </a:cubicBezTo>
                  <a:cubicBezTo>
                    <a:pt x="3276092" y="0"/>
                    <a:pt x="4220972" y="944880"/>
                    <a:pt x="4220972" y="2110486"/>
                  </a:cubicBezTo>
                  <a:lnTo>
                    <a:pt x="4220972" y="3639312"/>
                  </a:lnTo>
                  <a:cubicBezTo>
                    <a:pt x="4220972" y="4804918"/>
                    <a:pt x="3276092" y="5749798"/>
                    <a:pt x="2110486" y="5749798"/>
                  </a:cubicBezTo>
                  <a:cubicBezTo>
                    <a:pt x="944880" y="5749798"/>
                    <a:pt x="0" y="4804918"/>
                    <a:pt x="0" y="3639312"/>
                  </a:cubicBezTo>
                  <a:close/>
                </a:path>
              </a:pathLst>
            </a:custGeom>
            <a:solidFill>
              <a:srgbClr val="E6E7E8"/>
            </a:solidFill>
          </p:spPr>
        </p:sp>
      </p:grpSp>
      <p:grpSp>
        <p:nvGrpSpPr>
          <p:cNvPr name="Group 6" id="6"/>
          <p:cNvGrpSpPr/>
          <p:nvPr/>
        </p:nvGrpSpPr>
        <p:grpSpPr>
          <a:xfrm rot="0">
            <a:off x="1065581" y="4064003"/>
            <a:ext cx="2533231" cy="2582313"/>
            <a:chOff x="0" y="0"/>
            <a:chExt cx="3377641" cy="3443084"/>
          </a:xfrm>
        </p:grpSpPr>
        <p:sp>
          <p:nvSpPr>
            <p:cNvPr name="Freeform 7" id="7"/>
            <p:cNvSpPr/>
            <p:nvPr/>
          </p:nvSpPr>
          <p:spPr>
            <a:xfrm flipH="false" flipV="false" rot="0">
              <a:off x="0" y="0"/>
              <a:ext cx="3377692" cy="3443097"/>
            </a:xfrm>
            <a:custGeom>
              <a:avLst/>
              <a:gdLst/>
              <a:ahLst/>
              <a:cxnLst/>
              <a:rect r="r" b="b" t="t" l="l"/>
              <a:pathLst>
                <a:path h="3443097" w="3377692">
                  <a:moveTo>
                    <a:pt x="0" y="0"/>
                  </a:moveTo>
                  <a:lnTo>
                    <a:pt x="3377692" y="0"/>
                  </a:lnTo>
                  <a:lnTo>
                    <a:pt x="3377692" y="3443097"/>
                  </a:lnTo>
                  <a:lnTo>
                    <a:pt x="0" y="3443097"/>
                  </a:lnTo>
                  <a:lnTo>
                    <a:pt x="0" y="0"/>
                  </a:lnTo>
                  <a:close/>
                </a:path>
              </a:pathLst>
            </a:custGeom>
            <a:blipFill>
              <a:blip r:embed="rId3"/>
              <a:stretch>
                <a:fillRect l="0" t="-23709" r="0" b="-23709"/>
              </a:stretch>
            </a:blipFill>
          </p:spPr>
        </p:sp>
      </p:grpSp>
      <p:grpSp>
        <p:nvGrpSpPr>
          <p:cNvPr name="Group 8" id="8"/>
          <p:cNvGrpSpPr/>
          <p:nvPr/>
        </p:nvGrpSpPr>
        <p:grpSpPr>
          <a:xfrm rot="0">
            <a:off x="968169" y="6849694"/>
            <a:ext cx="2728055" cy="458312"/>
            <a:chOff x="0" y="0"/>
            <a:chExt cx="3637407" cy="611083"/>
          </a:xfrm>
        </p:grpSpPr>
        <p:sp>
          <p:nvSpPr>
            <p:cNvPr name="Freeform 9" id="9"/>
            <p:cNvSpPr/>
            <p:nvPr/>
          </p:nvSpPr>
          <p:spPr>
            <a:xfrm flipH="false" flipV="false" rot="0">
              <a:off x="0" y="0"/>
              <a:ext cx="3637404" cy="611085"/>
            </a:xfrm>
            <a:custGeom>
              <a:avLst/>
              <a:gdLst/>
              <a:ahLst/>
              <a:cxnLst/>
              <a:rect r="r" b="b" t="t" l="l"/>
              <a:pathLst>
                <a:path h="611085" w="3637404">
                  <a:moveTo>
                    <a:pt x="0" y="0"/>
                  </a:moveTo>
                  <a:lnTo>
                    <a:pt x="3637404" y="0"/>
                  </a:lnTo>
                  <a:lnTo>
                    <a:pt x="3637404" y="611085"/>
                  </a:lnTo>
                  <a:lnTo>
                    <a:pt x="0" y="611085"/>
                  </a:lnTo>
                  <a:close/>
                </a:path>
              </a:pathLst>
            </a:custGeom>
            <a:blipFill>
              <a:blip r:embed="rId4">
                <a:alphaModFix amt="0"/>
              </a:blip>
              <a:stretch>
                <a:fillRect l="0" t="-80726" r="0" b="-51237"/>
              </a:stretch>
            </a:blipFill>
          </p:spPr>
        </p:sp>
        <p:sp>
          <p:nvSpPr>
            <p:cNvPr name="TextBox 10" id="10"/>
            <p:cNvSpPr txBox="true"/>
            <p:nvPr/>
          </p:nvSpPr>
          <p:spPr>
            <a:xfrm>
              <a:off x="0" y="-19050"/>
              <a:ext cx="3637407" cy="630133"/>
            </a:xfrm>
            <a:prstGeom prst="rect">
              <a:avLst/>
            </a:prstGeom>
          </p:spPr>
          <p:txBody>
            <a:bodyPr anchor="ctr" rtlCol="false" tIns="0" lIns="0" bIns="0" rIns="0"/>
            <a:lstStyle/>
            <a:p>
              <a:pPr algn="ctr">
                <a:lnSpc>
                  <a:spcPts val="2520"/>
                </a:lnSpc>
              </a:pPr>
              <a:r>
                <a:rPr lang="en-US" sz="2100" i="true">
                  <a:solidFill>
                    <a:srgbClr val="5A5A5A"/>
                  </a:solidFill>
                  <a:latin typeface="Trebuchet MS Italics"/>
                  <a:ea typeface="Trebuchet MS Italics"/>
                  <a:cs typeface="Trebuchet MS Italics"/>
                  <a:sym typeface="Trebuchet MS Italics"/>
                </a:rPr>
                <a:t>BESSANH Sh</a:t>
              </a:r>
              <a:r>
                <a:rPr lang="en-US" sz="2100" i="true">
                  <a:solidFill>
                    <a:srgbClr val="5A5A5A"/>
                  </a:solidFill>
                  <a:latin typeface="Trebuchet MS Italics"/>
                  <a:ea typeface="Trebuchet MS Italics"/>
                  <a:cs typeface="Trebuchet MS Italics"/>
                  <a:sym typeface="Trebuchet MS Italics"/>
                </a:rPr>
                <a:t>adrak</a:t>
              </a:r>
            </a:p>
          </p:txBody>
        </p:sp>
      </p:grpSp>
      <p:grpSp>
        <p:nvGrpSpPr>
          <p:cNvPr name="Group 11" id="11"/>
          <p:cNvGrpSpPr/>
          <p:nvPr/>
        </p:nvGrpSpPr>
        <p:grpSpPr>
          <a:xfrm rot="0">
            <a:off x="4231338" y="3741877"/>
            <a:ext cx="3165758" cy="4312358"/>
            <a:chOff x="0" y="0"/>
            <a:chExt cx="4221010" cy="5749811"/>
          </a:xfrm>
        </p:grpSpPr>
        <p:sp>
          <p:nvSpPr>
            <p:cNvPr name="Freeform 12" id="12"/>
            <p:cNvSpPr/>
            <p:nvPr/>
          </p:nvSpPr>
          <p:spPr>
            <a:xfrm flipH="false" flipV="false" rot="0">
              <a:off x="0" y="0"/>
              <a:ext cx="4220972" cy="5749798"/>
            </a:xfrm>
            <a:custGeom>
              <a:avLst/>
              <a:gdLst/>
              <a:ahLst/>
              <a:cxnLst/>
              <a:rect r="r" b="b" t="t" l="l"/>
              <a:pathLst>
                <a:path h="5749798" w="4220972">
                  <a:moveTo>
                    <a:pt x="0" y="2110486"/>
                  </a:moveTo>
                  <a:cubicBezTo>
                    <a:pt x="0" y="944880"/>
                    <a:pt x="944880" y="0"/>
                    <a:pt x="2110486" y="0"/>
                  </a:cubicBezTo>
                  <a:cubicBezTo>
                    <a:pt x="3276092" y="0"/>
                    <a:pt x="4220972" y="944880"/>
                    <a:pt x="4220972" y="2110486"/>
                  </a:cubicBezTo>
                  <a:lnTo>
                    <a:pt x="4220972" y="3639312"/>
                  </a:lnTo>
                  <a:cubicBezTo>
                    <a:pt x="4220972" y="4804918"/>
                    <a:pt x="3276092" y="5749798"/>
                    <a:pt x="2110486" y="5749798"/>
                  </a:cubicBezTo>
                  <a:cubicBezTo>
                    <a:pt x="944880" y="5749798"/>
                    <a:pt x="0" y="4804918"/>
                    <a:pt x="0" y="3639312"/>
                  </a:cubicBezTo>
                  <a:close/>
                </a:path>
              </a:pathLst>
            </a:custGeom>
            <a:solidFill>
              <a:srgbClr val="E6E7E8"/>
            </a:solidFill>
          </p:spPr>
        </p:sp>
      </p:grpSp>
      <p:grpSp>
        <p:nvGrpSpPr>
          <p:cNvPr name="Group 13" id="13"/>
          <p:cNvGrpSpPr/>
          <p:nvPr/>
        </p:nvGrpSpPr>
        <p:grpSpPr>
          <a:xfrm rot="0">
            <a:off x="4450185" y="6849694"/>
            <a:ext cx="2728055" cy="458312"/>
            <a:chOff x="0" y="0"/>
            <a:chExt cx="3637407" cy="611083"/>
          </a:xfrm>
        </p:grpSpPr>
        <p:sp>
          <p:nvSpPr>
            <p:cNvPr name="Freeform 14" id="14"/>
            <p:cNvSpPr/>
            <p:nvPr/>
          </p:nvSpPr>
          <p:spPr>
            <a:xfrm flipH="false" flipV="false" rot="0">
              <a:off x="0" y="0"/>
              <a:ext cx="3637404" cy="611085"/>
            </a:xfrm>
            <a:custGeom>
              <a:avLst/>
              <a:gdLst/>
              <a:ahLst/>
              <a:cxnLst/>
              <a:rect r="r" b="b" t="t" l="l"/>
              <a:pathLst>
                <a:path h="611085" w="3637404">
                  <a:moveTo>
                    <a:pt x="0" y="0"/>
                  </a:moveTo>
                  <a:lnTo>
                    <a:pt x="3637404" y="0"/>
                  </a:lnTo>
                  <a:lnTo>
                    <a:pt x="3637404" y="611085"/>
                  </a:lnTo>
                  <a:lnTo>
                    <a:pt x="0" y="611085"/>
                  </a:lnTo>
                  <a:close/>
                </a:path>
              </a:pathLst>
            </a:custGeom>
            <a:blipFill>
              <a:blip r:embed="rId4">
                <a:alphaModFix amt="0"/>
              </a:blip>
              <a:stretch>
                <a:fillRect l="0" t="-80726" r="0" b="-51237"/>
              </a:stretch>
            </a:blipFill>
          </p:spPr>
        </p:sp>
        <p:sp>
          <p:nvSpPr>
            <p:cNvPr name="TextBox 15" id="15"/>
            <p:cNvSpPr txBox="true"/>
            <p:nvPr/>
          </p:nvSpPr>
          <p:spPr>
            <a:xfrm>
              <a:off x="0" y="-19050"/>
              <a:ext cx="3637407" cy="630133"/>
            </a:xfrm>
            <a:prstGeom prst="rect">
              <a:avLst/>
            </a:prstGeom>
          </p:spPr>
          <p:txBody>
            <a:bodyPr anchor="ctr" rtlCol="false" tIns="0" lIns="0" bIns="0" rIns="0"/>
            <a:lstStyle/>
            <a:p>
              <a:pPr algn="ctr">
                <a:lnSpc>
                  <a:spcPts val="2520"/>
                </a:lnSpc>
              </a:pPr>
              <a:r>
                <a:rPr lang="en-US" sz="2100" i="true">
                  <a:solidFill>
                    <a:srgbClr val="5A5A5A"/>
                  </a:solidFill>
                  <a:latin typeface="Trebuchet MS Italics"/>
                  <a:ea typeface="Trebuchet MS Italics"/>
                  <a:cs typeface="Trebuchet MS Italics"/>
                  <a:sym typeface="Trebuchet MS Italics"/>
                </a:rPr>
                <a:t>BOUKARI</a:t>
              </a:r>
              <a:r>
                <a:rPr lang="en-US" sz="2100" i="true">
                  <a:solidFill>
                    <a:srgbClr val="5A5A5A"/>
                  </a:solidFill>
                  <a:latin typeface="Trebuchet MS Italics"/>
                  <a:ea typeface="Trebuchet MS Italics"/>
                  <a:cs typeface="Trebuchet MS Italics"/>
                  <a:sym typeface="Trebuchet MS Italics"/>
                </a:rPr>
                <a:t> Marlyse</a:t>
              </a:r>
            </a:p>
          </p:txBody>
        </p:sp>
      </p:grpSp>
      <p:grpSp>
        <p:nvGrpSpPr>
          <p:cNvPr name="Group 16" id="16"/>
          <p:cNvGrpSpPr/>
          <p:nvPr/>
        </p:nvGrpSpPr>
        <p:grpSpPr>
          <a:xfrm rot="0">
            <a:off x="7713355" y="3741877"/>
            <a:ext cx="3165758" cy="4312358"/>
            <a:chOff x="0" y="0"/>
            <a:chExt cx="4221010" cy="5749811"/>
          </a:xfrm>
        </p:grpSpPr>
        <p:sp>
          <p:nvSpPr>
            <p:cNvPr name="Freeform 17" id="17"/>
            <p:cNvSpPr/>
            <p:nvPr/>
          </p:nvSpPr>
          <p:spPr>
            <a:xfrm flipH="false" flipV="false" rot="0">
              <a:off x="0" y="0"/>
              <a:ext cx="4220972" cy="5749798"/>
            </a:xfrm>
            <a:custGeom>
              <a:avLst/>
              <a:gdLst/>
              <a:ahLst/>
              <a:cxnLst/>
              <a:rect r="r" b="b" t="t" l="l"/>
              <a:pathLst>
                <a:path h="5749798" w="4220972">
                  <a:moveTo>
                    <a:pt x="0" y="2110486"/>
                  </a:moveTo>
                  <a:cubicBezTo>
                    <a:pt x="0" y="944880"/>
                    <a:pt x="944880" y="0"/>
                    <a:pt x="2110486" y="0"/>
                  </a:cubicBezTo>
                  <a:cubicBezTo>
                    <a:pt x="3276092" y="0"/>
                    <a:pt x="4220972" y="944880"/>
                    <a:pt x="4220972" y="2110486"/>
                  </a:cubicBezTo>
                  <a:lnTo>
                    <a:pt x="4220972" y="3639312"/>
                  </a:lnTo>
                  <a:cubicBezTo>
                    <a:pt x="4220972" y="4804918"/>
                    <a:pt x="3276092" y="5749798"/>
                    <a:pt x="2110486" y="5749798"/>
                  </a:cubicBezTo>
                  <a:cubicBezTo>
                    <a:pt x="944880" y="5749798"/>
                    <a:pt x="0" y="4804918"/>
                    <a:pt x="0" y="3639312"/>
                  </a:cubicBezTo>
                  <a:close/>
                </a:path>
              </a:pathLst>
            </a:custGeom>
            <a:solidFill>
              <a:srgbClr val="E6E7E8"/>
            </a:solidFill>
          </p:spPr>
        </p:sp>
      </p:grpSp>
      <p:grpSp>
        <p:nvGrpSpPr>
          <p:cNvPr name="Group 18" id="18"/>
          <p:cNvGrpSpPr/>
          <p:nvPr/>
        </p:nvGrpSpPr>
        <p:grpSpPr>
          <a:xfrm rot="0">
            <a:off x="7932210" y="6849694"/>
            <a:ext cx="2728055" cy="700664"/>
            <a:chOff x="0" y="0"/>
            <a:chExt cx="3637407" cy="934219"/>
          </a:xfrm>
        </p:grpSpPr>
        <p:sp>
          <p:nvSpPr>
            <p:cNvPr name="Freeform 19" id="19"/>
            <p:cNvSpPr/>
            <p:nvPr/>
          </p:nvSpPr>
          <p:spPr>
            <a:xfrm flipH="false" flipV="false" rot="0">
              <a:off x="0" y="0"/>
              <a:ext cx="3637404" cy="934221"/>
            </a:xfrm>
            <a:custGeom>
              <a:avLst/>
              <a:gdLst/>
              <a:ahLst/>
              <a:cxnLst/>
              <a:rect r="r" b="b" t="t" l="l"/>
              <a:pathLst>
                <a:path h="934221" w="3637404">
                  <a:moveTo>
                    <a:pt x="0" y="0"/>
                  </a:moveTo>
                  <a:lnTo>
                    <a:pt x="3637404" y="0"/>
                  </a:lnTo>
                  <a:lnTo>
                    <a:pt x="3637404" y="934221"/>
                  </a:lnTo>
                  <a:lnTo>
                    <a:pt x="0" y="934221"/>
                  </a:lnTo>
                  <a:close/>
                </a:path>
              </a:pathLst>
            </a:custGeom>
            <a:blipFill>
              <a:blip r:embed="rId4">
                <a:alphaModFix amt="0"/>
              </a:blip>
              <a:stretch>
                <a:fillRect l="0" t="-52804" r="0" b="1073"/>
              </a:stretch>
            </a:blipFill>
          </p:spPr>
        </p:sp>
        <p:sp>
          <p:nvSpPr>
            <p:cNvPr name="TextBox 20" id="20"/>
            <p:cNvSpPr txBox="true"/>
            <p:nvPr/>
          </p:nvSpPr>
          <p:spPr>
            <a:xfrm>
              <a:off x="0" y="-19050"/>
              <a:ext cx="3637407" cy="953269"/>
            </a:xfrm>
            <a:prstGeom prst="rect">
              <a:avLst/>
            </a:prstGeom>
          </p:spPr>
          <p:txBody>
            <a:bodyPr anchor="ctr" rtlCol="false" tIns="0" lIns="0" bIns="0" rIns="0"/>
            <a:lstStyle/>
            <a:p>
              <a:pPr algn="ctr">
                <a:lnSpc>
                  <a:spcPts val="2520"/>
                </a:lnSpc>
              </a:pPr>
              <a:r>
                <a:rPr lang="en-US" sz="2100" i="true">
                  <a:solidFill>
                    <a:srgbClr val="5A5A5A"/>
                  </a:solidFill>
                  <a:latin typeface="Trebuchet MS Italics"/>
                  <a:ea typeface="Trebuchet MS Italics"/>
                  <a:cs typeface="Trebuchet MS Italics"/>
                  <a:sym typeface="Trebuchet MS Italics"/>
                </a:rPr>
                <a:t>KAGBAHIN</a:t>
              </a:r>
              <a:r>
                <a:rPr lang="en-US" sz="2100" i="true">
                  <a:solidFill>
                    <a:srgbClr val="5A5A5A"/>
                  </a:solidFill>
                  <a:latin typeface="Trebuchet MS Italics"/>
                  <a:ea typeface="Trebuchet MS Italics"/>
                  <a:cs typeface="Trebuchet MS Italics"/>
                  <a:sym typeface="Trebuchet MS Italics"/>
                </a:rPr>
                <a:t>TO Dédji Jules Claurèce</a:t>
              </a:r>
            </a:p>
          </p:txBody>
        </p:sp>
      </p:grpSp>
      <p:grpSp>
        <p:nvGrpSpPr>
          <p:cNvPr name="Group 21" id="21"/>
          <p:cNvGrpSpPr/>
          <p:nvPr/>
        </p:nvGrpSpPr>
        <p:grpSpPr>
          <a:xfrm rot="0">
            <a:off x="11195371" y="3741877"/>
            <a:ext cx="3165758" cy="4312358"/>
            <a:chOff x="0" y="0"/>
            <a:chExt cx="4221010" cy="5749811"/>
          </a:xfrm>
        </p:grpSpPr>
        <p:sp>
          <p:nvSpPr>
            <p:cNvPr name="Freeform 22" id="22"/>
            <p:cNvSpPr/>
            <p:nvPr/>
          </p:nvSpPr>
          <p:spPr>
            <a:xfrm flipH="false" flipV="false" rot="0">
              <a:off x="0" y="0"/>
              <a:ext cx="4220972" cy="5749798"/>
            </a:xfrm>
            <a:custGeom>
              <a:avLst/>
              <a:gdLst/>
              <a:ahLst/>
              <a:cxnLst/>
              <a:rect r="r" b="b" t="t" l="l"/>
              <a:pathLst>
                <a:path h="5749798" w="4220972">
                  <a:moveTo>
                    <a:pt x="0" y="2110486"/>
                  </a:moveTo>
                  <a:cubicBezTo>
                    <a:pt x="0" y="944880"/>
                    <a:pt x="944880" y="0"/>
                    <a:pt x="2110486" y="0"/>
                  </a:cubicBezTo>
                  <a:cubicBezTo>
                    <a:pt x="3276092" y="0"/>
                    <a:pt x="4220972" y="944880"/>
                    <a:pt x="4220972" y="2110486"/>
                  </a:cubicBezTo>
                  <a:lnTo>
                    <a:pt x="4220972" y="3639312"/>
                  </a:lnTo>
                  <a:cubicBezTo>
                    <a:pt x="4220972" y="4804918"/>
                    <a:pt x="3276092" y="5749798"/>
                    <a:pt x="2110486" y="5749798"/>
                  </a:cubicBezTo>
                  <a:cubicBezTo>
                    <a:pt x="944880" y="5749798"/>
                    <a:pt x="0" y="4804918"/>
                    <a:pt x="0" y="3639312"/>
                  </a:cubicBezTo>
                  <a:close/>
                </a:path>
              </a:pathLst>
            </a:custGeom>
            <a:solidFill>
              <a:srgbClr val="E6E7E8"/>
            </a:solidFill>
          </p:spPr>
        </p:sp>
      </p:grpSp>
      <p:grpSp>
        <p:nvGrpSpPr>
          <p:cNvPr name="Group 23" id="23"/>
          <p:cNvGrpSpPr/>
          <p:nvPr/>
        </p:nvGrpSpPr>
        <p:grpSpPr>
          <a:xfrm rot="0">
            <a:off x="11414227" y="6849694"/>
            <a:ext cx="2728055" cy="700664"/>
            <a:chOff x="0" y="0"/>
            <a:chExt cx="3637407" cy="934219"/>
          </a:xfrm>
        </p:grpSpPr>
        <p:sp>
          <p:nvSpPr>
            <p:cNvPr name="Freeform 24" id="24"/>
            <p:cNvSpPr/>
            <p:nvPr/>
          </p:nvSpPr>
          <p:spPr>
            <a:xfrm flipH="false" flipV="false" rot="0">
              <a:off x="0" y="0"/>
              <a:ext cx="3637404" cy="934221"/>
            </a:xfrm>
            <a:custGeom>
              <a:avLst/>
              <a:gdLst/>
              <a:ahLst/>
              <a:cxnLst/>
              <a:rect r="r" b="b" t="t" l="l"/>
              <a:pathLst>
                <a:path h="934221" w="3637404">
                  <a:moveTo>
                    <a:pt x="0" y="0"/>
                  </a:moveTo>
                  <a:lnTo>
                    <a:pt x="3637404" y="0"/>
                  </a:lnTo>
                  <a:lnTo>
                    <a:pt x="3637404" y="934221"/>
                  </a:lnTo>
                  <a:lnTo>
                    <a:pt x="0" y="934221"/>
                  </a:lnTo>
                  <a:close/>
                </a:path>
              </a:pathLst>
            </a:custGeom>
            <a:blipFill>
              <a:blip r:embed="rId4">
                <a:alphaModFix amt="0"/>
              </a:blip>
              <a:stretch>
                <a:fillRect l="0" t="-52804" r="0" b="1073"/>
              </a:stretch>
            </a:blipFill>
          </p:spPr>
        </p:sp>
        <p:sp>
          <p:nvSpPr>
            <p:cNvPr name="TextBox 25" id="25"/>
            <p:cNvSpPr txBox="true"/>
            <p:nvPr/>
          </p:nvSpPr>
          <p:spPr>
            <a:xfrm>
              <a:off x="0" y="-19050"/>
              <a:ext cx="3637407" cy="953269"/>
            </a:xfrm>
            <a:prstGeom prst="rect">
              <a:avLst/>
            </a:prstGeom>
          </p:spPr>
          <p:txBody>
            <a:bodyPr anchor="ctr" rtlCol="false" tIns="0" lIns="0" bIns="0" rIns="0"/>
            <a:lstStyle/>
            <a:p>
              <a:pPr algn="ctr">
                <a:lnSpc>
                  <a:spcPts val="2520"/>
                </a:lnSpc>
              </a:pPr>
              <a:r>
                <a:rPr lang="en-US" sz="2100" i="true">
                  <a:solidFill>
                    <a:srgbClr val="5A5A5A"/>
                  </a:solidFill>
                  <a:latin typeface="Trebuchet MS Italics"/>
                  <a:ea typeface="Trebuchet MS Italics"/>
                  <a:cs typeface="Trebuchet MS Italics"/>
                  <a:sym typeface="Trebuchet MS Italics"/>
                </a:rPr>
                <a:t>HOUEYE</a:t>
              </a:r>
              <a:r>
                <a:rPr lang="en-US" sz="2100" i="true">
                  <a:solidFill>
                    <a:srgbClr val="5A5A5A"/>
                  </a:solidFill>
                  <a:latin typeface="Trebuchet MS Italics"/>
                  <a:ea typeface="Trebuchet MS Italics"/>
                  <a:cs typeface="Trebuchet MS Italics"/>
                  <a:sym typeface="Trebuchet MS Italics"/>
                </a:rPr>
                <a:t>TONGNON Christelle Divinia</a:t>
              </a:r>
            </a:p>
          </p:txBody>
        </p:sp>
      </p:grpSp>
      <p:grpSp>
        <p:nvGrpSpPr>
          <p:cNvPr name="Group 26" id="26"/>
          <p:cNvGrpSpPr/>
          <p:nvPr/>
        </p:nvGrpSpPr>
        <p:grpSpPr>
          <a:xfrm rot="0">
            <a:off x="14677387" y="3741877"/>
            <a:ext cx="3165758" cy="4312358"/>
            <a:chOff x="0" y="0"/>
            <a:chExt cx="4221010" cy="5749811"/>
          </a:xfrm>
        </p:grpSpPr>
        <p:sp>
          <p:nvSpPr>
            <p:cNvPr name="Freeform 27" id="27"/>
            <p:cNvSpPr/>
            <p:nvPr/>
          </p:nvSpPr>
          <p:spPr>
            <a:xfrm flipH="false" flipV="false" rot="0">
              <a:off x="0" y="0"/>
              <a:ext cx="4220972" cy="5749798"/>
            </a:xfrm>
            <a:custGeom>
              <a:avLst/>
              <a:gdLst/>
              <a:ahLst/>
              <a:cxnLst/>
              <a:rect r="r" b="b" t="t" l="l"/>
              <a:pathLst>
                <a:path h="5749798" w="4220972">
                  <a:moveTo>
                    <a:pt x="0" y="2110486"/>
                  </a:moveTo>
                  <a:cubicBezTo>
                    <a:pt x="0" y="944880"/>
                    <a:pt x="944880" y="0"/>
                    <a:pt x="2110486" y="0"/>
                  </a:cubicBezTo>
                  <a:cubicBezTo>
                    <a:pt x="3276092" y="0"/>
                    <a:pt x="4220972" y="944880"/>
                    <a:pt x="4220972" y="2110486"/>
                  </a:cubicBezTo>
                  <a:lnTo>
                    <a:pt x="4220972" y="3639312"/>
                  </a:lnTo>
                  <a:cubicBezTo>
                    <a:pt x="4220972" y="4804918"/>
                    <a:pt x="3276092" y="5749798"/>
                    <a:pt x="2110486" y="5749798"/>
                  </a:cubicBezTo>
                  <a:cubicBezTo>
                    <a:pt x="944880" y="5749798"/>
                    <a:pt x="0" y="4804918"/>
                    <a:pt x="0" y="3639312"/>
                  </a:cubicBezTo>
                  <a:close/>
                </a:path>
              </a:pathLst>
            </a:custGeom>
            <a:solidFill>
              <a:srgbClr val="E6E7E8"/>
            </a:solidFill>
          </p:spPr>
        </p:sp>
      </p:grpSp>
      <p:grpSp>
        <p:nvGrpSpPr>
          <p:cNvPr name="Group 28" id="28"/>
          <p:cNvGrpSpPr/>
          <p:nvPr/>
        </p:nvGrpSpPr>
        <p:grpSpPr>
          <a:xfrm rot="0">
            <a:off x="14896243" y="6849694"/>
            <a:ext cx="2728055" cy="700664"/>
            <a:chOff x="0" y="0"/>
            <a:chExt cx="3637407" cy="934219"/>
          </a:xfrm>
        </p:grpSpPr>
        <p:sp>
          <p:nvSpPr>
            <p:cNvPr name="Freeform 29" id="29"/>
            <p:cNvSpPr/>
            <p:nvPr/>
          </p:nvSpPr>
          <p:spPr>
            <a:xfrm flipH="false" flipV="false" rot="0">
              <a:off x="0" y="0"/>
              <a:ext cx="3637404" cy="934221"/>
            </a:xfrm>
            <a:custGeom>
              <a:avLst/>
              <a:gdLst/>
              <a:ahLst/>
              <a:cxnLst/>
              <a:rect r="r" b="b" t="t" l="l"/>
              <a:pathLst>
                <a:path h="934221" w="3637404">
                  <a:moveTo>
                    <a:pt x="0" y="0"/>
                  </a:moveTo>
                  <a:lnTo>
                    <a:pt x="3637404" y="0"/>
                  </a:lnTo>
                  <a:lnTo>
                    <a:pt x="3637404" y="934221"/>
                  </a:lnTo>
                  <a:lnTo>
                    <a:pt x="0" y="934221"/>
                  </a:lnTo>
                  <a:close/>
                </a:path>
              </a:pathLst>
            </a:custGeom>
            <a:blipFill>
              <a:blip r:embed="rId4">
                <a:alphaModFix amt="0"/>
              </a:blip>
              <a:stretch>
                <a:fillRect l="0" t="-52804" r="0" b="1073"/>
              </a:stretch>
            </a:blipFill>
          </p:spPr>
        </p:sp>
        <p:sp>
          <p:nvSpPr>
            <p:cNvPr name="TextBox 30" id="30"/>
            <p:cNvSpPr txBox="true"/>
            <p:nvPr/>
          </p:nvSpPr>
          <p:spPr>
            <a:xfrm>
              <a:off x="0" y="-19050"/>
              <a:ext cx="3637407" cy="953269"/>
            </a:xfrm>
            <a:prstGeom prst="rect">
              <a:avLst/>
            </a:prstGeom>
          </p:spPr>
          <p:txBody>
            <a:bodyPr anchor="ctr" rtlCol="false" tIns="0" lIns="0" bIns="0" rIns="0"/>
            <a:lstStyle/>
            <a:p>
              <a:pPr algn="ctr">
                <a:lnSpc>
                  <a:spcPts val="2520"/>
                </a:lnSpc>
              </a:pPr>
              <a:r>
                <a:rPr lang="en-US" sz="2100" i="true">
                  <a:solidFill>
                    <a:srgbClr val="5A5A5A"/>
                  </a:solidFill>
                  <a:latin typeface="Trebuchet MS Italics"/>
                  <a:ea typeface="Trebuchet MS Italics"/>
                  <a:cs typeface="Trebuchet MS Italics"/>
                  <a:sym typeface="Trebuchet MS Italics"/>
                </a:rPr>
                <a:t>KPEGBE M</a:t>
              </a:r>
              <a:r>
                <a:rPr lang="en-US" sz="2100" i="true">
                  <a:solidFill>
                    <a:srgbClr val="5A5A5A"/>
                  </a:solidFill>
                  <a:latin typeface="Trebuchet MS Italics"/>
                  <a:ea typeface="Trebuchet MS Italics"/>
                  <a:cs typeface="Trebuchet MS Italics"/>
                  <a:sym typeface="Trebuchet MS Italics"/>
                </a:rPr>
                <a:t>ahougnon Uriel</a:t>
              </a:r>
            </a:p>
          </p:txBody>
        </p:sp>
      </p:grpSp>
      <p:grpSp>
        <p:nvGrpSpPr>
          <p:cNvPr name="Group 31" id="31"/>
          <p:cNvGrpSpPr/>
          <p:nvPr/>
        </p:nvGrpSpPr>
        <p:grpSpPr>
          <a:xfrm rot="0">
            <a:off x="14142282" y="84392"/>
            <a:ext cx="4107771" cy="944308"/>
            <a:chOff x="0" y="0"/>
            <a:chExt cx="5477027" cy="1259078"/>
          </a:xfrm>
        </p:grpSpPr>
        <p:sp>
          <p:nvSpPr>
            <p:cNvPr name="Freeform 32" id="32"/>
            <p:cNvSpPr/>
            <p:nvPr/>
          </p:nvSpPr>
          <p:spPr>
            <a:xfrm flipH="false" flipV="false" rot="0">
              <a:off x="0" y="0"/>
              <a:ext cx="5477002" cy="1259033"/>
            </a:xfrm>
            <a:custGeom>
              <a:avLst/>
              <a:gdLst/>
              <a:ahLst/>
              <a:cxnLst/>
              <a:rect r="r" b="b" t="t" l="l"/>
              <a:pathLst>
                <a:path h="1259033" w="5477002">
                  <a:moveTo>
                    <a:pt x="0" y="0"/>
                  </a:moveTo>
                  <a:lnTo>
                    <a:pt x="5477002" y="0"/>
                  </a:lnTo>
                  <a:lnTo>
                    <a:pt x="5477002" y="1259033"/>
                  </a:lnTo>
                  <a:lnTo>
                    <a:pt x="0" y="1259033"/>
                  </a:lnTo>
                  <a:close/>
                </a:path>
              </a:pathLst>
            </a:custGeom>
            <a:solidFill>
              <a:srgbClr val="F79333"/>
            </a:solidFill>
          </p:spPr>
        </p:sp>
        <p:sp>
          <p:nvSpPr>
            <p:cNvPr name="TextBox 33" id="33"/>
            <p:cNvSpPr txBox="true"/>
            <p:nvPr/>
          </p:nvSpPr>
          <p:spPr>
            <a:xfrm>
              <a:off x="0" y="-9525"/>
              <a:ext cx="5477027" cy="1268603"/>
            </a:xfrm>
            <a:prstGeom prst="rect">
              <a:avLst/>
            </a:prstGeom>
          </p:spPr>
          <p:txBody>
            <a:bodyPr anchor="ctr" rtlCol="false" tIns="50800" lIns="50800" bIns="50800" rIns="50800"/>
            <a:lstStyle/>
            <a:p>
              <a:pPr algn="ctr">
                <a:lnSpc>
                  <a:spcPts val="3240"/>
                </a:lnSpc>
              </a:pPr>
              <a:r>
                <a:rPr lang="en-US" sz="2700">
                  <a:solidFill>
                    <a:srgbClr val="FFFFFF"/>
                  </a:solidFill>
                  <a:latin typeface="Trebuchet MS"/>
                  <a:ea typeface="Trebuchet MS"/>
                  <a:cs typeface="Trebuchet MS"/>
                  <a:sym typeface="Trebuchet MS"/>
                </a:rPr>
                <a:t> Afr</a:t>
              </a:r>
              <a:r>
                <a:rPr lang="en-US" sz="2700">
                  <a:solidFill>
                    <a:srgbClr val="FFFFFF"/>
                  </a:solidFill>
                  <a:latin typeface="Trebuchet MS"/>
                  <a:ea typeface="Trebuchet MS"/>
                  <a:cs typeface="Trebuchet MS"/>
                  <a:sym typeface="Trebuchet MS"/>
                </a:rPr>
                <a:t>ique de l'Ouest</a:t>
              </a:r>
            </a:p>
          </p:txBody>
        </p:sp>
      </p:grpSp>
      <p:grpSp>
        <p:nvGrpSpPr>
          <p:cNvPr name="Group 34" id="34"/>
          <p:cNvGrpSpPr/>
          <p:nvPr/>
        </p:nvGrpSpPr>
        <p:grpSpPr>
          <a:xfrm rot="0">
            <a:off x="4551474" y="4064003"/>
            <a:ext cx="2533231" cy="2538041"/>
            <a:chOff x="0" y="0"/>
            <a:chExt cx="3377641" cy="3384055"/>
          </a:xfrm>
        </p:grpSpPr>
        <p:sp>
          <p:nvSpPr>
            <p:cNvPr name="Freeform 35" id="35"/>
            <p:cNvSpPr/>
            <p:nvPr/>
          </p:nvSpPr>
          <p:spPr>
            <a:xfrm flipH="false" flipV="false" rot="1625999">
              <a:off x="-585384" y="-583582"/>
              <a:ext cx="4548459" cy="4551230"/>
            </a:xfrm>
            <a:custGeom>
              <a:avLst/>
              <a:gdLst/>
              <a:ahLst/>
              <a:cxnLst/>
              <a:rect r="r" b="b" t="t" l="l"/>
              <a:pathLst>
                <a:path h="4551230" w="4548459">
                  <a:moveTo>
                    <a:pt x="0" y="1538691"/>
                  </a:moveTo>
                  <a:lnTo>
                    <a:pt x="3006865" y="0"/>
                  </a:lnTo>
                  <a:lnTo>
                    <a:pt x="4548459" y="3012540"/>
                  </a:lnTo>
                  <a:lnTo>
                    <a:pt x="1541595" y="4551231"/>
                  </a:lnTo>
                  <a:lnTo>
                    <a:pt x="0" y="1538691"/>
                  </a:lnTo>
                  <a:close/>
                </a:path>
              </a:pathLst>
            </a:custGeom>
            <a:blipFill>
              <a:blip r:embed="rId5"/>
              <a:stretch>
                <a:fillRect l="-963" t="-40547" r="-963" b="-40547"/>
              </a:stretch>
            </a:blipFill>
          </p:spPr>
        </p:sp>
      </p:grpSp>
      <p:grpSp>
        <p:nvGrpSpPr>
          <p:cNvPr name="Group 36" id="36"/>
          <p:cNvGrpSpPr/>
          <p:nvPr/>
        </p:nvGrpSpPr>
        <p:grpSpPr>
          <a:xfrm rot="0">
            <a:off x="8029613" y="4064003"/>
            <a:ext cx="2533231" cy="2582313"/>
            <a:chOff x="0" y="0"/>
            <a:chExt cx="3377641" cy="3443084"/>
          </a:xfrm>
        </p:grpSpPr>
        <p:sp>
          <p:nvSpPr>
            <p:cNvPr name="Freeform 37" id="37"/>
            <p:cNvSpPr/>
            <p:nvPr/>
          </p:nvSpPr>
          <p:spPr>
            <a:xfrm flipH="false" flipV="false" rot="0">
              <a:off x="0" y="0"/>
              <a:ext cx="3377692" cy="3443097"/>
            </a:xfrm>
            <a:custGeom>
              <a:avLst/>
              <a:gdLst/>
              <a:ahLst/>
              <a:cxnLst/>
              <a:rect r="r" b="b" t="t" l="l"/>
              <a:pathLst>
                <a:path h="3443097" w="3377692">
                  <a:moveTo>
                    <a:pt x="0" y="0"/>
                  </a:moveTo>
                  <a:lnTo>
                    <a:pt x="3377692" y="0"/>
                  </a:lnTo>
                  <a:lnTo>
                    <a:pt x="3377692" y="3443097"/>
                  </a:lnTo>
                  <a:lnTo>
                    <a:pt x="0" y="3443097"/>
                  </a:lnTo>
                  <a:lnTo>
                    <a:pt x="0" y="0"/>
                  </a:lnTo>
                  <a:close/>
                </a:path>
              </a:pathLst>
            </a:custGeom>
            <a:blipFill>
              <a:blip r:embed="rId6"/>
              <a:stretch>
                <a:fillRect l="-26591" t="0" r="-26591" b="0"/>
              </a:stretch>
            </a:blipFill>
          </p:spPr>
        </p:sp>
      </p:grpSp>
      <p:grpSp>
        <p:nvGrpSpPr>
          <p:cNvPr name="Group 38" id="38"/>
          <p:cNvGrpSpPr/>
          <p:nvPr/>
        </p:nvGrpSpPr>
        <p:grpSpPr>
          <a:xfrm rot="0">
            <a:off x="11511639" y="4064003"/>
            <a:ext cx="2533231" cy="2582313"/>
            <a:chOff x="0" y="0"/>
            <a:chExt cx="3377641" cy="3443084"/>
          </a:xfrm>
        </p:grpSpPr>
        <p:sp>
          <p:nvSpPr>
            <p:cNvPr name="Freeform 39" id="39"/>
            <p:cNvSpPr/>
            <p:nvPr/>
          </p:nvSpPr>
          <p:spPr>
            <a:xfrm flipH="false" flipV="false" rot="0">
              <a:off x="0" y="0"/>
              <a:ext cx="3377692" cy="3443097"/>
            </a:xfrm>
            <a:custGeom>
              <a:avLst/>
              <a:gdLst/>
              <a:ahLst/>
              <a:cxnLst/>
              <a:rect r="r" b="b" t="t" l="l"/>
              <a:pathLst>
                <a:path h="3443097" w="3377692">
                  <a:moveTo>
                    <a:pt x="0" y="0"/>
                  </a:moveTo>
                  <a:lnTo>
                    <a:pt x="3377692" y="0"/>
                  </a:lnTo>
                  <a:lnTo>
                    <a:pt x="3377692" y="3443097"/>
                  </a:lnTo>
                  <a:lnTo>
                    <a:pt x="0" y="3443097"/>
                  </a:lnTo>
                  <a:lnTo>
                    <a:pt x="0" y="0"/>
                  </a:lnTo>
                  <a:close/>
                </a:path>
              </a:pathLst>
            </a:custGeom>
            <a:blipFill>
              <a:blip r:embed="rId7"/>
              <a:stretch>
                <a:fillRect l="0" t="-59665" r="0" b="-59665"/>
              </a:stretch>
            </a:blipFill>
          </p:spPr>
        </p:sp>
      </p:grpSp>
      <p:grpSp>
        <p:nvGrpSpPr>
          <p:cNvPr name="Group 40" id="40"/>
          <p:cNvGrpSpPr/>
          <p:nvPr/>
        </p:nvGrpSpPr>
        <p:grpSpPr>
          <a:xfrm rot="0">
            <a:off x="14993655" y="4064003"/>
            <a:ext cx="2533231" cy="2582313"/>
            <a:chOff x="0" y="0"/>
            <a:chExt cx="3377641" cy="3443084"/>
          </a:xfrm>
        </p:grpSpPr>
        <p:sp>
          <p:nvSpPr>
            <p:cNvPr name="Freeform 41" id="41"/>
            <p:cNvSpPr/>
            <p:nvPr/>
          </p:nvSpPr>
          <p:spPr>
            <a:xfrm flipH="false" flipV="false" rot="0">
              <a:off x="0" y="0"/>
              <a:ext cx="3377692" cy="3443097"/>
            </a:xfrm>
            <a:custGeom>
              <a:avLst/>
              <a:gdLst/>
              <a:ahLst/>
              <a:cxnLst/>
              <a:rect r="r" b="b" t="t" l="l"/>
              <a:pathLst>
                <a:path h="3443097" w="3377692">
                  <a:moveTo>
                    <a:pt x="0" y="0"/>
                  </a:moveTo>
                  <a:lnTo>
                    <a:pt x="3377692" y="0"/>
                  </a:lnTo>
                  <a:lnTo>
                    <a:pt x="3377692" y="3443097"/>
                  </a:lnTo>
                  <a:lnTo>
                    <a:pt x="0" y="3443097"/>
                  </a:lnTo>
                  <a:lnTo>
                    <a:pt x="0" y="0"/>
                  </a:lnTo>
                  <a:close/>
                </a:path>
              </a:pathLst>
            </a:custGeom>
            <a:blipFill>
              <a:blip r:embed="rId8"/>
              <a:stretch>
                <a:fillRect l="0" t="-15400" r="0" b="-15400"/>
              </a:stretch>
            </a:blipFill>
          </p:spPr>
        </p:sp>
      </p:grpSp>
      <p:sp>
        <p:nvSpPr>
          <p:cNvPr name="TextBox 42" id="42"/>
          <p:cNvSpPr txBox="true"/>
          <p:nvPr/>
        </p:nvSpPr>
        <p:spPr>
          <a:xfrm rot="0">
            <a:off x="681361" y="9781699"/>
            <a:ext cx="960149" cy="273901"/>
          </a:xfrm>
          <a:prstGeom prst="rect">
            <a:avLst/>
          </a:prstGeom>
        </p:spPr>
        <p:txBody>
          <a:bodyPr anchor="t" rtlCol="false" tIns="0" lIns="0" bIns="0" rIns="0">
            <a:spAutoFit/>
          </a:bodyPr>
          <a:lstStyle/>
          <a:p>
            <a:pPr algn="l">
              <a:lnSpc>
                <a:spcPts val="1620"/>
              </a:lnSpc>
            </a:pPr>
            <a:r>
              <a:rPr lang="en-US" sz="1350">
                <a:solidFill>
                  <a:srgbClr val="595959"/>
                </a:solidFill>
                <a:latin typeface="Trebuchet MS"/>
                <a:ea typeface="Trebuchet MS"/>
                <a:cs typeface="Trebuchet MS"/>
                <a:sym typeface="Trebuchet MS"/>
              </a:rPr>
              <a:t>‹#›</a:t>
            </a:r>
          </a:p>
        </p:txBody>
      </p:sp>
      <p:sp>
        <p:nvSpPr>
          <p:cNvPr name="TextBox 43" id="43"/>
          <p:cNvSpPr txBox="true"/>
          <p:nvPr/>
        </p:nvSpPr>
        <p:spPr>
          <a:xfrm rot="0">
            <a:off x="5261715" y="9851822"/>
            <a:ext cx="7764570" cy="203778"/>
          </a:xfrm>
          <a:prstGeom prst="rect">
            <a:avLst/>
          </a:prstGeom>
        </p:spPr>
        <p:txBody>
          <a:bodyPr anchor="t" rtlCol="false" tIns="0" lIns="0" bIns="0" rIns="0">
            <a:spAutoFit/>
          </a:bodyPr>
          <a:lstStyle/>
          <a:p>
            <a:pPr algn="ctr">
              <a:lnSpc>
                <a:spcPts val="1296"/>
              </a:lnSpc>
            </a:pPr>
            <a:r>
              <a:rPr lang="en-US" sz="1200">
                <a:solidFill>
                  <a:srgbClr val="595959"/>
                </a:solidFill>
                <a:latin typeface="Trebuchet MS"/>
                <a:ea typeface="Trebuchet MS"/>
                <a:cs typeface="Trebuchet MS"/>
                <a:sym typeface="Trebuchet MS"/>
              </a:rPr>
              <a:t> All rights reserved. This document is proprietary and confidential.</a:t>
            </a:r>
          </a:p>
        </p:txBody>
      </p:sp>
      <p:sp>
        <p:nvSpPr>
          <p:cNvPr name="TextBox 44" id="44"/>
          <p:cNvSpPr txBox="true"/>
          <p:nvPr/>
        </p:nvSpPr>
        <p:spPr>
          <a:xfrm rot="0">
            <a:off x="603371" y="373380"/>
            <a:ext cx="5780336" cy="501015"/>
          </a:xfrm>
          <a:prstGeom prst="rect">
            <a:avLst/>
          </a:prstGeom>
        </p:spPr>
        <p:txBody>
          <a:bodyPr anchor="t" rtlCol="false" tIns="0" lIns="0" bIns="0" rIns="0">
            <a:spAutoFit/>
          </a:bodyPr>
          <a:lstStyle/>
          <a:p>
            <a:pPr algn="l">
              <a:lnSpc>
                <a:spcPts val="3779"/>
              </a:lnSpc>
            </a:pPr>
            <a:r>
              <a:rPr lang="en-US" b="true" sz="3499">
                <a:solidFill>
                  <a:srgbClr val="284181"/>
                </a:solidFill>
                <a:latin typeface="Trebuchet MS Bold"/>
                <a:ea typeface="Trebuchet MS Bold"/>
                <a:cs typeface="Trebuchet MS Bold"/>
                <a:sym typeface="Trebuchet MS Bold"/>
              </a:rPr>
              <a:t>PRÉS</a:t>
            </a:r>
            <a:r>
              <a:rPr lang="en-US" b="true" sz="3499">
                <a:solidFill>
                  <a:srgbClr val="284181"/>
                </a:solidFill>
                <a:latin typeface="Trebuchet MS Bold"/>
                <a:ea typeface="Trebuchet MS Bold"/>
                <a:cs typeface="Trebuchet MS Bold"/>
                <a:sym typeface="Trebuchet MS Bold"/>
              </a:rPr>
              <a:t>ENTATION DE L'ÉQUIPE</a:t>
            </a:r>
          </a:p>
        </p:txBody>
      </p:sp>
      <p:sp>
        <p:nvSpPr>
          <p:cNvPr name="TextBox 45" id="45"/>
          <p:cNvSpPr txBox="true"/>
          <p:nvPr/>
        </p:nvSpPr>
        <p:spPr>
          <a:xfrm rot="0">
            <a:off x="2899362" y="1530306"/>
            <a:ext cx="13589137" cy="1175385"/>
          </a:xfrm>
          <a:prstGeom prst="rect">
            <a:avLst/>
          </a:prstGeom>
        </p:spPr>
        <p:txBody>
          <a:bodyPr anchor="t" rtlCol="false" tIns="0" lIns="0" bIns="0" rIns="0">
            <a:spAutoFit/>
          </a:bodyPr>
          <a:lstStyle/>
          <a:p>
            <a:pPr algn="ctr">
              <a:lnSpc>
                <a:spcPts val="4860"/>
              </a:lnSpc>
            </a:pPr>
            <a:r>
              <a:rPr lang="en-US" b="true" sz="2700">
                <a:solidFill>
                  <a:srgbClr val="595959"/>
                </a:solidFill>
                <a:latin typeface="Trebuchet MS Bold"/>
                <a:ea typeface="Trebuchet MS Bold"/>
                <a:cs typeface="Trebuchet MS Bold"/>
                <a:sym typeface="Trebuchet MS Bold"/>
              </a:rPr>
              <a:t> Bé</a:t>
            </a:r>
            <a:r>
              <a:rPr lang="en-US" b="true" sz="2700">
                <a:solidFill>
                  <a:srgbClr val="595959"/>
                </a:solidFill>
                <a:latin typeface="Trebuchet MS Bold"/>
                <a:ea typeface="Trebuchet MS Bold"/>
                <a:cs typeface="Trebuchet MS Bold"/>
                <a:sym typeface="Trebuchet MS Bold"/>
              </a:rPr>
              <a:t>nin | EVOLUTICS </a:t>
            </a:r>
          </a:p>
          <a:p>
            <a:pPr algn="ctr">
              <a:lnSpc>
                <a:spcPts val="4860"/>
              </a:lnSpc>
            </a:pPr>
            <a:r>
              <a:rPr lang="en-US" b="true" sz="2700">
                <a:solidFill>
                  <a:srgbClr val="595959"/>
                </a:solidFill>
                <a:latin typeface="Trebuchet MS Bold"/>
                <a:ea typeface="Trebuchet MS Bold"/>
                <a:cs typeface="Trebuchet MS Bold"/>
                <a:sym typeface="Trebuchet MS Bold"/>
              </a:rPr>
              <a:t> Université d'Abomey-Calavi</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nvSpPr>
        <p:spPr>
          <a:xfrm rot="4140">
            <a:off x="654872" y="9575359"/>
            <a:ext cx="11852405" cy="0"/>
          </a:xfrm>
          <a:prstGeom prst="line">
            <a:avLst/>
          </a:prstGeom>
          <a:ln cap="rnd" w="9525">
            <a:solidFill>
              <a:srgbClr val="284181"/>
            </a:solidFill>
            <a:prstDash val="solid"/>
            <a:headEnd type="none" len="sm" w="sm"/>
            <a:tailEnd type="none" len="sm" w="sm"/>
          </a:ln>
        </p:spPr>
      </p:sp>
      <p:sp>
        <p:nvSpPr>
          <p:cNvPr name="AutoShape 3" id="3"/>
          <p:cNvSpPr/>
          <p:nvPr/>
        </p:nvSpPr>
        <p:spPr>
          <a:xfrm rot="10020">
            <a:off x="12686767" y="9575359"/>
            <a:ext cx="4889106" cy="0"/>
          </a:xfrm>
          <a:prstGeom prst="line">
            <a:avLst/>
          </a:prstGeom>
          <a:ln cap="rnd" w="9525">
            <a:solidFill>
              <a:srgbClr val="00BFDF"/>
            </a:solidFill>
            <a:prstDash val="solid"/>
            <a:headEnd type="none" len="sm" w="sm"/>
            <a:tailEnd type="none" len="sm" w="sm"/>
          </a:ln>
        </p:spPr>
      </p:sp>
      <p:sp>
        <p:nvSpPr>
          <p:cNvPr name="TextBox 4" id="4"/>
          <p:cNvSpPr txBox="true"/>
          <p:nvPr/>
        </p:nvSpPr>
        <p:spPr>
          <a:xfrm rot="0">
            <a:off x="681361" y="9781699"/>
            <a:ext cx="960149" cy="273901"/>
          </a:xfrm>
          <a:prstGeom prst="rect">
            <a:avLst/>
          </a:prstGeom>
        </p:spPr>
        <p:txBody>
          <a:bodyPr anchor="t" rtlCol="false" tIns="0" lIns="0" bIns="0" rIns="0">
            <a:spAutoFit/>
          </a:bodyPr>
          <a:lstStyle/>
          <a:p>
            <a:pPr algn="l">
              <a:lnSpc>
                <a:spcPts val="1620"/>
              </a:lnSpc>
            </a:pPr>
            <a:r>
              <a:rPr lang="en-US" sz="1350">
                <a:solidFill>
                  <a:srgbClr val="595959"/>
                </a:solidFill>
                <a:latin typeface="Trebuchet MS"/>
                <a:ea typeface="Trebuchet MS"/>
                <a:cs typeface="Trebuchet MS"/>
                <a:sym typeface="Trebuchet MS"/>
              </a:rPr>
              <a:t>‹#›</a:t>
            </a:r>
          </a:p>
        </p:txBody>
      </p:sp>
      <p:sp>
        <p:nvSpPr>
          <p:cNvPr name="TextBox 5" id="5"/>
          <p:cNvSpPr txBox="true"/>
          <p:nvPr/>
        </p:nvSpPr>
        <p:spPr>
          <a:xfrm rot="0">
            <a:off x="5261715" y="9851822"/>
            <a:ext cx="7764570" cy="203778"/>
          </a:xfrm>
          <a:prstGeom prst="rect">
            <a:avLst/>
          </a:prstGeom>
        </p:spPr>
        <p:txBody>
          <a:bodyPr anchor="t" rtlCol="false" tIns="0" lIns="0" bIns="0" rIns="0">
            <a:spAutoFit/>
          </a:bodyPr>
          <a:lstStyle/>
          <a:p>
            <a:pPr algn="ctr">
              <a:lnSpc>
                <a:spcPts val="1296"/>
              </a:lnSpc>
            </a:pPr>
            <a:r>
              <a:rPr lang="en-US" sz="1200">
                <a:solidFill>
                  <a:srgbClr val="595959"/>
                </a:solidFill>
                <a:latin typeface="Trebuchet MS"/>
                <a:ea typeface="Trebuchet MS"/>
                <a:cs typeface="Trebuchet MS"/>
                <a:sym typeface="Trebuchet MS"/>
              </a:rPr>
              <a:t> All rights reserved. This document is proprietary and confidential.</a:t>
            </a:r>
          </a:p>
        </p:txBody>
      </p:sp>
      <p:sp>
        <p:nvSpPr>
          <p:cNvPr name="TextBox 6" id="6"/>
          <p:cNvSpPr txBox="true"/>
          <p:nvPr/>
        </p:nvSpPr>
        <p:spPr>
          <a:xfrm rot="0">
            <a:off x="603371" y="373380"/>
            <a:ext cx="6637734" cy="501015"/>
          </a:xfrm>
          <a:prstGeom prst="rect">
            <a:avLst/>
          </a:prstGeom>
        </p:spPr>
        <p:txBody>
          <a:bodyPr anchor="t" rtlCol="false" tIns="0" lIns="0" bIns="0" rIns="0">
            <a:spAutoFit/>
          </a:bodyPr>
          <a:lstStyle/>
          <a:p>
            <a:pPr algn="l">
              <a:lnSpc>
                <a:spcPts val="3779"/>
              </a:lnSpc>
            </a:pPr>
            <a:r>
              <a:rPr lang="en-US" b="true" sz="3499">
                <a:solidFill>
                  <a:srgbClr val="284181"/>
                </a:solidFill>
                <a:latin typeface="Trebuchet MS Bold"/>
                <a:ea typeface="Trebuchet MS Bold"/>
                <a:cs typeface="Trebuchet MS Bold"/>
                <a:sym typeface="Trebuchet MS Bold"/>
              </a:rPr>
              <a:t>PRÉ</a:t>
            </a:r>
            <a:r>
              <a:rPr lang="en-US" b="true" sz="3499">
                <a:solidFill>
                  <a:srgbClr val="284181"/>
                </a:solidFill>
                <a:latin typeface="Trebuchet MS Bold"/>
                <a:ea typeface="Trebuchet MS Bold"/>
                <a:cs typeface="Trebuchet MS Bold"/>
                <a:sym typeface="Trebuchet MS Bold"/>
              </a:rPr>
              <a:t>SENTATION DU CAS D'USAGE</a:t>
            </a:r>
          </a:p>
        </p:txBody>
      </p:sp>
      <p:grpSp>
        <p:nvGrpSpPr>
          <p:cNvPr name="Group 7" id="7"/>
          <p:cNvGrpSpPr/>
          <p:nvPr/>
        </p:nvGrpSpPr>
        <p:grpSpPr>
          <a:xfrm rot="0">
            <a:off x="603371" y="1887925"/>
            <a:ext cx="17111682" cy="1657575"/>
            <a:chOff x="0" y="0"/>
            <a:chExt cx="22815575" cy="2210100"/>
          </a:xfrm>
        </p:grpSpPr>
        <p:sp>
          <p:nvSpPr>
            <p:cNvPr name="Freeform 8" id="8"/>
            <p:cNvSpPr/>
            <p:nvPr/>
          </p:nvSpPr>
          <p:spPr>
            <a:xfrm flipH="false" flipV="false" rot="0">
              <a:off x="0" y="0"/>
              <a:ext cx="22815550" cy="2210084"/>
            </a:xfrm>
            <a:custGeom>
              <a:avLst/>
              <a:gdLst/>
              <a:ahLst/>
              <a:cxnLst/>
              <a:rect r="r" b="b" t="t" l="l"/>
              <a:pathLst>
                <a:path h="2210084" w="22815550">
                  <a:moveTo>
                    <a:pt x="0" y="0"/>
                  </a:moveTo>
                  <a:lnTo>
                    <a:pt x="22815550" y="0"/>
                  </a:lnTo>
                  <a:lnTo>
                    <a:pt x="22815550" y="2210084"/>
                  </a:lnTo>
                  <a:lnTo>
                    <a:pt x="0" y="2210084"/>
                  </a:lnTo>
                  <a:close/>
                </a:path>
              </a:pathLst>
            </a:custGeom>
            <a:solidFill>
              <a:srgbClr val="E6E7E8"/>
            </a:solidFill>
          </p:spPr>
        </p:sp>
      </p:grpSp>
      <p:grpSp>
        <p:nvGrpSpPr>
          <p:cNvPr name="Group 9" id="9"/>
          <p:cNvGrpSpPr/>
          <p:nvPr/>
        </p:nvGrpSpPr>
        <p:grpSpPr>
          <a:xfrm rot="-10800000">
            <a:off x="883577" y="1996392"/>
            <a:ext cx="1730912" cy="1634833"/>
            <a:chOff x="0" y="0"/>
            <a:chExt cx="2307882" cy="2179777"/>
          </a:xfrm>
        </p:grpSpPr>
        <p:sp>
          <p:nvSpPr>
            <p:cNvPr name="Freeform 10" id="10"/>
            <p:cNvSpPr/>
            <p:nvPr/>
          </p:nvSpPr>
          <p:spPr>
            <a:xfrm flipH="false" flipV="false" rot="0">
              <a:off x="0" y="0"/>
              <a:ext cx="2307844" cy="2179828"/>
            </a:xfrm>
            <a:custGeom>
              <a:avLst/>
              <a:gdLst/>
              <a:ahLst/>
              <a:cxnLst/>
              <a:rect r="r" b="b" t="t" l="l"/>
              <a:pathLst>
                <a:path h="2179828" w="2307844">
                  <a:moveTo>
                    <a:pt x="2307844" y="2179828"/>
                  </a:moveTo>
                  <a:lnTo>
                    <a:pt x="0" y="2179828"/>
                  </a:lnTo>
                  <a:lnTo>
                    <a:pt x="0" y="274574"/>
                  </a:lnTo>
                  <a:lnTo>
                    <a:pt x="1153922" y="0"/>
                  </a:lnTo>
                  <a:lnTo>
                    <a:pt x="2307844" y="274574"/>
                  </a:lnTo>
                  <a:close/>
                </a:path>
              </a:pathLst>
            </a:custGeom>
            <a:solidFill>
              <a:srgbClr val="284181"/>
            </a:solidFill>
          </p:spPr>
        </p:sp>
      </p:grpSp>
      <p:grpSp>
        <p:nvGrpSpPr>
          <p:cNvPr name="Group 11" id="11"/>
          <p:cNvGrpSpPr/>
          <p:nvPr/>
        </p:nvGrpSpPr>
        <p:grpSpPr>
          <a:xfrm rot="0">
            <a:off x="1052455" y="2201275"/>
            <a:ext cx="1393174" cy="1226125"/>
            <a:chOff x="0" y="0"/>
            <a:chExt cx="1857565" cy="1634833"/>
          </a:xfrm>
        </p:grpSpPr>
        <p:sp>
          <p:nvSpPr>
            <p:cNvPr name="Freeform 12" id="12"/>
            <p:cNvSpPr/>
            <p:nvPr/>
          </p:nvSpPr>
          <p:spPr>
            <a:xfrm flipH="false" flipV="false" rot="0">
              <a:off x="0" y="0"/>
              <a:ext cx="1857502" cy="1634744"/>
            </a:xfrm>
            <a:custGeom>
              <a:avLst/>
              <a:gdLst/>
              <a:ahLst/>
              <a:cxnLst/>
              <a:rect r="r" b="b" t="t" l="l"/>
              <a:pathLst>
                <a:path h="1634744" w="1857502">
                  <a:moveTo>
                    <a:pt x="0" y="817372"/>
                  </a:moveTo>
                  <a:cubicBezTo>
                    <a:pt x="0" y="366014"/>
                    <a:pt x="415798" y="0"/>
                    <a:pt x="928751" y="0"/>
                  </a:cubicBezTo>
                  <a:cubicBezTo>
                    <a:pt x="1441704" y="0"/>
                    <a:pt x="1857502" y="366014"/>
                    <a:pt x="1857502" y="817372"/>
                  </a:cubicBezTo>
                  <a:cubicBezTo>
                    <a:pt x="1857502" y="1268730"/>
                    <a:pt x="1441704" y="1634744"/>
                    <a:pt x="928751" y="1634744"/>
                  </a:cubicBezTo>
                  <a:cubicBezTo>
                    <a:pt x="415798" y="1634744"/>
                    <a:pt x="0" y="1268857"/>
                    <a:pt x="0" y="817372"/>
                  </a:cubicBezTo>
                  <a:close/>
                </a:path>
              </a:pathLst>
            </a:custGeom>
            <a:solidFill>
              <a:srgbClr val="FFFFFF"/>
            </a:solidFill>
          </p:spPr>
        </p:sp>
        <p:sp>
          <p:nvSpPr>
            <p:cNvPr name="TextBox 13" id="13"/>
            <p:cNvSpPr txBox="true"/>
            <p:nvPr/>
          </p:nvSpPr>
          <p:spPr>
            <a:xfrm>
              <a:off x="0" y="-9525"/>
              <a:ext cx="1857565" cy="1644358"/>
            </a:xfrm>
            <a:prstGeom prst="rect">
              <a:avLst/>
            </a:prstGeom>
          </p:spPr>
          <p:txBody>
            <a:bodyPr anchor="ctr" rtlCol="false" tIns="50800" lIns="50800" bIns="50800" rIns="50800"/>
            <a:lstStyle/>
            <a:p>
              <a:pPr algn="ctr">
                <a:lnSpc>
                  <a:spcPts val="5040"/>
                </a:lnSpc>
              </a:pPr>
              <a:r>
                <a:rPr lang="en-US" b="true" sz="4200">
                  <a:solidFill>
                    <a:srgbClr val="284181"/>
                  </a:solidFill>
                  <a:latin typeface="Trebuchet MS Bold"/>
                  <a:ea typeface="Trebuchet MS Bold"/>
                  <a:cs typeface="Trebuchet MS Bold"/>
                  <a:sym typeface="Trebuchet MS Bold"/>
                </a:rPr>
                <a:t>01</a:t>
              </a:r>
            </a:p>
          </p:txBody>
        </p:sp>
      </p:grpSp>
      <p:sp>
        <p:nvSpPr>
          <p:cNvPr name="TextBox 14" id="14"/>
          <p:cNvSpPr txBox="true"/>
          <p:nvPr/>
        </p:nvSpPr>
        <p:spPr>
          <a:xfrm rot="0">
            <a:off x="2752401" y="2220325"/>
            <a:ext cx="15413203" cy="1107948"/>
          </a:xfrm>
          <a:prstGeom prst="rect">
            <a:avLst/>
          </a:prstGeom>
        </p:spPr>
        <p:txBody>
          <a:bodyPr anchor="t" rtlCol="false" tIns="0" lIns="0" bIns="0" rIns="0">
            <a:spAutoFit/>
          </a:bodyPr>
          <a:lstStyle/>
          <a:p>
            <a:pPr algn="l">
              <a:lnSpc>
                <a:spcPts val="2916"/>
              </a:lnSpc>
            </a:pPr>
            <a:r>
              <a:rPr lang="en-US" b="true" sz="2700" i="true">
                <a:solidFill>
                  <a:srgbClr val="284181"/>
                </a:solidFill>
                <a:latin typeface="Trebuchet MS Bold Italics"/>
                <a:ea typeface="Trebuchet MS Bold Italics"/>
                <a:cs typeface="Trebuchet MS Bold Italics"/>
                <a:sym typeface="Trebuchet MS Bold Italics"/>
              </a:rPr>
              <a:t>P</a:t>
            </a:r>
            <a:r>
              <a:rPr lang="en-US" b="true" sz="2700" i="true">
                <a:solidFill>
                  <a:srgbClr val="284181"/>
                </a:solidFill>
                <a:latin typeface="Trebuchet MS Bold Italics"/>
                <a:ea typeface="Trebuchet MS Bold Italics"/>
                <a:cs typeface="Trebuchet MS Bold Italics"/>
                <a:sym typeface="Trebuchet MS Bold Italics"/>
              </a:rPr>
              <a:t>roblème :  Les producteurs de coton vendent dans l'informel sans reçus ni preuves. Les collectionneurs retardent ou évitent les paiements. Les banques refusent les prêts faute</a:t>
            </a:r>
          </a:p>
          <a:p>
            <a:pPr algn="l">
              <a:lnSpc>
                <a:spcPts val="2916"/>
              </a:lnSpc>
            </a:pPr>
            <a:r>
              <a:rPr lang="en-US" b="true" sz="2700" i="true">
                <a:solidFill>
                  <a:srgbClr val="284181"/>
                </a:solidFill>
                <a:latin typeface="Trebuchet MS Bold Italics"/>
                <a:ea typeface="Trebuchet MS Bold Italics"/>
                <a:cs typeface="Trebuchet MS Bold Italics"/>
                <a:sym typeface="Trebuchet MS Bold Italics"/>
              </a:rPr>
              <a:t>  de justificatifs de revenus.</a:t>
            </a:r>
          </a:p>
        </p:txBody>
      </p:sp>
      <p:grpSp>
        <p:nvGrpSpPr>
          <p:cNvPr name="Group 15" id="15"/>
          <p:cNvGrpSpPr/>
          <p:nvPr/>
        </p:nvGrpSpPr>
        <p:grpSpPr>
          <a:xfrm rot="0">
            <a:off x="511950" y="4608757"/>
            <a:ext cx="17111682" cy="1266549"/>
            <a:chOff x="0" y="0"/>
            <a:chExt cx="22815575" cy="1688732"/>
          </a:xfrm>
        </p:grpSpPr>
        <p:sp>
          <p:nvSpPr>
            <p:cNvPr name="Freeform 16" id="16"/>
            <p:cNvSpPr/>
            <p:nvPr/>
          </p:nvSpPr>
          <p:spPr>
            <a:xfrm flipH="false" flipV="false" rot="0">
              <a:off x="0" y="0"/>
              <a:ext cx="22815550" cy="1688719"/>
            </a:xfrm>
            <a:custGeom>
              <a:avLst/>
              <a:gdLst/>
              <a:ahLst/>
              <a:cxnLst/>
              <a:rect r="r" b="b" t="t" l="l"/>
              <a:pathLst>
                <a:path h="1688719" w="22815550">
                  <a:moveTo>
                    <a:pt x="0" y="0"/>
                  </a:moveTo>
                  <a:lnTo>
                    <a:pt x="22815550" y="0"/>
                  </a:lnTo>
                  <a:lnTo>
                    <a:pt x="22815550" y="1688719"/>
                  </a:lnTo>
                  <a:lnTo>
                    <a:pt x="0" y="1688719"/>
                  </a:lnTo>
                  <a:close/>
                </a:path>
              </a:pathLst>
            </a:custGeom>
            <a:solidFill>
              <a:srgbClr val="E6E7E8"/>
            </a:solidFill>
          </p:spPr>
        </p:sp>
      </p:grpSp>
      <p:grpSp>
        <p:nvGrpSpPr>
          <p:cNvPr name="Group 17" id="17"/>
          <p:cNvGrpSpPr/>
          <p:nvPr/>
        </p:nvGrpSpPr>
        <p:grpSpPr>
          <a:xfrm rot="-10800000">
            <a:off x="883577" y="4469425"/>
            <a:ext cx="1730912" cy="1634833"/>
            <a:chOff x="0" y="0"/>
            <a:chExt cx="2307882" cy="2179777"/>
          </a:xfrm>
        </p:grpSpPr>
        <p:sp>
          <p:nvSpPr>
            <p:cNvPr name="Freeform 18" id="18"/>
            <p:cNvSpPr/>
            <p:nvPr/>
          </p:nvSpPr>
          <p:spPr>
            <a:xfrm flipH="false" flipV="false" rot="0">
              <a:off x="0" y="0"/>
              <a:ext cx="2307844" cy="2179828"/>
            </a:xfrm>
            <a:custGeom>
              <a:avLst/>
              <a:gdLst/>
              <a:ahLst/>
              <a:cxnLst/>
              <a:rect r="r" b="b" t="t" l="l"/>
              <a:pathLst>
                <a:path h="2179828" w="2307844">
                  <a:moveTo>
                    <a:pt x="2307844" y="2179828"/>
                  </a:moveTo>
                  <a:lnTo>
                    <a:pt x="0" y="2179828"/>
                  </a:lnTo>
                  <a:lnTo>
                    <a:pt x="0" y="274574"/>
                  </a:lnTo>
                  <a:lnTo>
                    <a:pt x="1153922" y="0"/>
                  </a:lnTo>
                  <a:lnTo>
                    <a:pt x="2307844" y="274574"/>
                  </a:lnTo>
                  <a:close/>
                </a:path>
              </a:pathLst>
            </a:custGeom>
            <a:solidFill>
              <a:srgbClr val="00BFDF"/>
            </a:solidFill>
          </p:spPr>
        </p:sp>
      </p:grpSp>
      <p:grpSp>
        <p:nvGrpSpPr>
          <p:cNvPr name="Group 19" id="19"/>
          <p:cNvGrpSpPr/>
          <p:nvPr/>
        </p:nvGrpSpPr>
        <p:grpSpPr>
          <a:xfrm rot="0">
            <a:off x="1052455" y="4673775"/>
            <a:ext cx="1393174" cy="1226125"/>
            <a:chOff x="0" y="0"/>
            <a:chExt cx="1857565" cy="1634833"/>
          </a:xfrm>
        </p:grpSpPr>
        <p:sp>
          <p:nvSpPr>
            <p:cNvPr name="Freeform 20" id="20"/>
            <p:cNvSpPr/>
            <p:nvPr/>
          </p:nvSpPr>
          <p:spPr>
            <a:xfrm flipH="false" flipV="false" rot="0">
              <a:off x="0" y="0"/>
              <a:ext cx="1857502" cy="1634744"/>
            </a:xfrm>
            <a:custGeom>
              <a:avLst/>
              <a:gdLst/>
              <a:ahLst/>
              <a:cxnLst/>
              <a:rect r="r" b="b" t="t" l="l"/>
              <a:pathLst>
                <a:path h="1634744" w="1857502">
                  <a:moveTo>
                    <a:pt x="0" y="817372"/>
                  </a:moveTo>
                  <a:cubicBezTo>
                    <a:pt x="0" y="366014"/>
                    <a:pt x="415798" y="0"/>
                    <a:pt x="928751" y="0"/>
                  </a:cubicBezTo>
                  <a:cubicBezTo>
                    <a:pt x="1441704" y="0"/>
                    <a:pt x="1857502" y="366014"/>
                    <a:pt x="1857502" y="817372"/>
                  </a:cubicBezTo>
                  <a:cubicBezTo>
                    <a:pt x="1857502" y="1268730"/>
                    <a:pt x="1441704" y="1634744"/>
                    <a:pt x="928751" y="1634744"/>
                  </a:cubicBezTo>
                  <a:cubicBezTo>
                    <a:pt x="415798" y="1634744"/>
                    <a:pt x="0" y="1268857"/>
                    <a:pt x="0" y="817372"/>
                  </a:cubicBezTo>
                  <a:close/>
                </a:path>
              </a:pathLst>
            </a:custGeom>
            <a:solidFill>
              <a:srgbClr val="FFFFFF"/>
            </a:solidFill>
          </p:spPr>
        </p:sp>
        <p:sp>
          <p:nvSpPr>
            <p:cNvPr name="TextBox 21" id="21"/>
            <p:cNvSpPr txBox="true"/>
            <p:nvPr/>
          </p:nvSpPr>
          <p:spPr>
            <a:xfrm>
              <a:off x="0" y="-9525"/>
              <a:ext cx="1857565" cy="1644358"/>
            </a:xfrm>
            <a:prstGeom prst="rect">
              <a:avLst/>
            </a:prstGeom>
          </p:spPr>
          <p:txBody>
            <a:bodyPr anchor="ctr" rtlCol="false" tIns="50800" lIns="50800" bIns="50800" rIns="50800"/>
            <a:lstStyle/>
            <a:p>
              <a:pPr algn="ctr">
                <a:lnSpc>
                  <a:spcPts val="5040"/>
                </a:lnSpc>
              </a:pPr>
              <a:r>
                <a:rPr lang="en-US" b="true" sz="4200">
                  <a:solidFill>
                    <a:srgbClr val="00BFDF"/>
                  </a:solidFill>
                  <a:latin typeface="Trebuchet MS Bold"/>
                  <a:ea typeface="Trebuchet MS Bold"/>
                  <a:cs typeface="Trebuchet MS Bold"/>
                  <a:sym typeface="Trebuchet MS Bold"/>
                </a:rPr>
                <a:t>02</a:t>
              </a:r>
            </a:p>
          </p:txBody>
        </p:sp>
      </p:grpSp>
      <p:sp>
        <p:nvSpPr>
          <p:cNvPr name="TextBox 22" id="22"/>
          <p:cNvSpPr txBox="true"/>
          <p:nvPr/>
        </p:nvSpPr>
        <p:spPr>
          <a:xfrm rot="0">
            <a:off x="2752401" y="4692825"/>
            <a:ext cx="15413203" cy="1107948"/>
          </a:xfrm>
          <a:prstGeom prst="rect">
            <a:avLst/>
          </a:prstGeom>
        </p:spPr>
        <p:txBody>
          <a:bodyPr anchor="t" rtlCol="false" tIns="0" lIns="0" bIns="0" rIns="0">
            <a:spAutoFit/>
          </a:bodyPr>
          <a:lstStyle/>
          <a:p>
            <a:pPr algn="l">
              <a:lnSpc>
                <a:spcPts val="2916"/>
              </a:lnSpc>
            </a:pPr>
            <a:r>
              <a:rPr lang="en-US" sz="2700" i="true" b="true">
                <a:solidFill>
                  <a:srgbClr val="00BFDF"/>
                </a:solidFill>
                <a:latin typeface="Trebuchet MS Bold Italics"/>
                <a:ea typeface="Trebuchet MS Bold Italics"/>
                <a:cs typeface="Trebuchet MS Bold Italics"/>
                <a:sym typeface="Trebuchet MS Bold Italics"/>
              </a:rPr>
              <a:t>Solution : L'agriculteur est authentifié via son identité nationale (NPI). Le paiement est automatique et immédiat. Un credential infalsifiable est généré comme preuve de revenu</a:t>
            </a:r>
          </a:p>
          <a:p>
            <a:pPr algn="l">
              <a:lnSpc>
                <a:spcPts val="2916"/>
              </a:lnSpc>
            </a:pPr>
            <a:r>
              <a:rPr lang="en-US" b="true" sz="2700" i="true">
                <a:solidFill>
                  <a:srgbClr val="00BFDF"/>
                </a:solidFill>
                <a:latin typeface="Trebuchet MS Bold Italics"/>
                <a:ea typeface="Trebuchet MS Bold Italics"/>
                <a:cs typeface="Trebuchet MS Bold Italics"/>
                <a:sym typeface="Trebuchet MS Bold Italics"/>
              </a:rPr>
              <a:t>   pour accéder au crédit bancaire. </a:t>
            </a:r>
          </a:p>
        </p:txBody>
      </p:sp>
      <p:grpSp>
        <p:nvGrpSpPr>
          <p:cNvPr name="Group 23" id="23"/>
          <p:cNvGrpSpPr/>
          <p:nvPr/>
        </p:nvGrpSpPr>
        <p:grpSpPr>
          <a:xfrm rot="0">
            <a:off x="511950" y="6518539"/>
            <a:ext cx="17203102" cy="1266549"/>
            <a:chOff x="0" y="0"/>
            <a:chExt cx="22937470" cy="1688732"/>
          </a:xfrm>
        </p:grpSpPr>
        <p:sp>
          <p:nvSpPr>
            <p:cNvPr name="Freeform 24" id="24"/>
            <p:cNvSpPr/>
            <p:nvPr/>
          </p:nvSpPr>
          <p:spPr>
            <a:xfrm flipH="false" flipV="false" rot="0">
              <a:off x="0" y="0"/>
              <a:ext cx="22937445" cy="1688719"/>
            </a:xfrm>
            <a:custGeom>
              <a:avLst/>
              <a:gdLst/>
              <a:ahLst/>
              <a:cxnLst/>
              <a:rect r="r" b="b" t="t" l="l"/>
              <a:pathLst>
                <a:path h="1688719" w="22937445">
                  <a:moveTo>
                    <a:pt x="0" y="0"/>
                  </a:moveTo>
                  <a:lnTo>
                    <a:pt x="22937445" y="0"/>
                  </a:lnTo>
                  <a:lnTo>
                    <a:pt x="22937445" y="1688719"/>
                  </a:lnTo>
                  <a:lnTo>
                    <a:pt x="0" y="1688719"/>
                  </a:lnTo>
                  <a:close/>
                </a:path>
              </a:pathLst>
            </a:custGeom>
            <a:solidFill>
              <a:srgbClr val="E6E7E8"/>
            </a:solidFill>
          </p:spPr>
        </p:sp>
      </p:grpSp>
      <p:grpSp>
        <p:nvGrpSpPr>
          <p:cNvPr name="Group 25" id="25"/>
          <p:cNvGrpSpPr/>
          <p:nvPr/>
        </p:nvGrpSpPr>
        <p:grpSpPr>
          <a:xfrm rot="-10800000">
            <a:off x="883577" y="6379207"/>
            <a:ext cx="1730912" cy="1634833"/>
            <a:chOff x="0" y="0"/>
            <a:chExt cx="2307882" cy="2179777"/>
          </a:xfrm>
        </p:grpSpPr>
        <p:sp>
          <p:nvSpPr>
            <p:cNvPr name="Freeform 26" id="26"/>
            <p:cNvSpPr/>
            <p:nvPr/>
          </p:nvSpPr>
          <p:spPr>
            <a:xfrm flipH="false" flipV="false" rot="0">
              <a:off x="0" y="0"/>
              <a:ext cx="2307844" cy="2179828"/>
            </a:xfrm>
            <a:custGeom>
              <a:avLst/>
              <a:gdLst/>
              <a:ahLst/>
              <a:cxnLst/>
              <a:rect r="r" b="b" t="t" l="l"/>
              <a:pathLst>
                <a:path h="2179828" w="2307844">
                  <a:moveTo>
                    <a:pt x="2307844" y="2179828"/>
                  </a:moveTo>
                  <a:lnTo>
                    <a:pt x="0" y="2179828"/>
                  </a:lnTo>
                  <a:lnTo>
                    <a:pt x="0" y="274574"/>
                  </a:lnTo>
                  <a:lnTo>
                    <a:pt x="1153922" y="0"/>
                  </a:lnTo>
                  <a:lnTo>
                    <a:pt x="2307844" y="274574"/>
                  </a:lnTo>
                  <a:close/>
                </a:path>
              </a:pathLst>
            </a:custGeom>
            <a:solidFill>
              <a:srgbClr val="5A5A5A"/>
            </a:solidFill>
          </p:spPr>
        </p:sp>
      </p:grpSp>
      <p:grpSp>
        <p:nvGrpSpPr>
          <p:cNvPr name="Group 27" id="27"/>
          <p:cNvGrpSpPr/>
          <p:nvPr/>
        </p:nvGrpSpPr>
        <p:grpSpPr>
          <a:xfrm rot="0">
            <a:off x="1052455" y="6583556"/>
            <a:ext cx="1393174" cy="1226125"/>
            <a:chOff x="0" y="0"/>
            <a:chExt cx="1857565" cy="1634833"/>
          </a:xfrm>
        </p:grpSpPr>
        <p:sp>
          <p:nvSpPr>
            <p:cNvPr name="Freeform 28" id="28"/>
            <p:cNvSpPr/>
            <p:nvPr/>
          </p:nvSpPr>
          <p:spPr>
            <a:xfrm flipH="false" flipV="false" rot="0">
              <a:off x="0" y="0"/>
              <a:ext cx="1857502" cy="1634744"/>
            </a:xfrm>
            <a:custGeom>
              <a:avLst/>
              <a:gdLst/>
              <a:ahLst/>
              <a:cxnLst/>
              <a:rect r="r" b="b" t="t" l="l"/>
              <a:pathLst>
                <a:path h="1634744" w="1857502">
                  <a:moveTo>
                    <a:pt x="0" y="817372"/>
                  </a:moveTo>
                  <a:cubicBezTo>
                    <a:pt x="0" y="366014"/>
                    <a:pt x="415798" y="0"/>
                    <a:pt x="928751" y="0"/>
                  </a:cubicBezTo>
                  <a:cubicBezTo>
                    <a:pt x="1441704" y="0"/>
                    <a:pt x="1857502" y="366014"/>
                    <a:pt x="1857502" y="817372"/>
                  </a:cubicBezTo>
                  <a:cubicBezTo>
                    <a:pt x="1857502" y="1268730"/>
                    <a:pt x="1441704" y="1634744"/>
                    <a:pt x="928751" y="1634744"/>
                  </a:cubicBezTo>
                  <a:cubicBezTo>
                    <a:pt x="415798" y="1634744"/>
                    <a:pt x="0" y="1268857"/>
                    <a:pt x="0" y="817372"/>
                  </a:cubicBezTo>
                  <a:close/>
                </a:path>
              </a:pathLst>
            </a:custGeom>
            <a:solidFill>
              <a:srgbClr val="FFFFFF"/>
            </a:solidFill>
          </p:spPr>
        </p:sp>
        <p:sp>
          <p:nvSpPr>
            <p:cNvPr name="TextBox 29" id="29"/>
            <p:cNvSpPr txBox="true"/>
            <p:nvPr/>
          </p:nvSpPr>
          <p:spPr>
            <a:xfrm>
              <a:off x="0" y="-9525"/>
              <a:ext cx="1857565" cy="1644358"/>
            </a:xfrm>
            <a:prstGeom prst="rect">
              <a:avLst/>
            </a:prstGeom>
          </p:spPr>
          <p:txBody>
            <a:bodyPr anchor="ctr" rtlCol="false" tIns="50800" lIns="50800" bIns="50800" rIns="50800"/>
            <a:lstStyle/>
            <a:p>
              <a:pPr algn="ctr">
                <a:lnSpc>
                  <a:spcPts val="5040"/>
                </a:lnSpc>
              </a:pPr>
              <a:r>
                <a:rPr lang="en-US" b="true" sz="4200">
                  <a:solidFill>
                    <a:srgbClr val="5A5A5A"/>
                  </a:solidFill>
                  <a:latin typeface="Trebuchet MS Bold"/>
                  <a:ea typeface="Trebuchet MS Bold"/>
                  <a:cs typeface="Trebuchet MS Bold"/>
                  <a:sym typeface="Trebuchet MS Bold"/>
                </a:rPr>
                <a:t>03</a:t>
              </a:r>
            </a:p>
          </p:txBody>
        </p:sp>
      </p:grpSp>
      <p:sp>
        <p:nvSpPr>
          <p:cNvPr name="TextBox 30" id="30"/>
          <p:cNvSpPr txBox="true"/>
          <p:nvPr/>
        </p:nvSpPr>
        <p:spPr>
          <a:xfrm rot="0">
            <a:off x="2752401" y="6537589"/>
            <a:ext cx="14323070" cy="1107948"/>
          </a:xfrm>
          <a:prstGeom prst="rect">
            <a:avLst/>
          </a:prstGeom>
        </p:spPr>
        <p:txBody>
          <a:bodyPr anchor="t" rtlCol="false" tIns="0" lIns="0" bIns="0" rIns="0">
            <a:spAutoFit/>
          </a:bodyPr>
          <a:lstStyle/>
          <a:p>
            <a:pPr algn="l">
              <a:lnSpc>
                <a:spcPts val="2916"/>
              </a:lnSpc>
            </a:pPr>
            <a:r>
              <a:rPr lang="en-US" b="true" sz="2700" i="true">
                <a:solidFill>
                  <a:srgbClr val="5A5A5A"/>
                </a:solidFill>
                <a:latin typeface="Trebuchet MS Bold Italics"/>
                <a:ea typeface="Trebuchet MS Bold Italics"/>
                <a:cs typeface="Trebuchet MS Bold Italics"/>
                <a:sym typeface="Trebuchet MS Bold Italics"/>
              </a:rPr>
              <a:t> Digital ID: Intégration avec MOSIP  / eSignet , IDS pour authentifier l'agriculteur via NPI</a:t>
            </a:r>
          </a:p>
          <a:p>
            <a:pPr algn="l">
              <a:lnSpc>
                <a:spcPts val="2916"/>
              </a:lnSpc>
            </a:pPr>
            <a:r>
              <a:rPr lang="en-US" b="true" sz="2700" i="true">
                <a:solidFill>
                  <a:srgbClr val="5A5A5A"/>
                </a:solidFill>
                <a:latin typeface="Trebuchet MS Bold Italics"/>
                <a:ea typeface="Trebuchet MS Bold Italics"/>
                <a:cs typeface="Trebuchet MS Bold Italics"/>
                <a:sym typeface="Trebuchet MS Bold Italics"/>
              </a:rPr>
              <a:t> et OTP. L'identité nationale devient la clé d'accès au paiement et à la génération de</a:t>
            </a:r>
          </a:p>
          <a:p>
            <a:pPr algn="l">
              <a:lnSpc>
                <a:spcPts val="2916"/>
              </a:lnSpc>
            </a:pPr>
            <a:r>
              <a:rPr lang="en-US" b="true" sz="2700" i="true">
                <a:solidFill>
                  <a:srgbClr val="5A5A5A"/>
                </a:solidFill>
                <a:latin typeface="Trebuchet MS Bold Italics"/>
                <a:ea typeface="Trebuchet MS Bold Italics"/>
                <a:cs typeface="Trebuchet MS Bold Italics"/>
                <a:sym typeface="Trebuchet MS Bold Italics"/>
              </a:rPr>
              <a:t>  credentials vérifiables.</a:t>
            </a:r>
          </a:p>
        </p:txBody>
      </p:sp>
      <p:grpSp>
        <p:nvGrpSpPr>
          <p:cNvPr name="Group 31" id="31"/>
          <p:cNvGrpSpPr/>
          <p:nvPr/>
        </p:nvGrpSpPr>
        <p:grpSpPr>
          <a:xfrm rot="0">
            <a:off x="2614498" y="4469425"/>
            <a:ext cx="137903" cy="139332"/>
            <a:chOff x="0" y="0"/>
            <a:chExt cx="183871" cy="185776"/>
          </a:xfrm>
        </p:grpSpPr>
        <p:sp>
          <p:nvSpPr>
            <p:cNvPr name="Freeform 32" id="32"/>
            <p:cNvSpPr/>
            <p:nvPr/>
          </p:nvSpPr>
          <p:spPr>
            <a:xfrm flipH="false" flipV="false" rot="0">
              <a:off x="0" y="0"/>
              <a:ext cx="183896" cy="185801"/>
            </a:xfrm>
            <a:custGeom>
              <a:avLst/>
              <a:gdLst/>
              <a:ahLst/>
              <a:cxnLst/>
              <a:rect r="r" b="b" t="t" l="l"/>
              <a:pathLst>
                <a:path h="185801" w="183896">
                  <a:moveTo>
                    <a:pt x="0" y="185801"/>
                  </a:moveTo>
                  <a:lnTo>
                    <a:pt x="0" y="0"/>
                  </a:lnTo>
                  <a:lnTo>
                    <a:pt x="183896" y="185801"/>
                  </a:lnTo>
                  <a:close/>
                </a:path>
              </a:pathLst>
            </a:custGeom>
            <a:solidFill>
              <a:srgbClr val="6ECFE0"/>
            </a:solidFill>
          </p:spPr>
        </p:sp>
      </p:grpSp>
      <p:grpSp>
        <p:nvGrpSpPr>
          <p:cNvPr name="Group 33" id="33"/>
          <p:cNvGrpSpPr/>
          <p:nvPr/>
        </p:nvGrpSpPr>
        <p:grpSpPr>
          <a:xfrm rot="0">
            <a:off x="2614498" y="1999155"/>
            <a:ext cx="137903" cy="139332"/>
            <a:chOff x="0" y="0"/>
            <a:chExt cx="183871" cy="185776"/>
          </a:xfrm>
        </p:grpSpPr>
        <p:sp>
          <p:nvSpPr>
            <p:cNvPr name="Freeform 34" id="34"/>
            <p:cNvSpPr/>
            <p:nvPr/>
          </p:nvSpPr>
          <p:spPr>
            <a:xfrm flipH="false" flipV="false" rot="0">
              <a:off x="0" y="0"/>
              <a:ext cx="183896" cy="185801"/>
            </a:xfrm>
            <a:custGeom>
              <a:avLst/>
              <a:gdLst/>
              <a:ahLst/>
              <a:cxnLst/>
              <a:rect r="r" b="b" t="t" l="l"/>
              <a:pathLst>
                <a:path h="185801" w="183896">
                  <a:moveTo>
                    <a:pt x="0" y="185801"/>
                  </a:moveTo>
                  <a:lnTo>
                    <a:pt x="0" y="0"/>
                  </a:lnTo>
                  <a:lnTo>
                    <a:pt x="183896" y="185801"/>
                  </a:lnTo>
                  <a:close/>
                </a:path>
              </a:pathLst>
            </a:custGeom>
            <a:solidFill>
              <a:srgbClr val="436AB3"/>
            </a:solidFill>
          </p:spPr>
        </p:sp>
      </p:grpSp>
      <p:grpSp>
        <p:nvGrpSpPr>
          <p:cNvPr name="Group 35" id="35"/>
          <p:cNvGrpSpPr/>
          <p:nvPr/>
        </p:nvGrpSpPr>
        <p:grpSpPr>
          <a:xfrm rot="0">
            <a:off x="2614498" y="6379207"/>
            <a:ext cx="137903" cy="139332"/>
            <a:chOff x="0" y="0"/>
            <a:chExt cx="183871" cy="185776"/>
          </a:xfrm>
        </p:grpSpPr>
        <p:sp>
          <p:nvSpPr>
            <p:cNvPr name="Freeform 36" id="36"/>
            <p:cNvSpPr/>
            <p:nvPr/>
          </p:nvSpPr>
          <p:spPr>
            <a:xfrm flipH="false" flipV="false" rot="0">
              <a:off x="0" y="0"/>
              <a:ext cx="183896" cy="185801"/>
            </a:xfrm>
            <a:custGeom>
              <a:avLst/>
              <a:gdLst/>
              <a:ahLst/>
              <a:cxnLst/>
              <a:rect r="r" b="b" t="t" l="l"/>
              <a:pathLst>
                <a:path h="185801" w="183896">
                  <a:moveTo>
                    <a:pt x="0" y="185801"/>
                  </a:moveTo>
                  <a:lnTo>
                    <a:pt x="0" y="0"/>
                  </a:lnTo>
                  <a:lnTo>
                    <a:pt x="183896" y="185801"/>
                  </a:lnTo>
                  <a:close/>
                </a:path>
              </a:pathLst>
            </a:custGeom>
            <a:solidFill>
              <a:srgbClr val="939598"/>
            </a:solidFill>
          </p:spPr>
        </p:sp>
      </p:gr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nvSpPr>
        <p:spPr>
          <a:xfrm rot="4140">
            <a:off x="654872" y="9575359"/>
            <a:ext cx="11852405" cy="0"/>
          </a:xfrm>
          <a:prstGeom prst="line">
            <a:avLst/>
          </a:prstGeom>
          <a:ln cap="rnd" w="9525">
            <a:solidFill>
              <a:srgbClr val="284181"/>
            </a:solidFill>
            <a:prstDash val="solid"/>
            <a:headEnd type="none" len="sm" w="sm"/>
            <a:tailEnd type="none" len="sm" w="sm"/>
          </a:ln>
        </p:spPr>
      </p:sp>
      <p:sp>
        <p:nvSpPr>
          <p:cNvPr name="AutoShape 3" id="3"/>
          <p:cNvSpPr/>
          <p:nvPr/>
        </p:nvSpPr>
        <p:spPr>
          <a:xfrm rot="10020">
            <a:off x="12686767" y="9575359"/>
            <a:ext cx="4889106" cy="0"/>
          </a:xfrm>
          <a:prstGeom prst="line">
            <a:avLst/>
          </a:prstGeom>
          <a:ln cap="rnd" w="9525">
            <a:solidFill>
              <a:srgbClr val="00BFDF"/>
            </a:solidFill>
            <a:prstDash val="solid"/>
            <a:headEnd type="none" len="sm" w="sm"/>
            <a:tailEnd type="none" len="sm" w="sm"/>
          </a:ln>
        </p:spPr>
      </p:sp>
      <p:sp>
        <p:nvSpPr>
          <p:cNvPr name="TextBox 4" id="4"/>
          <p:cNvSpPr txBox="true"/>
          <p:nvPr/>
        </p:nvSpPr>
        <p:spPr>
          <a:xfrm rot="0">
            <a:off x="681361" y="9781699"/>
            <a:ext cx="960149" cy="273901"/>
          </a:xfrm>
          <a:prstGeom prst="rect">
            <a:avLst/>
          </a:prstGeom>
        </p:spPr>
        <p:txBody>
          <a:bodyPr anchor="t" rtlCol="false" tIns="0" lIns="0" bIns="0" rIns="0">
            <a:spAutoFit/>
          </a:bodyPr>
          <a:lstStyle/>
          <a:p>
            <a:pPr algn="l">
              <a:lnSpc>
                <a:spcPts val="1620"/>
              </a:lnSpc>
            </a:pPr>
            <a:r>
              <a:rPr lang="en-US" sz="1350">
                <a:solidFill>
                  <a:srgbClr val="595959"/>
                </a:solidFill>
                <a:latin typeface="Trebuchet MS"/>
                <a:ea typeface="Trebuchet MS"/>
                <a:cs typeface="Trebuchet MS"/>
                <a:sym typeface="Trebuchet MS"/>
              </a:rPr>
              <a:t>‹#›</a:t>
            </a:r>
          </a:p>
        </p:txBody>
      </p:sp>
      <p:sp>
        <p:nvSpPr>
          <p:cNvPr name="TextBox 5" id="5"/>
          <p:cNvSpPr txBox="true"/>
          <p:nvPr/>
        </p:nvSpPr>
        <p:spPr>
          <a:xfrm rot="0">
            <a:off x="5261715" y="9851822"/>
            <a:ext cx="7764570" cy="203778"/>
          </a:xfrm>
          <a:prstGeom prst="rect">
            <a:avLst/>
          </a:prstGeom>
        </p:spPr>
        <p:txBody>
          <a:bodyPr anchor="t" rtlCol="false" tIns="0" lIns="0" bIns="0" rIns="0">
            <a:spAutoFit/>
          </a:bodyPr>
          <a:lstStyle/>
          <a:p>
            <a:pPr algn="ctr">
              <a:lnSpc>
                <a:spcPts val="1296"/>
              </a:lnSpc>
            </a:pPr>
            <a:r>
              <a:rPr lang="en-US" sz="1200">
                <a:solidFill>
                  <a:srgbClr val="595959"/>
                </a:solidFill>
                <a:latin typeface="Trebuchet MS"/>
                <a:ea typeface="Trebuchet MS"/>
                <a:cs typeface="Trebuchet MS"/>
                <a:sym typeface="Trebuchet MS"/>
              </a:rPr>
              <a:t> All rights reserved. This document is proprietary and confidential.</a:t>
            </a:r>
          </a:p>
        </p:txBody>
      </p:sp>
      <p:sp>
        <p:nvSpPr>
          <p:cNvPr name="TextBox 6" id="6"/>
          <p:cNvSpPr txBox="true"/>
          <p:nvPr/>
        </p:nvSpPr>
        <p:spPr>
          <a:xfrm rot="0">
            <a:off x="603371" y="373380"/>
            <a:ext cx="3485257" cy="501015"/>
          </a:xfrm>
          <a:prstGeom prst="rect">
            <a:avLst/>
          </a:prstGeom>
        </p:spPr>
        <p:txBody>
          <a:bodyPr anchor="t" rtlCol="false" tIns="0" lIns="0" bIns="0" rIns="0">
            <a:spAutoFit/>
          </a:bodyPr>
          <a:lstStyle/>
          <a:p>
            <a:pPr algn="l">
              <a:lnSpc>
                <a:spcPts val="3779"/>
              </a:lnSpc>
            </a:pPr>
            <a:r>
              <a:rPr lang="en-US" b="true" sz="3499">
                <a:solidFill>
                  <a:srgbClr val="284181"/>
                </a:solidFill>
                <a:latin typeface="Trebuchet MS Bold"/>
                <a:ea typeface="Trebuchet MS Bold"/>
                <a:cs typeface="Trebuchet MS Bold"/>
                <a:sym typeface="Trebuchet MS Bold"/>
              </a:rPr>
              <a:t>PROBLÉMATIQUE</a:t>
            </a:r>
          </a:p>
        </p:txBody>
      </p:sp>
      <p:sp>
        <p:nvSpPr>
          <p:cNvPr name="TextBox 7" id="7"/>
          <p:cNvSpPr txBox="true"/>
          <p:nvPr/>
        </p:nvSpPr>
        <p:spPr>
          <a:xfrm rot="0">
            <a:off x="966626" y="1252871"/>
            <a:ext cx="16292674" cy="7943850"/>
          </a:xfrm>
          <a:prstGeom prst="rect">
            <a:avLst/>
          </a:prstGeom>
        </p:spPr>
        <p:txBody>
          <a:bodyPr anchor="t" rtlCol="false" tIns="0" lIns="0" bIns="0" rIns="0">
            <a:spAutoFit/>
          </a:bodyPr>
          <a:lstStyle/>
          <a:p>
            <a:pPr algn="l">
              <a:lnSpc>
                <a:spcPts val="3299"/>
              </a:lnSpc>
            </a:pPr>
            <a:r>
              <a:rPr lang="en-US" sz="2749" b="true">
                <a:solidFill>
                  <a:srgbClr val="284181"/>
                </a:solidFill>
                <a:latin typeface="Trebuchet MS Bold"/>
                <a:ea typeface="Trebuchet MS Bold"/>
                <a:cs typeface="Trebuchet MS Bold"/>
                <a:sym typeface="Trebuchet MS Bold"/>
              </a:rPr>
              <a:t>Processus actuel d'accès aux bénéfices</a:t>
            </a:r>
          </a:p>
          <a:p>
            <a:pPr algn="l">
              <a:lnSpc>
                <a:spcPts val="3119"/>
              </a:lnSpc>
            </a:pPr>
            <a:r>
              <a:rPr lang="en-US" sz="2599" i="true">
                <a:solidFill>
                  <a:srgbClr val="767171"/>
                </a:solidFill>
                <a:latin typeface="Trebuchet MS Italics"/>
                <a:ea typeface="Trebuchet MS Italics"/>
                <a:cs typeface="Trebuchet MS Italics"/>
                <a:sym typeface="Trebuchet MS Italics"/>
              </a:rPr>
              <a:t> L</a:t>
            </a:r>
            <a:r>
              <a:rPr lang="en-US" sz="2599" i="true">
                <a:solidFill>
                  <a:srgbClr val="767171"/>
                </a:solidFill>
                <a:latin typeface="Trebuchet MS Italics"/>
                <a:ea typeface="Trebuchet MS Italics"/>
                <a:cs typeface="Trebuchet MS Italics"/>
                <a:sym typeface="Trebuchet MS Italics"/>
              </a:rPr>
              <a:t>es agriculteurs vendent leur coton à des collectionneurs sur les points de collecte. Les transactions se font en cash ou avec promesse de paiement différé. Aucun reçu formel n'est émis. Les collectionneurs fixent les prix sans transparence.</a:t>
            </a:r>
          </a:p>
          <a:p>
            <a:pPr algn="l">
              <a:lnSpc>
                <a:spcPts val="3119"/>
              </a:lnSpc>
            </a:pPr>
          </a:p>
          <a:p>
            <a:pPr algn="l">
              <a:lnSpc>
                <a:spcPts val="3299"/>
              </a:lnSpc>
            </a:pPr>
            <a:r>
              <a:rPr lang="en-US" sz="2749" b="true">
                <a:solidFill>
                  <a:srgbClr val="284181"/>
                </a:solidFill>
                <a:latin typeface="Trebuchet MS Bold"/>
                <a:ea typeface="Trebuchet MS Bold"/>
                <a:cs typeface="Trebuchet MS Bold"/>
                <a:sym typeface="Trebuchet MS Bold"/>
              </a:rPr>
              <a:t>O</a:t>
            </a:r>
            <a:r>
              <a:rPr lang="en-US" sz="2749" b="true">
                <a:solidFill>
                  <a:srgbClr val="284181"/>
                </a:solidFill>
                <a:latin typeface="Trebuchet MS Bold"/>
                <a:ea typeface="Trebuchet MS Bold"/>
                <a:cs typeface="Trebuchet MS Bold"/>
                <a:sym typeface="Trebuchet MS Bold"/>
              </a:rPr>
              <a:t>bstacles rencontrés et populations affectées</a:t>
            </a:r>
          </a:p>
          <a:p>
            <a:pPr algn="l">
              <a:lnSpc>
                <a:spcPts val="3119"/>
              </a:lnSpc>
            </a:pPr>
            <a:r>
              <a:rPr lang="en-US" sz="2599" i="true" spc="-72">
                <a:solidFill>
                  <a:srgbClr val="767171"/>
                </a:solidFill>
                <a:latin typeface="Trebuchet MS Italics"/>
                <a:ea typeface="Trebuchet MS Italics"/>
                <a:cs typeface="Trebuchet MS Italics"/>
                <a:sym typeface="Trebuchet MS Italics"/>
              </a:rPr>
              <a:t> Les agriculteurs, notamm</a:t>
            </a:r>
            <a:r>
              <a:rPr lang="en-US" sz="2599" i="true" spc="-72">
                <a:solidFill>
                  <a:srgbClr val="767171"/>
                </a:solidFill>
                <a:latin typeface="Trebuchet MS Italics"/>
                <a:ea typeface="Trebuchet MS Italics"/>
                <a:cs typeface="Trebuchet MS Italics"/>
                <a:sym typeface="Trebuchet MS Italics"/>
              </a:rPr>
              <a:t>ent les femmes, n'ont aucune preuve de leurs revenus. Les collectionneurs retardent les paiements de plusieurs semaines ou mois. Les banques refusent les prêts faute de justificatifs. Les zones rurales manquent d'infrastructures formelles de traçabilité.</a:t>
            </a:r>
          </a:p>
          <a:p>
            <a:pPr algn="l">
              <a:lnSpc>
                <a:spcPts val="3119"/>
              </a:lnSpc>
            </a:pPr>
          </a:p>
          <a:p>
            <a:pPr algn="l">
              <a:lnSpc>
                <a:spcPts val="3479"/>
              </a:lnSpc>
            </a:pPr>
            <a:r>
              <a:rPr lang="en-US" b="true" sz="2899" spc="-82">
                <a:solidFill>
                  <a:srgbClr val="284181"/>
                </a:solidFill>
                <a:latin typeface="Trebuchet MS Bold"/>
                <a:ea typeface="Trebuchet MS Bold"/>
                <a:cs typeface="Trebuchet MS Bold"/>
                <a:sym typeface="Trebuchet MS Bold"/>
              </a:rPr>
              <a:t>Impact</a:t>
            </a:r>
            <a:r>
              <a:rPr lang="en-US" b="true" sz="2899" spc="-82">
                <a:solidFill>
                  <a:srgbClr val="284181"/>
                </a:solidFill>
                <a:latin typeface="Trebuchet MS Bold"/>
                <a:ea typeface="Trebuchet MS Bold"/>
                <a:cs typeface="Trebuchet MS Bold"/>
                <a:sym typeface="Trebuchet MS Bold"/>
              </a:rPr>
              <a:t> de l'absence d'identité numérique intégrée</a:t>
            </a:r>
          </a:p>
          <a:p>
            <a:pPr algn="l">
              <a:lnSpc>
                <a:spcPts val="3119"/>
              </a:lnSpc>
            </a:pPr>
            <a:r>
              <a:rPr lang="en-US" sz="2599" i="true" spc="-72">
                <a:solidFill>
                  <a:srgbClr val="767171"/>
                </a:solidFill>
                <a:latin typeface="Trebuchet MS Italics"/>
                <a:ea typeface="Trebuchet MS Italics"/>
                <a:cs typeface="Trebuchet MS Italics"/>
                <a:sym typeface="Trebuchet MS Italics"/>
              </a:rPr>
              <a:t> Im</a:t>
            </a:r>
            <a:r>
              <a:rPr lang="en-US" sz="2599" i="true" spc="-72">
                <a:solidFill>
                  <a:srgbClr val="767171"/>
                </a:solidFill>
                <a:latin typeface="Trebuchet MS Italics"/>
                <a:ea typeface="Trebuchet MS Italics"/>
                <a:cs typeface="Trebuchet MS Italics"/>
                <a:sym typeface="Trebuchet MS Italics"/>
              </a:rPr>
              <a:t>possible de vérifier l'identité de l'agriculteur lors de la transaction. Pas de lien entre l'identité nationale et les revenus agricoles. Exclusion totale du système financier formel. Aucune traçabilité des ventes pour constituer un historique de crédit.</a:t>
            </a:r>
          </a:p>
          <a:p>
            <a:pPr algn="l">
              <a:lnSpc>
                <a:spcPts val="3119"/>
              </a:lnSpc>
            </a:pPr>
          </a:p>
          <a:p>
            <a:pPr algn="l">
              <a:lnSpc>
                <a:spcPts val="3479"/>
              </a:lnSpc>
            </a:pPr>
            <a:r>
              <a:rPr lang="en-US" b="true" sz="2899" spc="-82">
                <a:solidFill>
                  <a:srgbClr val="284181"/>
                </a:solidFill>
                <a:latin typeface="Trebuchet MS Bold"/>
                <a:ea typeface="Trebuchet MS Bold"/>
                <a:cs typeface="Trebuchet MS Bold"/>
                <a:sym typeface="Trebuchet MS Bold"/>
              </a:rPr>
              <a:t>Amp</a:t>
            </a:r>
            <a:r>
              <a:rPr lang="en-US" b="true" sz="2899" spc="-82">
                <a:solidFill>
                  <a:srgbClr val="284181"/>
                </a:solidFill>
                <a:latin typeface="Trebuchet MS Bold"/>
                <a:ea typeface="Trebuchet MS Bold"/>
                <a:cs typeface="Trebuchet MS Bold"/>
                <a:sym typeface="Trebuchet MS Bold"/>
              </a:rPr>
              <a:t>leur et urgence du problème</a:t>
            </a:r>
          </a:p>
          <a:p>
            <a:pPr algn="l">
              <a:lnSpc>
                <a:spcPts val="3119"/>
              </a:lnSpc>
            </a:pPr>
            <a:r>
              <a:rPr lang="en-US" sz="2599" i="true" spc="-74">
                <a:solidFill>
                  <a:srgbClr val="767171"/>
                </a:solidFill>
                <a:latin typeface="Trebuchet MS Italics"/>
                <a:ea typeface="Trebuchet MS Italics"/>
                <a:cs typeface="Trebuchet MS Italics"/>
                <a:sym typeface="Trebuchet MS Italics"/>
              </a:rPr>
              <a:t> Le coton représe</a:t>
            </a:r>
            <a:r>
              <a:rPr lang="en-US" sz="2599" i="true" spc="-74">
                <a:solidFill>
                  <a:srgbClr val="767171"/>
                </a:solidFill>
                <a:latin typeface="Trebuchet MS Italics"/>
                <a:ea typeface="Trebuchet MS Italics"/>
                <a:cs typeface="Trebuchet MS Italics"/>
                <a:sym typeface="Trebuchet MS Italics"/>
              </a:rPr>
              <a:t>nte le pilier économique du Bénin. Des centaines de milliers de familles d'agriculteurs sont touchées. Une part importante de la valeur des ventes est perdue via les intermédiaires. Les agriculteurs restent piégés dans un cycle de pauvreté sans accès au crédit pour investir dans leurs exploitations.</a:t>
            </a:r>
          </a:p>
          <a:p>
            <a:pPr algn="l">
              <a:lnSpc>
                <a:spcPts val="3119"/>
              </a:lnSpc>
            </a:pP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nvSpPr>
        <p:spPr>
          <a:xfrm rot="4140">
            <a:off x="654872" y="9575359"/>
            <a:ext cx="11852405" cy="0"/>
          </a:xfrm>
          <a:prstGeom prst="line">
            <a:avLst/>
          </a:prstGeom>
          <a:ln cap="rnd" w="9525">
            <a:solidFill>
              <a:srgbClr val="284181"/>
            </a:solidFill>
            <a:prstDash val="solid"/>
            <a:headEnd type="none" len="sm" w="sm"/>
            <a:tailEnd type="none" len="sm" w="sm"/>
          </a:ln>
        </p:spPr>
      </p:sp>
      <p:sp>
        <p:nvSpPr>
          <p:cNvPr name="AutoShape 3" id="3"/>
          <p:cNvSpPr/>
          <p:nvPr/>
        </p:nvSpPr>
        <p:spPr>
          <a:xfrm rot="10020">
            <a:off x="12686767" y="9575359"/>
            <a:ext cx="4889106" cy="0"/>
          </a:xfrm>
          <a:prstGeom prst="line">
            <a:avLst/>
          </a:prstGeom>
          <a:ln cap="rnd" w="9525">
            <a:solidFill>
              <a:srgbClr val="00BFDF"/>
            </a:solidFill>
            <a:prstDash val="solid"/>
            <a:headEnd type="none" len="sm" w="sm"/>
            <a:tailEnd type="none" len="sm" w="sm"/>
          </a:ln>
        </p:spPr>
      </p:sp>
      <p:sp>
        <p:nvSpPr>
          <p:cNvPr name="TextBox 4" id="4"/>
          <p:cNvSpPr txBox="true"/>
          <p:nvPr/>
        </p:nvSpPr>
        <p:spPr>
          <a:xfrm rot="0">
            <a:off x="681361" y="9781699"/>
            <a:ext cx="960149" cy="273901"/>
          </a:xfrm>
          <a:prstGeom prst="rect">
            <a:avLst/>
          </a:prstGeom>
        </p:spPr>
        <p:txBody>
          <a:bodyPr anchor="t" rtlCol="false" tIns="0" lIns="0" bIns="0" rIns="0">
            <a:spAutoFit/>
          </a:bodyPr>
          <a:lstStyle/>
          <a:p>
            <a:pPr algn="l">
              <a:lnSpc>
                <a:spcPts val="1620"/>
              </a:lnSpc>
            </a:pPr>
            <a:r>
              <a:rPr lang="en-US" sz="1350">
                <a:solidFill>
                  <a:srgbClr val="595959"/>
                </a:solidFill>
                <a:latin typeface="Trebuchet MS"/>
                <a:ea typeface="Trebuchet MS"/>
                <a:cs typeface="Trebuchet MS"/>
                <a:sym typeface="Trebuchet MS"/>
              </a:rPr>
              <a:t>‹#›</a:t>
            </a:r>
          </a:p>
        </p:txBody>
      </p:sp>
      <p:sp>
        <p:nvSpPr>
          <p:cNvPr name="TextBox 5" id="5"/>
          <p:cNvSpPr txBox="true"/>
          <p:nvPr/>
        </p:nvSpPr>
        <p:spPr>
          <a:xfrm rot="0">
            <a:off x="5261715" y="9851822"/>
            <a:ext cx="7764570" cy="203778"/>
          </a:xfrm>
          <a:prstGeom prst="rect">
            <a:avLst/>
          </a:prstGeom>
        </p:spPr>
        <p:txBody>
          <a:bodyPr anchor="t" rtlCol="false" tIns="0" lIns="0" bIns="0" rIns="0">
            <a:spAutoFit/>
          </a:bodyPr>
          <a:lstStyle/>
          <a:p>
            <a:pPr algn="ctr">
              <a:lnSpc>
                <a:spcPts val="1296"/>
              </a:lnSpc>
            </a:pPr>
            <a:r>
              <a:rPr lang="en-US" sz="1200">
                <a:solidFill>
                  <a:srgbClr val="595959"/>
                </a:solidFill>
                <a:latin typeface="Trebuchet MS"/>
                <a:ea typeface="Trebuchet MS"/>
                <a:cs typeface="Trebuchet MS"/>
                <a:sym typeface="Trebuchet MS"/>
              </a:rPr>
              <a:t> All rights reserved. This document is proprietary and confidential.</a:t>
            </a:r>
          </a:p>
        </p:txBody>
      </p:sp>
      <p:sp>
        <p:nvSpPr>
          <p:cNvPr name="TextBox 6" id="6"/>
          <p:cNvSpPr txBox="true"/>
          <p:nvPr/>
        </p:nvSpPr>
        <p:spPr>
          <a:xfrm rot="0">
            <a:off x="603371" y="373380"/>
            <a:ext cx="4376291" cy="501015"/>
          </a:xfrm>
          <a:prstGeom prst="rect">
            <a:avLst/>
          </a:prstGeom>
        </p:spPr>
        <p:txBody>
          <a:bodyPr anchor="t" rtlCol="false" tIns="0" lIns="0" bIns="0" rIns="0">
            <a:spAutoFit/>
          </a:bodyPr>
          <a:lstStyle/>
          <a:p>
            <a:pPr algn="l">
              <a:lnSpc>
                <a:spcPts val="3779"/>
              </a:lnSpc>
            </a:pPr>
            <a:r>
              <a:rPr lang="en-US" b="true" sz="3499">
                <a:solidFill>
                  <a:srgbClr val="284181"/>
                </a:solidFill>
                <a:latin typeface="Trebuchet MS Bold"/>
                <a:ea typeface="Trebuchet MS Bold"/>
                <a:cs typeface="Trebuchet MS Bold"/>
                <a:sym typeface="Trebuchet MS Bold"/>
              </a:rPr>
              <a:t>SOLUTION PROPOSÉE</a:t>
            </a:r>
          </a:p>
        </p:txBody>
      </p:sp>
      <p:grpSp>
        <p:nvGrpSpPr>
          <p:cNvPr name="Group 7" id="7"/>
          <p:cNvGrpSpPr/>
          <p:nvPr/>
        </p:nvGrpSpPr>
        <p:grpSpPr>
          <a:xfrm rot="0">
            <a:off x="681361" y="1231196"/>
            <a:ext cx="17092612" cy="1958365"/>
            <a:chOff x="0" y="0"/>
            <a:chExt cx="22790150" cy="2611153"/>
          </a:xfrm>
        </p:grpSpPr>
        <p:sp>
          <p:nvSpPr>
            <p:cNvPr name="Freeform 8" id="8"/>
            <p:cNvSpPr/>
            <p:nvPr/>
          </p:nvSpPr>
          <p:spPr>
            <a:xfrm flipH="false" flipV="false" rot="0">
              <a:off x="0" y="0"/>
              <a:ext cx="22790150" cy="2611133"/>
            </a:xfrm>
            <a:custGeom>
              <a:avLst/>
              <a:gdLst/>
              <a:ahLst/>
              <a:cxnLst/>
              <a:rect r="r" b="b" t="t" l="l"/>
              <a:pathLst>
                <a:path h="2611133" w="22790150">
                  <a:moveTo>
                    <a:pt x="0" y="0"/>
                  </a:moveTo>
                  <a:lnTo>
                    <a:pt x="22790150" y="0"/>
                  </a:lnTo>
                  <a:lnTo>
                    <a:pt x="22790150" y="2611133"/>
                  </a:lnTo>
                  <a:lnTo>
                    <a:pt x="0" y="2611133"/>
                  </a:lnTo>
                  <a:close/>
                </a:path>
              </a:pathLst>
            </a:custGeom>
            <a:solidFill>
              <a:srgbClr val="E6E7E8"/>
            </a:solidFill>
          </p:spPr>
        </p:sp>
      </p:grpSp>
      <p:grpSp>
        <p:nvGrpSpPr>
          <p:cNvPr name="Group 9" id="9"/>
          <p:cNvGrpSpPr/>
          <p:nvPr/>
        </p:nvGrpSpPr>
        <p:grpSpPr>
          <a:xfrm rot="-10800000">
            <a:off x="1055141" y="1488053"/>
            <a:ext cx="1730912" cy="1634833"/>
            <a:chOff x="0" y="0"/>
            <a:chExt cx="2307882" cy="2179777"/>
          </a:xfrm>
        </p:grpSpPr>
        <p:sp>
          <p:nvSpPr>
            <p:cNvPr name="Freeform 10" id="10"/>
            <p:cNvSpPr/>
            <p:nvPr/>
          </p:nvSpPr>
          <p:spPr>
            <a:xfrm flipH="false" flipV="false" rot="0">
              <a:off x="0" y="0"/>
              <a:ext cx="2307844" cy="2179828"/>
            </a:xfrm>
            <a:custGeom>
              <a:avLst/>
              <a:gdLst/>
              <a:ahLst/>
              <a:cxnLst/>
              <a:rect r="r" b="b" t="t" l="l"/>
              <a:pathLst>
                <a:path h="2179828" w="2307844">
                  <a:moveTo>
                    <a:pt x="2307844" y="2179828"/>
                  </a:moveTo>
                  <a:lnTo>
                    <a:pt x="0" y="2179828"/>
                  </a:lnTo>
                  <a:lnTo>
                    <a:pt x="0" y="274574"/>
                  </a:lnTo>
                  <a:lnTo>
                    <a:pt x="1153922" y="0"/>
                  </a:lnTo>
                  <a:lnTo>
                    <a:pt x="2307844" y="274574"/>
                  </a:lnTo>
                  <a:close/>
                </a:path>
              </a:pathLst>
            </a:custGeom>
            <a:solidFill>
              <a:srgbClr val="284181"/>
            </a:solidFill>
          </p:spPr>
        </p:sp>
      </p:grpSp>
      <p:grpSp>
        <p:nvGrpSpPr>
          <p:cNvPr name="Group 11" id="11"/>
          <p:cNvGrpSpPr/>
          <p:nvPr/>
        </p:nvGrpSpPr>
        <p:grpSpPr>
          <a:xfrm rot="0">
            <a:off x="1224010" y="1692935"/>
            <a:ext cx="1393174" cy="1226125"/>
            <a:chOff x="0" y="0"/>
            <a:chExt cx="1857565" cy="1634833"/>
          </a:xfrm>
        </p:grpSpPr>
        <p:sp>
          <p:nvSpPr>
            <p:cNvPr name="Freeform 12" id="12"/>
            <p:cNvSpPr/>
            <p:nvPr/>
          </p:nvSpPr>
          <p:spPr>
            <a:xfrm flipH="false" flipV="false" rot="0">
              <a:off x="0" y="0"/>
              <a:ext cx="1857502" cy="1634744"/>
            </a:xfrm>
            <a:custGeom>
              <a:avLst/>
              <a:gdLst/>
              <a:ahLst/>
              <a:cxnLst/>
              <a:rect r="r" b="b" t="t" l="l"/>
              <a:pathLst>
                <a:path h="1634744" w="1857502">
                  <a:moveTo>
                    <a:pt x="0" y="817372"/>
                  </a:moveTo>
                  <a:cubicBezTo>
                    <a:pt x="0" y="366014"/>
                    <a:pt x="415798" y="0"/>
                    <a:pt x="928751" y="0"/>
                  </a:cubicBezTo>
                  <a:cubicBezTo>
                    <a:pt x="1441704" y="0"/>
                    <a:pt x="1857502" y="366014"/>
                    <a:pt x="1857502" y="817372"/>
                  </a:cubicBezTo>
                  <a:cubicBezTo>
                    <a:pt x="1857502" y="1268730"/>
                    <a:pt x="1441704" y="1634744"/>
                    <a:pt x="928751" y="1634744"/>
                  </a:cubicBezTo>
                  <a:cubicBezTo>
                    <a:pt x="415798" y="1634744"/>
                    <a:pt x="0" y="1268857"/>
                    <a:pt x="0" y="817372"/>
                  </a:cubicBezTo>
                  <a:close/>
                </a:path>
              </a:pathLst>
            </a:custGeom>
            <a:solidFill>
              <a:srgbClr val="FFFFFF"/>
            </a:solidFill>
          </p:spPr>
        </p:sp>
        <p:sp>
          <p:nvSpPr>
            <p:cNvPr name="TextBox 13" id="13"/>
            <p:cNvSpPr txBox="true"/>
            <p:nvPr/>
          </p:nvSpPr>
          <p:spPr>
            <a:xfrm>
              <a:off x="0" y="-9525"/>
              <a:ext cx="1857565" cy="1644358"/>
            </a:xfrm>
            <a:prstGeom prst="rect">
              <a:avLst/>
            </a:prstGeom>
          </p:spPr>
          <p:txBody>
            <a:bodyPr anchor="ctr" rtlCol="false" tIns="50800" lIns="50800" bIns="50800" rIns="50800"/>
            <a:lstStyle/>
            <a:p>
              <a:pPr algn="ctr">
                <a:lnSpc>
                  <a:spcPts val="5040"/>
                </a:lnSpc>
              </a:pPr>
              <a:r>
                <a:rPr lang="en-US" b="true" sz="4200">
                  <a:solidFill>
                    <a:srgbClr val="284181"/>
                  </a:solidFill>
                  <a:latin typeface="Trebuchet MS Bold"/>
                  <a:ea typeface="Trebuchet MS Bold"/>
                  <a:cs typeface="Trebuchet MS Bold"/>
                  <a:sym typeface="Trebuchet MS Bold"/>
                </a:rPr>
                <a:t>01</a:t>
              </a:r>
            </a:p>
          </p:txBody>
        </p:sp>
      </p:grpSp>
      <p:sp>
        <p:nvSpPr>
          <p:cNvPr name="TextBox 14" id="14"/>
          <p:cNvSpPr txBox="true"/>
          <p:nvPr/>
        </p:nvSpPr>
        <p:spPr>
          <a:xfrm rot="0">
            <a:off x="3011976" y="1306544"/>
            <a:ext cx="15172696" cy="1831848"/>
          </a:xfrm>
          <a:prstGeom prst="rect">
            <a:avLst/>
          </a:prstGeom>
        </p:spPr>
        <p:txBody>
          <a:bodyPr anchor="t" rtlCol="false" tIns="0" lIns="0" bIns="0" rIns="0">
            <a:spAutoFit/>
          </a:bodyPr>
          <a:lstStyle/>
          <a:p>
            <a:pPr algn="l">
              <a:lnSpc>
                <a:spcPts val="2916"/>
              </a:lnSpc>
            </a:pPr>
            <a:r>
              <a:rPr lang="en-US" b="true" sz="2700" i="true">
                <a:solidFill>
                  <a:srgbClr val="284181"/>
                </a:solidFill>
                <a:latin typeface="Trebuchet MS Bold Italics"/>
                <a:ea typeface="Trebuchet MS Bold Italics"/>
                <a:cs typeface="Trebuchet MS Bold Italics"/>
                <a:sym typeface="Trebuchet MS Bold Italics"/>
              </a:rPr>
              <a:t> CottonPay connecte l'identité nationale des agriculteurs aux transactions de vente de coton. Le collectionneur authentifie l'agriculteur via son NPI et OTP. Le</a:t>
            </a:r>
          </a:p>
          <a:p>
            <a:pPr algn="l">
              <a:lnSpc>
                <a:spcPts val="2916"/>
              </a:lnSpc>
            </a:pPr>
            <a:r>
              <a:rPr lang="en-US" b="true" sz="2700" i="true">
                <a:solidFill>
                  <a:srgbClr val="284181"/>
                </a:solidFill>
                <a:latin typeface="Trebuchet MS Bold Italics"/>
                <a:ea typeface="Trebuchet MS Bold Italics"/>
                <a:cs typeface="Trebuchet MS Bold Italics"/>
                <a:sym typeface="Trebuchet MS Bold Italics"/>
              </a:rPr>
              <a:t>  paiement est automatique et immédiat via Mobile Money. Un credential vérifiable est généré instantanément, servant de preuve de revenu pour accéder aux prêts</a:t>
            </a:r>
          </a:p>
          <a:p>
            <a:pPr algn="l">
              <a:lnSpc>
                <a:spcPts val="2916"/>
              </a:lnSpc>
            </a:pPr>
            <a:r>
              <a:rPr lang="en-US" b="true" sz="2700" i="true">
                <a:solidFill>
                  <a:srgbClr val="284181"/>
                </a:solidFill>
                <a:latin typeface="Trebuchet MS Bold Italics"/>
                <a:ea typeface="Trebuchet MS Bold Italics"/>
                <a:cs typeface="Trebuchet MS Bold Italics"/>
                <a:sym typeface="Trebuchet MS Bold Italics"/>
              </a:rPr>
              <a:t>  bancaires.</a:t>
            </a:r>
          </a:p>
        </p:txBody>
      </p:sp>
      <p:grpSp>
        <p:nvGrpSpPr>
          <p:cNvPr name="Group 15" id="15"/>
          <p:cNvGrpSpPr/>
          <p:nvPr/>
        </p:nvGrpSpPr>
        <p:grpSpPr>
          <a:xfrm rot="0">
            <a:off x="681361" y="3526131"/>
            <a:ext cx="17092612" cy="1653530"/>
            <a:chOff x="0" y="0"/>
            <a:chExt cx="22790150" cy="2204707"/>
          </a:xfrm>
        </p:grpSpPr>
        <p:sp>
          <p:nvSpPr>
            <p:cNvPr name="Freeform 16" id="16"/>
            <p:cNvSpPr/>
            <p:nvPr/>
          </p:nvSpPr>
          <p:spPr>
            <a:xfrm flipH="false" flipV="false" rot="0">
              <a:off x="0" y="0"/>
              <a:ext cx="22790150" cy="2204691"/>
            </a:xfrm>
            <a:custGeom>
              <a:avLst/>
              <a:gdLst/>
              <a:ahLst/>
              <a:cxnLst/>
              <a:rect r="r" b="b" t="t" l="l"/>
              <a:pathLst>
                <a:path h="2204691" w="22790150">
                  <a:moveTo>
                    <a:pt x="0" y="0"/>
                  </a:moveTo>
                  <a:lnTo>
                    <a:pt x="22790150" y="0"/>
                  </a:lnTo>
                  <a:lnTo>
                    <a:pt x="22790150" y="2204691"/>
                  </a:lnTo>
                  <a:lnTo>
                    <a:pt x="0" y="2204691"/>
                  </a:lnTo>
                  <a:close/>
                </a:path>
              </a:pathLst>
            </a:custGeom>
            <a:solidFill>
              <a:srgbClr val="E6E7E8"/>
            </a:solidFill>
          </p:spPr>
        </p:sp>
      </p:grpSp>
      <p:grpSp>
        <p:nvGrpSpPr>
          <p:cNvPr name="Group 17" id="17"/>
          <p:cNvGrpSpPr/>
          <p:nvPr/>
        </p:nvGrpSpPr>
        <p:grpSpPr>
          <a:xfrm rot="-10800000">
            <a:off x="1028700" y="3616909"/>
            <a:ext cx="1730912" cy="1634833"/>
            <a:chOff x="0" y="0"/>
            <a:chExt cx="2307882" cy="2179777"/>
          </a:xfrm>
        </p:grpSpPr>
        <p:sp>
          <p:nvSpPr>
            <p:cNvPr name="Freeform 18" id="18"/>
            <p:cNvSpPr/>
            <p:nvPr/>
          </p:nvSpPr>
          <p:spPr>
            <a:xfrm flipH="false" flipV="false" rot="0">
              <a:off x="0" y="0"/>
              <a:ext cx="2307844" cy="2179828"/>
            </a:xfrm>
            <a:custGeom>
              <a:avLst/>
              <a:gdLst/>
              <a:ahLst/>
              <a:cxnLst/>
              <a:rect r="r" b="b" t="t" l="l"/>
              <a:pathLst>
                <a:path h="2179828" w="2307844">
                  <a:moveTo>
                    <a:pt x="2307844" y="2179828"/>
                  </a:moveTo>
                  <a:lnTo>
                    <a:pt x="0" y="2179828"/>
                  </a:lnTo>
                  <a:lnTo>
                    <a:pt x="0" y="274574"/>
                  </a:lnTo>
                  <a:lnTo>
                    <a:pt x="1153922" y="0"/>
                  </a:lnTo>
                  <a:lnTo>
                    <a:pt x="2307844" y="274574"/>
                  </a:lnTo>
                  <a:close/>
                </a:path>
              </a:pathLst>
            </a:custGeom>
            <a:solidFill>
              <a:srgbClr val="00BFDF"/>
            </a:solidFill>
          </p:spPr>
        </p:sp>
      </p:grpSp>
      <p:grpSp>
        <p:nvGrpSpPr>
          <p:cNvPr name="Group 19" id="19"/>
          <p:cNvGrpSpPr/>
          <p:nvPr/>
        </p:nvGrpSpPr>
        <p:grpSpPr>
          <a:xfrm rot="0">
            <a:off x="1197569" y="3821259"/>
            <a:ext cx="1393174" cy="1226125"/>
            <a:chOff x="0" y="0"/>
            <a:chExt cx="1857565" cy="1634833"/>
          </a:xfrm>
        </p:grpSpPr>
        <p:sp>
          <p:nvSpPr>
            <p:cNvPr name="Freeform 20" id="20"/>
            <p:cNvSpPr/>
            <p:nvPr/>
          </p:nvSpPr>
          <p:spPr>
            <a:xfrm flipH="false" flipV="false" rot="0">
              <a:off x="0" y="0"/>
              <a:ext cx="1857502" cy="1634744"/>
            </a:xfrm>
            <a:custGeom>
              <a:avLst/>
              <a:gdLst/>
              <a:ahLst/>
              <a:cxnLst/>
              <a:rect r="r" b="b" t="t" l="l"/>
              <a:pathLst>
                <a:path h="1634744" w="1857502">
                  <a:moveTo>
                    <a:pt x="0" y="817372"/>
                  </a:moveTo>
                  <a:cubicBezTo>
                    <a:pt x="0" y="366014"/>
                    <a:pt x="415798" y="0"/>
                    <a:pt x="928751" y="0"/>
                  </a:cubicBezTo>
                  <a:cubicBezTo>
                    <a:pt x="1441704" y="0"/>
                    <a:pt x="1857502" y="366014"/>
                    <a:pt x="1857502" y="817372"/>
                  </a:cubicBezTo>
                  <a:cubicBezTo>
                    <a:pt x="1857502" y="1268730"/>
                    <a:pt x="1441704" y="1634744"/>
                    <a:pt x="928751" y="1634744"/>
                  </a:cubicBezTo>
                  <a:cubicBezTo>
                    <a:pt x="415798" y="1634744"/>
                    <a:pt x="0" y="1268857"/>
                    <a:pt x="0" y="817372"/>
                  </a:cubicBezTo>
                  <a:close/>
                </a:path>
              </a:pathLst>
            </a:custGeom>
            <a:solidFill>
              <a:srgbClr val="FFFFFF"/>
            </a:solidFill>
          </p:spPr>
        </p:sp>
        <p:sp>
          <p:nvSpPr>
            <p:cNvPr name="TextBox 21" id="21"/>
            <p:cNvSpPr txBox="true"/>
            <p:nvPr/>
          </p:nvSpPr>
          <p:spPr>
            <a:xfrm>
              <a:off x="0" y="-9525"/>
              <a:ext cx="1857565" cy="1644358"/>
            </a:xfrm>
            <a:prstGeom prst="rect">
              <a:avLst/>
            </a:prstGeom>
          </p:spPr>
          <p:txBody>
            <a:bodyPr anchor="ctr" rtlCol="false" tIns="50800" lIns="50800" bIns="50800" rIns="50800"/>
            <a:lstStyle/>
            <a:p>
              <a:pPr algn="ctr">
                <a:lnSpc>
                  <a:spcPts val="5040"/>
                </a:lnSpc>
              </a:pPr>
              <a:r>
                <a:rPr lang="en-US" b="true" sz="4200">
                  <a:solidFill>
                    <a:srgbClr val="00BFDF"/>
                  </a:solidFill>
                  <a:latin typeface="Trebuchet MS Bold"/>
                  <a:ea typeface="Trebuchet MS Bold"/>
                  <a:cs typeface="Trebuchet MS Bold"/>
                  <a:sym typeface="Trebuchet MS Bold"/>
                </a:rPr>
                <a:t>02</a:t>
              </a:r>
            </a:p>
          </p:txBody>
        </p:sp>
      </p:grpSp>
      <p:sp>
        <p:nvSpPr>
          <p:cNvPr name="TextBox 22" id="22"/>
          <p:cNvSpPr txBox="true"/>
          <p:nvPr/>
        </p:nvSpPr>
        <p:spPr>
          <a:xfrm rot="0">
            <a:off x="3011976" y="3800894"/>
            <a:ext cx="15219035" cy="1107948"/>
          </a:xfrm>
          <a:prstGeom prst="rect">
            <a:avLst/>
          </a:prstGeom>
        </p:spPr>
        <p:txBody>
          <a:bodyPr anchor="t" rtlCol="false" tIns="0" lIns="0" bIns="0" rIns="0">
            <a:spAutoFit/>
          </a:bodyPr>
          <a:lstStyle/>
          <a:p>
            <a:pPr algn="l">
              <a:lnSpc>
                <a:spcPts val="2916"/>
              </a:lnSpc>
            </a:pPr>
            <a:r>
              <a:rPr lang="en-US" b="true" sz="2700" i="true">
                <a:solidFill>
                  <a:srgbClr val="00BFDF"/>
                </a:solidFill>
                <a:latin typeface="Trebuchet MS Bold Italics"/>
                <a:ea typeface="Trebuchet MS Bold Italics"/>
                <a:cs typeface="Trebuchet MS Bold Italics"/>
                <a:sym typeface="Trebuchet MS Bold Italics"/>
              </a:rPr>
              <a:t>Intégrati</a:t>
            </a:r>
            <a:r>
              <a:rPr lang="en-US" b="true" sz="2700" i="true">
                <a:solidFill>
                  <a:srgbClr val="00BFDF"/>
                </a:solidFill>
                <a:latin typeface="Trebuchet MS Bold Italics"/>
                <a:ea typeface="Trebuchet MS Bold Italics"/>
                <a:cs typeface="Trebuchet MS Bold Italics"/>
                <a:sym typeface="Trebuchet MS Bold Italics"/>
              </a:rPr>
              <a:t>on directe avec le registre national d'identité via MOSIP/eSignet. L'identité nationale  devient la clé d'authentification lors de chaque vente. Les</a:t>
            </a:r>
          </a:p>
          <a:p>
            <a:pPr algn="l">
              <a:lnSpc>
                <a:spcPts val="2916"/>
              </a:lnSpc>
            </a:pPr>
            <a:r>
              <a:rPr lang="en-US" b="true" sz="2700" i="true">
                <a:solidFill>
                  <a:srgbClr val="00BFDF"/>
                </a:solidFill>
                <a:latin typeface="Trebuchet MS Bold Italics"/>
                <a:ea typeface="Trebuchet MS Bold Italics"/>
                <a:cs typeface="Trebuchet MS Bold Italics"/>
                <a:sym typeface="Trebuchet MS Bold Italics"/>
              </a:rPr>
              <a:t>  credentials vérifiables sont liés à l'identité de l'agriculteur. </a:t>
            </a:r>
          </a:p>
        </p:txBody>
      </p:sp>
      <p:grpSp>
        <p:nvGrpSpPr>
          <p:cNvPr name="Group 23" id="23"/>
          <p:cNvGrpSpPr/>
          <p:nvPr/>
        </p:nvGrpSpPr>
        <p:grpSpPr>
          <a:xfrm rot="0">
            <a:off x="531019" y="5838749"/>
            <a:ext cx="17092612" cy="1266549"/>
            <a:chOff x="0" y="0"/>
            <a:chExt cx="22790150" cy="1688732"/>
          </a:xfrm>
        </p:grpSpPr>
        <p:sp>
          <p:nvSpPr>
            <p:cNvPr name="Freeform 24" id="24"/>
            <p:cNvSpPr/>
            <p:nvPr/>
          </p:nvSpPr>
          <p:spPr>
            <a:xfrm flipH="false" flipV="false" rot="0">
              <a:off x="0" y="0"/>
              <a:ext cx="22790150" cy="1688719"/>
            </a:xfrm>
            <a:custGeom>
              <a:avLst/>
              <a:gdLst/>
              <a:ahLst/>
              <a:cxnLst/>
              <a:rect r="r" b="b" t="t" l="l"/>
              <a:pathLst>
                <a:path h="1688719" w="22790150">
                  <a:moveTo>
                    <a:pt x="0" y="0"/>
                  </a:moveTo>
                  <a:lnTo>
                    <a:pt x="22790150" y="0"/>
                  </a:lnTo>
                  <a:lnTo>
                    <a:pt x="22790150" y="1688719"/>
                  </a:lnTo>
                  <a:lnTo>
                    <a:pt x="0" y="1688719"/>
                  </a:lnTo>
                  <a:close/>
                </a:path>
              </a:pathLst>
            </a:custGeom>
            <a:solidFill>
              <a:srgbClr val="E6E7E8"/>
            </a:solidFill>
          </p:spPr>
        </p:sp>
      </p:grpSp>
      <p:grpSp>
        <p:nvGrpSpPr>
          <p:cNvPr name="Group 25" id="25"/>
          <p:cNvGrpSpPr/>
          <p:nvPr/>
        </p:nvGrpSpPr>
        <p:grpSpPr>
          <a:xfrm rot="-10800000">
            <a:off x="1143162" y="5699417"/>
            <a:ext cx="1730912" cy="1634833"/>
            <a:chOff x="0" y="0"/>
            <a:chExt cx="2307882" cy="2179777"/>
          </a:xfrm>
        </p:grpSpPr>
        <p:sp>
          <p:nvSpPr>
            <p:cNvPr name="Freeform 26" id="26"/>
            <p:cNvSpPr/>
            <p:nvPr/>
          </p:nvSpPr>
          <p:spPr>
            <a:xfrm flipH="false" flipV="false" rot="0">
              <a:off x="0" y="0"/>
              <a:ext cx="2307844" cy="2179828"/>
            </a:xfrm>
            <a:custGeom>
              <a:avLst/>
              <a:gdLst/>
              <a:ahLst/>
              <a:cxnLst/>
              <a:rect r="r" b="b" t="t" l="l"/>
              <a:pathLst>
                <a:path h="2179828" w="2307844">
                  <a:moveTo>
                    <a:pt x="2307844" y="2179828"/>
                  </a:moveTo>
                  <a:lnTo>
                    <a:pt x="0" y="2179828"/>
                  </a:lnTo>
                  <a:lnTo>
                    <a:pt x="0" y="274574"/>
                  </a:lnTo>
                  <a:lnTo>
                    <a:pt x="1153922" y="0"/>
                  </a:lnTo>
                  <a:lnTo>
                    <a:pt x="2307844" y="274574"/>
                  </a:lnTo>
                  <a:close/>
                </a:path>
              </a:pathLst>
            </a:custGeom>
            <a:solidFill>
              <a:srgbClr val="5A5A5A"/>
            </a:solidFill>
          </p:spPr>
        </p:sp>
      </p:grpSp>
      <p:grpSp>
        <p:nvGrpSpPr>
          <p:cNvPr name="Group 27" id="27"/>
          <p:cNvGrpSpPr/>
          <p:nvPr/>
        </p:nvGrpSpPr>
        <p:grpSpPr>
          <a:xfrm rot="0">
            <a:off x="1312031" y="5903766"/>
            <a:ext cx="1393174" cy="1226125"/>
            <a:chOff x="0" y="0"/>
            <a:chExt cx="1857565" cy="1634833"/>
          </a:xfrm>
        </p:grpSpPr>
        <p:sp>
          <p:nvSpPr>
            <p:cNvPr name="Freeform 28" id="28"/>
            <p:cNvSpPr/>
            <p:nvPr/>
          </p:nvSpPr>
          <p:spPr>
            <a:xfrm flipH="false" flipV="false" rot="0">
              <a:off x="0" y="0"/>
              <a:ext cx="1857502" cy="1634744"/>
            </a:xfrm>
            <a:custGeom>
              <a:avLst/>
              <a:gdLst/>
              <a:ahLst/>
              <a:cxnLst/>
              <a:rect r="r" b="b" t="t" l="l"/>
              <a:pathLst>
                <a:path h="1634744" w="1857502">
                  <a:moveTo>
                    <a:pt x="0" y="817372"/>
                  </a:moveTo>
                  <a:cubicBezTo>
                    <a:pt x="0" y="366014"/>
                    <a:pt x="415798" y="0"/>
                    <a:pt x="928751" y="0"/>
                  </a:cubicBezTo>
                  <a:cubicBezTo>
                    <a:pt x="1441704" y="0"/>
                    <a:pt x="1857502" y="366014"/>
                    <a:pt x="1857502" y="817372"/>
                  </a:cubicBezTo>
                  <a:cubicBezTo>
                    <a:pt x="1857502" y="1268730"/>
                    <a:pt x="1441704" y="1634744"/>
                    <a:pt x="928751" y="1634744"/>
                  </a:cubicBezTo>
                  <a:cubicBezTo>
                    <a:pt x="415798" y="1634744"/>
                    <a:pt x="0" y="1268857"/>
                    <a:pt x="0" y="817372"/>
                  </a:cubicBezTo>
                  <a:close/>
                </a:path>
              </a:pathLst>
            </a:custGeom>
            <a:solidFill>
              <a:srgbClr val="FFFFFF"/>
            </a:solidFill>
          </p:spPr>
        </p:sp>
        <p:sp>
          <p:nvSpPr>
            <p:cNvPr name="TextBox 29" id="29"/>
            <p:cNvSpPr txBox="true"/>
            <p:nvPr/>
          </p:nvSpPr>
          <p:spPr>
            <a:xfrm>
              <a:off x="0" y="-9525"/>
              <a:ext cx="1857565" cy="1644358"/>
            </a:xfrm>
            <a:prstGeom prst="rect">
              <a:avLst/>
            </a:prstGeom>
          </p:spPr>
          <p:txBody>
            <a:bodyPr anchor="ctr" rtlCol="false" tIns="50800" lIns="50800" bIns="50800" rIns="50800"/>
            <a:lstStyle/>
            <a:p>
              <a:pPr algn="ctr">
                <a:lnSpc>
                  <a:spcPts val="5040"/>
                </a:lnSpc>
              </a:pPr>
              <a:r>
                <a:rPr lang="en-US" b="true" sz="4200">
                  <a:solidFill>
                    <a:srgbClr val="5A5A5A"/>
                  </a:solidFill>
                  <a:latin typeface="Trebuchet MS Bold"/>
                  <a:ea typeface="Trebuchet MS Bold"/>
                  <a:cs typeface="Trebuchet MS Bold"/>
                  <a:sym typeface="Trebuchet MS Bold"/>
                </a:rPr>
                <a:t>03</a:t>
              </a:r>
            </a:p>
          </p:txBody>
        </p:sp>
      </p:grpSp>
      <p:sp>
        <p:nvSpPr>
          <p:cNvPr name="TextBox 30" id="30"/>
          <p:cNvSpPr txBox="true"/>
          <p:nvPr/>
        </p:nvSpPr>
        <p:spPr>
          <a:xfrm rot="0">
            <a:off x="3190399" y="5927574"/>
            <a:ext cx="14068901" cy="1107948"/>
          </a:xfrm>
          <a:prstGeom prst="rect">
            <a:avLst/>
          </a:prstGeom>
        </p:spPr>
        <p:txBody>
          <a:bodyPr anchor="t" rtlCol="false" tIns="0" lIns="0" bIns="0" rIns="0">
            <a:spAutoFit/>
          </a:bodyPr>
          <a:lstStyle/>
          <a:p>
            <a:pPr algn="l">
              <a:lnSpc>
                <a:spcPts val="2916"/>
              </a:lnSpc>
            </a:pPr>
            <a:r>
              <a:rPr lang="en-US" b="true" sz="2700" i="true">
                <a:solidFill>
                  <a:srgbClr val="5A5A5A"/>
                </a:solidFill>
                <a:latin typeface="Trebuchet MS Bold Italics"/>
                <a:ea typeface="Trebuchet MS Bold Italics"/>
                <a:cs typeface="Trebuchet MS Bold Italics"/>
                <a:sym typeface="Trebuchet MS Bold Italics"/>
              </a:rPr>
              <a:t>Identity-Led Fin</a:t>
            </a:r>
            <a:r>
              <a:rPr lang="en-US" b="true" sz="2700" i="true">
                <a:solidFill>
                  <a:srgbClr val="5A5A5A"/>
                </a:solidFill>
                <a:latin typeface="Trebuchet MS Bold Italics"/>
                <a:ea typeface="Trebuchet MS Bold Italics"/>
                <a:cs typeface="Trebuchet MS Bold Italics"/>
                <a:sym typeface="Trebuchet MS Bold Italics"/>
              </a:rPr>
              <a:t>ance : l'identité nationale se transforme en passerelle de paiement et de crédit. Prix fixes et transparents pour protéger les agriculteurs des abus.</a:t>
            </a:r>
          </a:p>
          <a:p>
            <a:pPr algn="l">
              <a:lnSpc>
                <a:spcPts val="2916"/>
              </a:lnSpc>
            </a:pPr>
            <a:r>
              <a:rPr lang="en-US" b="true" sz="2700" i="true">
                <a:solidFill>
                  <a:srgbClr val="5A5A5A"/>
                </a:solidFill>
                <a:latin typeface="Trebuchet MS Bold Italics"/>
                <a:ea typeface="Trebuchet MS Bold Italics"/>
                <a:cs typeface="Trebuchet MS Bold Italics"/>
                <a:sym typeface="Trebuchet MS Bold Italics"/>
              </a:rPr>
              <a:t>  Credentials infalsifiables acceptés par les institutions financières.</a:t>
            </a:r>
          </a:p>
        </p:txBody>
      </p:sp>
      <p:grpSp>
        <p:nvGrpSpPr>
          <p:cNvPr name="Group 31" id="31"/>
          <p:cNvGrpSpPr/>
          <p:nvPr/>
        </p:nvGrpSpPr>
        <p:grpSpPr>
          <a:xfrm rot="0">
            <a:off x="2759612" y="3616909"/>
            <a:ext cx="137903" cy="139332"/>
            <a:chOff x="0" y="0"/>
            <a:chExt cx="183871" cy="185776"/>
          </a:xfrm>
        </p:grpSpPr>
        <p:sp>
          <p:nvSpPr>
            <p:cNvPr name="Freeform 32" id="32"/>
            <p:cNvSpPr/>
            <p:nvPr/>
          </p:nvSpPr>
          <p:spPr>
            <a:xfrm flipH="false" flipV="false" rot="0">
              <a:off x="0" y="0"/>
              <a:ext cx="183896" cy="185801"/>
            </a:xfrm>
            <a:custGeom>
              <a:avLst/>
              <a:gdLst/>
              <a:ahLst/>
              <a:cxnLst/>
              <a:rect r="r" b="b" t="t" l="l"/>
              <a:pathLst>
                <a:path h="185801" w="183896">
                  <a:moveTo>
                    <a:pt x="0" y="185801"/>
                  </a:moveTo>
                  <a:lnTo>
                    <a:pt x="0" y="0"/>
                  </a:lnTo>
                  <a:lnTo>
                    <a:pt x="183896" y="185801"/>
                  </a:lnTo>
                  <a:close/>
                </a:path>
              </a:pathLst>
            </a:custGeom>
            <a:solidFill>
              <a:srgbClr val="6ECFE0"/>
            </a:solidFill>
          </p:spPr>
        </p:sp>
      </p:grpSp>
      <p:grpSp>
        <p:nvGrpSpPr>
          <p:cNvPr name="Group 33" id="33"/>
          <p:cNvGrpSpPr/>
          <p:nvPr/>
        </p:nvGrpSpPr>
        <p:grpSpPr>
          <a:xfrm rot="0">
            <a:off x="2786053" y="1490815"/>
            <a:ext cx="137903" cy="139332"/>
            <a:chOff x="0" y="0"/>
            <a:chExt cx="183871" cy="185776"/>
          </a:xfrm>
        </p:grpSpPr>
        <p:sp>
          <p:nvSpPr>
            <p:cNvPr name="Freeform 34" id="34"/>
            <p:cNvSpPr/>
            <p:nvPr/>
          </p:nvSpPr>
          <p:spPr>
            <a:xfrm flipH="false" flipV="false" rot="0">
              <a:off x="0" y="0"/>
              <a:ext cx="183896" cy="185801"/>
            </a:xfrm>
            <a:custGeom>
              <a:avLst/>
              <a:gdLst/>
              <a:ahLst/>
              <a:cxnLst/>
              <a:rect r="r" b="b" t="t" l="l"/>
              <a:pathLst>
                <a:path h="185801" w="183896">
                  <a:moveTo>
                    <a:pt x="0" y="185801"/>
                  </a:moveTo>
                  <a:lnTo>
                    <a:pt x="0" y="0"/>
                  </a:lnTo>
                  <a:lnTo>
                    <a:pt x="183896" y="185801"/>
                  </a:lnTo>
                  <a:close/>
                </a:path>
              </a:pathLst>
            </a:custGeom>
            <a:solidFill>
              <a:srgbClr val="436AB3"/>
            </a:solidFill>
          </p:spPr>
        </p:sp>
      </p:grpSp>
      <p:grpSp>
        <p:nvGrpSpPr>
          <p:cNvPr name="Group 35" id="35"/>
          <p:cNvGrpSpPr/>
          <p:nvPr/>
        </p:nvGrpSpPr>
        <p:grpSpPr>
          <a:xfrm rot="0">
            <a:off x="2874074" y="5699417"/>
            <a:ext cx="137903" cy="139332"/>
            <a:chOff x="0" y="0"/>
            <a:chExt cx="183871" cy="185776"/>
          </a:xfrm>
        </p:grpSpPr>
        <p:sp>
          <p:nvSpPr>
            <p:cNvPr name="Freeform 36" id="36"/>
            <p:cNvSpPr/>
            <p:nvPr/>
          </p:nvSpPr>
          <p:spPr>
            <a:xfrm flipH="false" flipV="false" rot="0">
              <a:off x="0" y="0"/>
              <a:ext cx="183896" cy="185801"/>
            </a:xfrm>
            <a:custGeom>
              <a:avLst/>
              <a:gdLst/>
              <a:ahLst/>
              <a:cxnLst/>
              <a:rect r="r" b="b" t="t" l="l"/>
              <a:pathLst>
                <a:path h="185801" w="183896">
                  <a:moveTo>
                    <a:pt x="0" y="185801"/>
                  </a:moveTo>
                  <a:lnTo>
                    <a:pt x="0" y="0"/>
                  </a:lnTo>
                  <a:lnTo>
                    <a:pt x="183896" y="185801"/>
                  </a:lnTo>
                  <a:close/>
                </a:path>
              </a:pathLst>
            </a:custGeom>
            <a:solidFill>
              <a:srgbClr val="939598"/>
            </a:solidFill>
          </p:spPr>
        </p:sp>
      </p:grpSp>
      <p:grpSp>
        <p:nvGrpSpPr>
          <p:cNvPr name="Group 37" id="37"/>
          <p:cNvGrpSpPr/>
          <p:nvPr/>
        </p:nvGrpSpPr>
        <p:grpSpPr>
          <a:xfrm rot="0">
            <a:off x="511950" y="7400925"/>
            <a:ext cx="17672723" cy="1804921"/>
            <a:chOff x="0" y="0"/>
            <a:chExt cx="23563631" cy="2406561"/>
          </a:xfrm>
        </p:grpSpPr>
        <p:sp>
          <p:nvSpPr>
            <p:cNvPr name="Freeform 38" id="38"/>
            <p:cNvSpPr/>
            <p:nvPr/>
          </p:nvSpPr>
          <p:spPr>
            <a:xfrm flipH="false" flipV="false" rot="0">
              <a:off x="0" y="0"/>
              <a:ext cx="23563631" cy="2406543"/>
            </a:xfrm>
            <a:custGeom>
              <a:avLst/>
              <a:gdLst/>
              <a:ahLst/>
              <a:cxnLst/>
              <a:rect r="r" b="b" t="t" l="l"/>
              <a:pathLst>
                <a:path h="2406543" w="23563631">
                  <a:moveTo>
                    <a:pt x="0" y="0"/>
                  </a:moveTo>
                  <a:lnTo>
                    <a:pt x="23563631" y="0"/>
                  </a:lnTo>
                  <a:lnTo>
                    <a:pt x="23563631" y="2406543"/>
                  </a:lnTo>
                  <a:lnTo>
                    <a:pt x="0" y="2406543"/>
                  </a:lnTo>
                  <a:close/>
                </a:path>
              </a:pathLst>
            </a:custGeom>
            <a:solidFill>
              <a:srgbClr val="E6E7E8"/>
            </a:solidFill>
          </p:spPr>
        </p:sp>
      </p:grpSp>
      <p:grpSp>
        <p:nvGrpSpPr>
          <p:cNvPr name="Group 39" id="39"/>
          <p:cNvGrpSpPr/>
          <p:nvPr/>
        </p:nvGrpSpPr>
        <p:grpSpPr>
          <a:xfrm rot="-10800000">
            <a:off x="1124093" y="7571013"/>
            <a:ext cx="1730912" cy="1634833"/>
            <a:chOff x="0" y="0"/>
            <a:chExt cx="2307882" cy="2179777"/>
          </a:xfrm>
        </p:grpSpPr>
        <p:sp>
          <p:nvSpPr>
            <p:cNvPr name="Freeform 40" id="40"/>
            <p:cNvSpPr/>
            <p:nvPr/>
          </p:nvSpPr>
          <p:spPr>
            <a:xfrm flipH="false" flipV="false" rot="0">
              <a:off x="0" y="0"/>
              <a:ext cx="2307844" cy="2179828"/>
            </a:xfrm>
            <a:custGeom>
              <a:avLst/>
              <a:gdLst/>
              <a:ahLst/>
              <a:cxnLst/>
              <a:rect r="r" b="b" t="t" l="l"/>
              <a:pathLst>
                <a:path h="2179828" w="2307844">
                  <a:moveTo>
                    <a:pt x="2307844" y="2179828"/>
                  </a:moveTo>
                  <a:lnTo>
                    <a:pt x="0" y="2179828"/>
                  </a:lnTo>
                  <a:lnTo>
                    <a:pt x="0" y="274574"/>
                  </a:lnTo>
                  <a:lnTo>
                    <a:pt x="1153922" y="0"/>
                  </a:lnTo>
                  <a:lnTo>
                    <a:pt x="2307844" y="274574"/>
                  </a:lnTo>
                  <a:close/>
                </a:path>
              </a:pathLst>
            </a:custGeom>
            <a:solidFill>
              <a:srgbClr val="284181"/>
            </a:solidFill>
          </p:spPr>
        </p:sp>
      </p:grpSp>
      <p:grpSp>
        <p:nvGrpSpPr>
          <p:cNvPr name="Group 41" id="41"/>
          <p:cNvGrpSpPr/>
          <p:nvPr/>
        </p:nvGrpSpPr>
        <p:grpSpPr>
          <a:xfrm rot="0">
            <a:off x="1292962" y="7775896"/>
            <a:ext cx="1393174" cy="1226125"/>
            <a:chOff x="0" y="0"/>
            <a:chExt cx="1857565" cy="1634833"/>
          </a:xfrm>
        </p:grpSpPr>
        <p:sp>
          <p:nvSpPr>
            <p:cNvPr name="Freeform 42" id="42"/>
            <p:cNvSpPr/>
            <p:nvPr/>
          </p:nvSpPr>
          <p:spPr>
            <a:xfrm flipH="false" flipV="false" rot="0">
              <a:off x="0" y="0"/>
              <a:ext cx="1857502" cy="1634744"/>
            </a:xfrm>
            <a:custGeom>
              <a:avLst/>
              <a:gdLst/>
              <a:ahLst/>
              <a:cxnLst/>
              <a:rect r="r" b="b" t="t" l="l"/>
              <a:pathLst>
                <a:path h="1634744" w="1857502">
                  <a:moveTo>
                    <a:pt x="0" y="817372"/>
                  </a:moveTo>
                  <a:cubicBezTo>
                    <a:pt x="0" y="366014"/>
                    <a:pt x="415798" y="0"/>
                    <a:pt x="928751" y="0"/>
                  </a:cubicBezTo>
                  <a:cubicBezTo>
                    <a:pt x="1441704" y="0"/>
                    <a:pt x="1857502" y="366014"/>
                    <a:pt x="1857502" y="817372"/>
                  </a:cubicBezTo>
                  <a:cubicBezTo>
                    <a:pt x="1857502" y="1268730"/>
                    <a:pt x="1441704" y="1634744"/>
                    <a:pt x="928751" y="1634744"/>
                  </a:cubicBezTo>
                  <a:cubicBezTo>
                    <a:pt x="415798" y="1634744"/>
                    <a:pt x="0" y="1268857"/>
                    <a:pt x="0" y="817372"/>
                  </a:cubicBezTo>
                  <a:close/>
                </a:path>
              </a:pathLst>
            </a:custGeom>
            <a:solidFill>
              <a:srgbClr val="FFFFFF"/>
            </a:solidFill>
          </p:spPr>
        </p:sp>
        <p:sp>
          <p:nvSpPr>
            <p:cNvPr name="TextBox 43" id="43"/>
            <p:cNvSpPr txBox="true"/>
            <p:nvPr/>
          </p:nvSpPr>
          <p:spPr>
            <a:xfrm>
              <a:off x="0" y="-9525"/>
              <a:ext cx="1857565" cy="1644358"/>
            </a:xfrm>
            <a:prstGeom prst="rect">
              <a:avLst/>
            </a:prstGeom>
          </p:spPr>
          <p:txBody>
            <a:bodyPr anchor="ctr" rtlCol="false" tIns="50800" lIns="50800" bIns="50800" rIns="50800"/>
            <a:lstStyle/>
            <a:p>
              <a:pPr algn="ctr">
                <a:lnSpc>
                  <a:spcPts val="5040"/>
                </a:lnSpc>
              </a:pPr>
              <a:r>
                <a:rPr lang="en-US" b="true" sz="4200">
                  <a:solidFill>
                    <a:srgbClr val="284181"/>
                  </a:solidFill>
                  <a:latin typeface="Trebuchet MS Bold"/>
                  <a:ea typeface="Trebuchet MS Bold"/>
                  <a:cs typeface="Trebuchet MS Bold"/>
                  <a:sym typeface="Trebuchet MS Bold"/>
                </a:rPr>
                <a:t>04</a:t>
              </a:r>
            </a:p>
          </p:txBody>
        </p:sp>
      </p:grpSp>
      <p:sp>
        <p:nvSpPr>
          <p:cNvPr name="TextBox 44" id="44"/>
          <p:cNvSpPr txBox="true"/>
          <p:nvPr/>
        </p:nvSpPr>
        <p:spPr>
          <a:xfrm rot="0">
            <a:off x="3035146" y="7577961"/>
            <a:ext cx="15252854" cy="1469898"/>
          </a:xfrm>
          <a:prstGeom prst="rect">
            <a:avLst/>
          </a:prstGeom>
        </p:spPr>
        <p:txBody>
          <a:bodyPr anchor="t" rtlCol="false" tIns="0" lIns="0" bIns="0" rIns="0">
            <a:spAutoFit/>
          </a:bodyPr>
          <a:lstStyle/>
          <a:p>
            <a:pPr algn="l">
              <a:lnSpc>
                <a:spcPts val="2916"/>
              </a:lnSpc>
            </a:pPr>
            <a:r>
              <a:rPr lang="en-US" b="true" sz="2700" i="true">
                <a:solidFill>
                  <a:srgbClr val="284181"/>
                </a:solidFill>
                <a:latin typeface="Trebuchet MS Bold Italics"/>
                <a:ea typeface="Trebuchet MS Bold Italics"/>
                <a:cs typeface="Trebuchet MS Bold Italics"/>
                <a:sym typeface="Trebuchet MS Bold Italics"/>
              </a:rPr>
              <a:t>  Accès au registre n</a:t>
            </a:r>
            <a:r>
              <a:rPr lang="en-US" b="true" sz="2700" i="true">
                <a:solidFill>
                  <a:srgbClr val="284181"/>
                </a:solidFill>
                <a:latin typeface="Trebuchet MS Bold Italics"/>
                <a:ea typeface="Trebuchet MS Bold Italics"/>
                <a:cs typeface="Trebuchet MS Bold Italics"/>
                <a:sym typeface="Trebuchet MS Bold Italics"/>
              </a:rPr>
              <a:t>ational d'identité (ANID). Partenariat avec les opérateurs Mobile Money. Adoption par les collectionneurs et corporations cotonnières. Cadre</a:t>
            </a:r>
          </a:p>
          <a:p>
            <a:pPr algn="l">
              <a:lnSpc>
                <a:spcPts val="2916"/>
              </a:lnSpc>
            </a:pPr>
            <a:r>
              <a:rPr lang="en-US" b="true" sz="2700" i="true">
                <a:solidFill>
                  <a:srgbClr val="284181"/>
                </a:solidFill>
                <a:latin typeface="Trebuchet MS Bold Italics"/>
                <a:ea typeface="Trebuchet MS Bold Italics"/>
                <a:cs typeface="Trebuchet MS Bold Italics"/>
                <a:sym typeface="Trebuchet MS Bold Italics"/>
              </a:rPr>
              <a:t>  réglementaire pour l'usage des données biométriques. Infrastructure MOSIP et  eidStack pour l'émission de credentials vérifiables.</a:t>
            </a:r>
          </a:p>
        </p:txBody>
      </p:sp>
      <p:grpSp>
        <p:nvGrpSpPr>
          <p:cNvPr name="Group 45" id="45"/>
          <p:cNvGrpSpPr/>
          <p:nvPr/>
        </p:nvGrpSpPr>
        <p:grpSpPr>
          <a:xfrm rot="0">
            <a:off x="2855004" y="7573775"/>
            <a:ext cx="137903" cy="139332"/>
            <a:chOff x="0" y="0"/>
            <a:chExt cx="183871" cy="185776"/>
          </a:xfrm>
        </p:grpSpPr>
        <p:sp>
          <p:nvSpPr>
            <p:cNvPr name="Freeform 46" id="46"/>
            <p:cNvSpPr/>
            <p:nvPr/>
          </p:nvSpPr>
          <p:spPr>
            <a:xfrm flipH="false" flipV="false" rot="0">
              <a:off x="0" y="0"/>
              <a:ext cx="183896" cy="185801"/>
            </a:xfrm>
            <a:custGeom>
              <a:avLst/>
              <a:gdLst/>
              <a:ahLst/>
              <a:cxnLst/>
              <a:rect r="r" b="b" t="t" l="l"/>
              <a:pathLst>
                <a:path h="185801" w="183896">
                  <a:moveTo>
                    <a:pt x="0" y="185801"/>
                  </a:moveTo>
                  <a:lnTo>
                    <a:pt x="0" y="0"/>
                  </a:lnTo>
                  <a:lnTo>
                    <a:pt x="183896" y="185801"/>
                  </a:lnTo>
                  <a:close/>
                </a:path>
              </a:pathLst>
            </a:custGeom>
            <a:solidFill>
              <a:srgbClr val="436AB3"/>
            </a:solidFill>
          </p:spPr>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140">
            <a:off x="654872" y="9575359"/>
            <a:ext cx="11852405" cy="0"/>
          </a:xfrm>
          <a:prstGeom prst="line">
            <a:avLst/>
          </a:prstGeom>
          <a:ln cap="rnd" w="9525">
            <a:solidFill>
              <a:srgbClr val="284181"/>
            </a:solidFill>
            <a:prstDash val="solid"/>
            <a:headEnd type="none" len="sm" w="sm"/>
            <a:tailEnd type="none" len="sm" w="sm"/>
          </a:ln>
        </p:spPr>
      </p:sp>
      <p:sp>
        <p:nvSpPr>
          <p:cNvPr name="AutoShape 3" id="3"/>
          <p:cNvSpPr/>
          <p:nvPr/>
        </p:nvSpPr>
        <p:spPr>
          <a:xfrm rot="10020">
            <a:off x="12686767" y="9575359"/>
            <a:ext cx="4889106" cy="0"/>
          </a:xfrm>
          <a:prstGeom prst="line">
            <a:avLst/>
          </a:prstGeom>
          <a:ln cap="rnd" w="9525">
            <a:solidFill>
              <a:srgbClr val="00BFDF"/>
            </a:solidFill>
            <a:prstDash val="solid"/>
            <a:headEnd type="none" len="sm" w="sm"/>
            <a:tailEnd type="none" len="sm" w="sm"/>
          </a:ln>
        </p:spPr>
      </p:sp>
      <p:sp>
        <p:nvSpPr>
          <p:cNvPr name="Freeform 4" id="4"/>
          <p:cNvSpPr/>
          <p:nvPr/>
        </p:nvSpPr>
        <p:spPr>
          <a:xfrm flipH="false" flipV="false" rot="0">
            <a:off x="681361" y="1255811"/>
            <a:ext cx="16948287" cy="7930995"/>
          </a:xfrm>
          <a:custGeom>
            <a:avLst/>
            <a:gdLst/>
            <a:ahLst/>
            <a:cxnLst/>
            <a:rect r="r" b="b" t="t" l="l"/>
            <a:pathLst>
              <a:path h="7930995" w="16948287">
                <a:moveTo>
                  <a:pt x="0" y="0"/>
                </a:moveTo>
                <a:lnTo>
                  <a:pt x="16948287" y="0"/>
                </a:lnTo>
                <a:lnTo>
                  <a:pt x="16948287" y="7930995"/>
                </a:lnTo>
                <a:lnTo>
                  <a:pt x="0" y="7930995"/>
                </a:lnTo>
                <a:lnTo>
                  <a:pt x="0" y="0"/>
                </a:lnTo>
                <a:close/>
              </a:path>
            </a:pathLst>
          </a:custGeom>
          <a:blipFill>
            <a:blip r:embed="rId2"/>
            <a:stretch>
              <a:fillRect l="0" t="-38415" r="0" b="-3960"/>
            </a:stretch>
          </a:blipFill>
        </p:spPr>
      </p:sp>
      <p:sp>
        <p:nvSpPr>
          <p:cNvPr name="TextBox 5" id="5"/>
          <p:cNvSpPr txBox="true"/>
          <p:nvPr/>
        </p:nvSpPr>
        <p:spPr>
          <a:xfrm rot="0">
            <a:off x="681361" y="9781699"/>
            <a:ext cx="960149" cy="273901"/>
          </a:xfrm>
          <a:prstGeom prst="rect">
            <a:avLst/>
          </a:prstGeom>
        </p:spPr>
        <p:txBody>
          <a:bodyPr anchor="t" rtlCol="false" tIns="0" lIns="0" bIns="0" rIns="0">
            <a:spAutoFit/>
          </a:bodyPr>
          <a:lstStyle/>
          <a:p>
            <a:pPr algn="l">
              <a:lnSpc>
                <a:spcPts val="1620"/>
              </a:lnSpc>
            </a:pPr>
            <a:r>
              <a:rPr lang="en-US" sz="1350">
                <a:solidFill>
                  <a:srgbClr val="595959"/>
                </a:solidFill>
                <a:latin typeface="Trebuchet MS"/>
                <a:ea typeface="Trebuchet MS"/>
                <a:cs typeface="Trebuchet MS"/>
                <a:sym typeface="Trebuchet MS"/>
              </a:rPr>
              <a:t>‹#›</a:t>
            </a:r>
          </a:p>
        </p:txBody>
      </p:sp>
      <p:sp>
        <p:nvSpPr>
          <p:cNvPr name="TextBox 6" id="6"/>
          <p:cNvSpPr txBox="true"/>
          <p:nvPr/>
        </p:nvSpPr>
        <p:spPr>
          <a:xfrm rot="0">
            <a:off x="5261715" y="9851822"/>
            <a:ext cx="7764570" cy="203778"/>
          </a:xfrm>
          <a:prstGeom prst="rect">
            <a:avLst/>
          </a:prstGeom>
        </p:spPr>
        <p:txBody>
          <a:bodyPr anchor="t" rtlCol="false" tIns="0" lIns="0" bIns="0" rIns="0">
            <a:spAutoFit/>
          </a:bodyPr>
          <a:lstStyle/>
          <a:p>
            <a:pPr algn="ctr">
              <a:lnSpc>
                <a:spcPts val="1296"/>
              </a:lnSpc>
            </a:pPr>
            <a:r>
              <a:rPr lang="en-US" sz="1200">
                <a:solidFill>
                  <a:srgbClr val="595959"/>
                </a:solidFill>
                <a:latin typeface="Trebuchet MS"/>
                <a:ea typeface="Trebuchet MS"/>
                <a:cs typeface="Trebuchet MS"/>
                <a:sym typeface="Trebuchet MS"/>
              </a:rPr>
              <a:t> All rights reserved. This document is proprietary and confidential.</a:t>
            </a:r>
          </a:p>
        </p:txBody>
      </p:sp>
      <p:sp>
        <p:nvSpPr>
          <p:cNvPr name="TextBox 7" id="7"/>
          <p:cNvSpPr txBox="true"/>
          <p:nvPr/>
        </p:nvSpPr>
        <p:spPr>
          <a:xfrm rot="0">
            <a:off x="603371" y="373380"/>
            <a:ext cx="4475708" cy="501015"/>
          </a:xfrm>
          <a:prstGeom prst="rect">
            <a:avLst/>
          </a:prstGeom>
        </p:spPr>
        <p:txBody>
          <a:bodyPr anchor="t" rtlCol="false" tIns="0" lIns="0" bIns="0" rIns="0">
            <a:spAutoFit/>
          </a:bodyPr>
          <a:lstStyle/>
          <a:p>
            <a:pPr algn="l">
              <a:lnSpc>
                <a:spcPts val="3779"/>
              </a:lnSpc>
            </a:pPr>
            <a:r>
              <a:rPr lang="en-US" b="true" sz="3499">
                <a:solidFill>
                  <a:srgbClr val="284181"/>
                </a:solidFill>
                <a:latin typeface="Trebuchet MS Bold"/>
                <a:ea typeface="Trebuchet MS Bold"/>
                <a:cs typeface="Trebuchet MS Bold"/>
                <a:sym typeface="Trebuchet MS Bold"/>
              </a:rPr>
              <a:t>FLUX D'I</a:t>
            </a:r>
            <a:r>
              <a:rPr lang="en-US" b="true" sz="3499">
                <a:solidFill>
                  <a:srgbClr val="284181"/>
                </a:solidFill>
                <a:latin typeface="Trebuchet MS Bold"/>
                <a:ea typeface="Trebuchet MS Bold"/>
                <a:cs typeface="Trebuchet MS Bold"/>
                <a:sym typeface="Trebuchet MS Bold"/>
              </a:rPr>
              <a:t>NFORMATION</a:t>
            </a:r>
          </a:p>
        </p:txBody>
      </p:sp>
      <p:sp>
        <p:nvSpPr>
          <p:cNvPr name="TextBox 8" id="8"/>
          <p:cNvSpPr txBox="true"/>
          <p:nvPr/>
        </p:nvSpPr>
        <p:spPr>
          <a:xfrm rot="0">
            <a:off x="5261715" y="9851822"/>
            <a:ext cx="7764570" cy="139065"/>
          </a:xfrm>
          <a:prstGeom prst="rect">
            <a:avLst/>
          </a:prstGeom>
        </p:spPr>
        <p:txBody>
          <a:bodyPr anchor="t" rtlCol="false" tIns="0" lIns="0" bIns="0" rIns="0">
            <a:spAutoFit/>
          </a:bodyPr>
          <a:lstStyle/>
          <a:p>
            <a:pPr algn="ctr">
              <a:lnSpc>
                <a:spcPts val="1080"/>
              </a:lnSpc>
            </a:pPr>
            <a:r>
              <a:rPr lang="en-US" sz="1000">
                <a:solidFill>
                  <a:srgbClr val="595959"/>
                </a:solidFill>
                <a:latin typeface="Trebuchet MS"/>
                <a:ea typeface="Trebuchet MS"/>
                <a:cs typeface="Trebuchet MS"/>
                <a:sym typeface="Trebuchet MS"/>
              </a:rPr>
              <a:t> All rights reserved. This document is proprietary and confidential.</a:t>
            </a:r>
          </a:p>
        </p:txBody>
      </p:sp>
    </p:spTree>
  </p:cSld>
  <p:clrMapOvr>
    <a:masterClrMapping/>
  </p:clrMapOvr>
</p:sld>
</file>

<file path=ppt/slides/slide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nvSpPr>
        <p:spPr>
          <a:xfrm rot="4140">
            <a:off x="654872" y="9575359"/>
            <a:ext cx="11852405" cy="0"/>
          </a:xfrm>
          <a:prstGeom prst="line">
            <a:avLst/>
          </a:prstGeom>
          <a:ln cap="rnd" w="9525">
            <a:solidFill>
              <a:srgbClr val="284181"/>
            </a:solidFill>
            <a:prstDash val="solid"/>
            <a:headEnd type="none" len="sm" w="sm"/>
            <a:tailEnd type="none" len="sm" w="sm"/>
          </a:ln>
        </p:spPr>
      </p:sp>
      <p:sp>
        <p:nvSpPr>
          <p:cNvPr name="AutoShape 3" id="3"/>
          <p:cNvSpPr/>
          <p:nvPr/>
        </p:nvSpPr>
        <p:spPr>
          <a:xfrm rot="10020">
            <a:off x="12686767" y="9575359"/>
            <a:ext cx="4889106" cy="0"/>
          </a:xfrm>
          <a:prstGeom prst="line">
            <a:avLst/>
          </a:prstGeom>
          <a:ln cap="rnd" w="9525">
            <a:solidFill>
              <a:srgbClr val="00BFDF"/>
            </a:solidFill>
            <a:prstDash val="solid"/>
            <a:headEnd type="none" len="sm" w="sm"/>
            <a:tailEnd type="none" len="sm" w="sm"/>
          </a:ln>
        </p:spPr>
      </p:sp>
      <p:sp>
        <p:nvSpPr>
          <p:cNvPr name="TextBox 4" id="4"/>
          <p:cNvSpPr txBox="true"/>
          <p:nvPr/>
        </p:nvSpPr>
        <p:spPr>
          <a:xfrm rot="0">
            <a:off x="681361" y="9781699"/>
            <a:ext cx="960149" cy="273901"/>
          </a:xfrm>
          <a:prstGeom prst="rect">
            <a:avLst/>
          </a:prstGeom>
        </p:spPr>
        <p:txBody>
          <a:bodyPr anchor="t" rtlCol="false" tIns="0" lIns="0" bIns="0" rIns="0">
            <a:spAutoFit/>
          </a:bodyPr>
          <a:lstStyle/>
          <a:p>
            <a:pPr algn="l">
              <a:lnSpc>
                <a:spcPts val="1620"/>
              </a:lnSpc>
            </a:pPr>
            <a:r>
              <a:rPr lang="en-US" sz="1350">
                <a:solidFill>
                  <a:srgbClr val="595959"/>
                </a:solidFill>
                <a:latin typeface="Trebuchet MS"/>
                <a:ea typeface="Trebuchet MS"/>
                <a:cs typeface="Trebuchet MS"/>
                <a:sym typeface="Trebuchet MS"/>
              </a:rPr>
              <a:t>‹#›</a:t>
            </a:r>
          </a:p>
        </p:txBody>
      </p:sp>
      <p:sp>
        <p:nvSpPr>
          <p:cNvPr name="TextBox 5" id="5"/>
          <p:cNvSpPr txBox="true"/>
          <p:nvPr/>
        </p:nvSpPr>
        <p:spPr>
          <a:xfrm rot="0">
            <a:off x="5261715" y="9851822"/>
            <a:ext cx="7764570" cy="203778"/>
          </a:xfrm>
          <a:prstGeom prst="rect">
            <a:avLst/>
          </a:prstGeom>
        </p:spPr>
        <p:txBody>
          <a:bodyPr anchor="t" rtlCol="false" tIns="0" lIns="0" bIns="0" rIns="0">
            <a:spAutoFit/>
          </a:bodyPr>
          <a:lstStyle/>
          <a:p>
            <a:pPr algn="ctr">
              <a:lnSpc>
                <a:spcPts val="1296"/>
              </a:lnSpc>
            </a:pPr>
            <a:r>
              <a:rPr lang="en-US" sz="1200">
                <a:solidFill>
                  <a:srgbClr val="595959"/>
                </a:solidFill>
                <a:latin typeface="Trebuchet MS"/>
                <a:ea typeface="Trebuchet MS"/>
                <a:cs typeface="Trebuchet MS"/>
                <a:sym typeface="Trebuchet MS"/>
              </a:rPr>
              <a:t> All rights reserved. This document is proprietary and confidential.</a:t>
            </a:r>
          </a:p>
        </p:txBody>
      </p:sp>
      <p:sp>
        <p:nvSpPr>
          <p:cNvPr name="TextBox 6" id="6"/>
          <p:cNvSpPr txBox="true"/>
          <p:nvPr/>
        </p:nvSpPr>
        <p:spPr>
          <a:xfrm rot="0">
            <a:off x="603371" y="373380"/>
            <a:ext cx="5004346" cy="501015"/>
          </a:xfrm>
          <a:prstGeom prst="rect">
            <a:avLst/>
          </a:prstGeom>
        </p:spPr>
        <p:txBody>
          <a:bodyPr anchor="t" rtlCol="false" tIns="0" lIns="0" bIns="0" rIns="0">
            <a:spAutoFit/>
          </a:bodyPr>
          <a:lstStyle/>
          <a:p>
            <a:pPr algn="l">
              <a:lnSpc>
                <a:spcPts val="3779"/>
              </a:lnSpc>
            </a:pPr>
            <a:r>
              <a:rPr lang="en-US" b="true" sz="3499">
                <a:solidFill>
                  <a:srgbClr val="284181"/>
                </a:solidFill>
                <a:latin typeface="Trebuchet MS Bold"/>
                <a:ea typeface="Trebuchet MS Bold"/>
                <a:cs typeface="Trebuchet MS Bold"/>
                <a:sym typeface="Trebuchet MS Bold"/>
              </a:rPr>
              <a:t>PA</a:t>
            </a:r>
            <a:r>
              <a:rPr lang="en-US" b="true" sz="3499">
                <a:solidFill>
                  <a:srgbClr val="284181"/>
                </a:solidFill>
                <a:latin typeface="Trebuchet MS Bold"/>
                <a:ea typeface="Trebuchet MS Bold"/>
                <a:cs typeface="Trebuchet MS Bold"/>
                <a:sym typeface="Trebuchet MS Bold"/>
              </a:rPr>
              <a:t>RCOURS UTILISATEUR</a:t>
            </a:r>
          </a:p>
        </p:txBody>
      </p:sp>
      <p:sp>
        <p:nvSpPr>
          <p:cNvPr name="TextBox 7" id="7"/>
          <p:cNvSpPr txBox="true"/>
          <p:nvPr/>
        </p:nvSpPr>
        <p:spPr>
          <a:xfrm rot="0">
            <a:off x="603371" y="1081447"/>
            <a:ext cx="17385941" cy="8467725"/>
          </a:xfrm>
          <a:prstGeom prst="rect">
            <a:avLst/>
          </a:prstGeom>
        </p:spPr>
        <p:txBody>
          <a:bodyPr anchor="t" rtlCol="false" tIns="0" lIns="0" bIns="0" rIns="0">
            <a:spAutoFit/>
          </a:bodyPr>
          <a:lstStyle/>
          <a:p>
            <a:pPr algn="l">
              <a:lnSpc>
                <a:spcPts val="2819"/>
              </a:lnSpc>
            </a:pPr>
            <a:r>
              <a:rPr lang="en-US" sz="2349" i="true">
                <a:solidFill>
                  <a:srgbClr val="595959"/>
                </a:solidFill>
                <a:latin typeface="Trebuchet MS Italics"/>
                <a:ea typeface="Trebuchet MS Italics"/>
                <a:cs typeface="Trebuchet MS Italics"/>
                <a:sym typeface="Trebuchet MS Italics"/>
              </a:rPr>
              <a:t>  Étape 1 : Arr</a:t>
            </a:r>
            <a:r>
              <a:rPr lang="en-US" sz="2349" i="true">
                <a:solidFill>
                  <a:srgbClr val="595959"/>
                </a:solidFill>
                <a:latin typeface="Trebuchet MS Italics"/>
                <a:ea typeface="Trebuchet MS Italics"/>
                <a:cs typeface="Trebuchet MS Italics"/>
                <a:sym typeface="Trebuchet MS Italics"/>
              </a:rPr>
              <a:t>ivée au point de collecte</a:t>
            </a:r>
          </a:p>
          <a:p>
            <a:pPr algn="l">
              <a:lnSpc>
                <a:spcPts val="2819"/>
              </a:lnSpc>
            </a:pPr>
            <a:r>
              <a:rPr lang="en-US" sz="2349" i="true">
                <a:solidFill>
                  <a:srgbClr val="595959"/>
                </a:solidFill>
                <a:latin typeface="Trebuchet MS Italics"/>
                <a:ea typeface="Trebuchet MS Italics"/>
                <a:cs typeface="Trebuchet MS Italics"/>
                <a:sym typeface="Trebuchet MS Italics"/>
              </a:rPr>
              <a:t>  L'agriculteur Koffi arrive au point de collecte de Banikoara avec son coton récolté.</a:t>
            </a:r>
          </a:p>
          <a:p>
            <a:pPr algn="l">
              <a:lnSpc>
                <a:spcPts val="2819"/>
              </a:lnSpc>
            </a:pPr>
          </a:p>
          <a:p>
            <a:pPr algn="l">
              <a:lnSpc>
                <a:spcPts val="2819"/>
              </a:lnSpc>
            </a:pPr>
            <a:r>
              <a:rPr lang="en-US" sz="2349" i="true">
                <a:solidFill>
                  <a:srgbClr val="595959"/>
                </a:solidFill>
                <a:latin typeface="Trebuchet MS Italics"/>
                <a:ea typeface="Trebuchet MS Italics"/>
                <a:cs typeface="Trebuchet MS Italics"/>
                <a:sym typeface="Trebuchet MS Italics"/>
              </a:rPr>
              <a:t>  Étape 2 : Vérification de l'application</a:t>
            </a:r>
          </a:p>
          <a:p>
            <a:pPr algn="l">
              <a:lnSpc>
                <a:spcPts val="2819"/>
              </a:lnSpc>
            </a:pPr>
            <a:r>
              <a:rPr lang="en-US" sz="2349" i="true">
                <a:solidFill>
                  <a:srgbClr val="595959"/>
                </a:solidFill>
                <a:latin typeface="Trebuchet MS Italics"/>
                <a:ea typeface="Trebuchet MS Italics"/>
                <a:cs typeface="Trebuchet MS Italics"/>
                <a:sym typeface="Trebuchet MS Italics"/>
              </a:rPr>
              <a:t>  Le collectionneur ouvre l'application CottonPay sur sa tablette.</a:t>
            </a:r>
          </a:p>
          <a:p>
            <a:pPr algn="l">
              <a:lnSpc>
                <a:spcPts val="2819"/>
              </a:lnSpc>
            </a:pPr>
          </a:p>
          <a:p>
            <a:pPr algn="l">
              <a:lnSpc>
                <a:spcPts val="2819"/>
              </a:lnSpc>
            </a:pPr>
            <a:r>
              <a:rPr lang="en-US" sz="2349" i="true">
                <a:solidFill>
                  <a:srgbClr val="595959"/>
                </a:solidFill>
                <a:latin typeface="Trebuchet MS Italics"/>
                <a:ea typeface="Trebuchet MS Italics"/>
                <a:cs typeface="Trebuchet MS Italics"/>
                <a:sym typeface="Trebuchet MS Italics"/>
              </a:rPr>
              <a:t>  Étape 3 : Authentification de l'agriculteur</a:t>
            </a:r>
          </a:p>
          <a:p>
            <a:pPr algn="l">
              <a:lnSpc>
                <a:spcPts val="2819"/>
              </a:lnSpc>
            </a:pPr>
            <a:r>
              <a:rPr lang="en-US" sz="2349" i="true">
                <a:solidFill>
                  <a:srgbClr val="595959"/>
                </a:solidFill>
                <a:latin typeface="Trebuchet MS Italics"/>
                <a:ea typeface="Trebuchet MS Italics"/>
                <a:cs typeface="Trebuchet MS Italics"/>
                <a:sym typeface="Trebuchet MS Italics"/>
              </a:rPr>
              <a:t>  Le collectionneur saisit le NPI de Koffi. Koffi reçoit un code OTP sur son téléphone et le communique pour validation.</a:t>
            </a:r>
          </a:p>
          <a:p>
            <a:pPr algn="l">
              <a:lnSpc>
                <a:spcPts val="2819"/>
              </a:lnSpc>
            </a:pPr>
          </a:p>
          <a:p>
            <a:pPr algn="l">
              <a:lnSpc>
                <a:spcPts val="2819"/>
              </a:lnSpc>
            </a:pPr>
            <a:r>
              <a:rPr lang="en-US" sz="2349" i="true">
                <a:solidFill>
                  <a:srgbClr val="595959"/>
                </a:solidFill>
                <a:latin typeface="Trebuchet MS Italics"/>
                <a:ea typeface="Trebuchet MS Italics"/>
                <a:cs typeface="Trebuchet MS Italics"/>
                <a:sym typeface="Trebuchet MS Italics"/>
              </a:rPr>
              <a:t>  Étape 4 : Pesée et enregistrement</a:t>
            </a:r>
          </a:p>
          <a:p>
            <a:pPr algn="l">
              <a:lnSpc>
                <a:spcPts val="2819"/>
              </a:lnSpc>
            </a:pPr>
            <a:r>
              <a:rPr lang="en-US" sz="2349" i="true">
                <a:solidFill>
                  <a:srgbClr val="595959"/>
                </a:solidFill>
                <a:latin typeface="Trebuchet MS Italics"/>
                <a:ea typeface="Trebuchet MS Italics"/>
                <a:cs typeface="Trebuchet MS Italics"/>
                <a:sym typeface="Trebuchet MS Italics"/>
              </a:rPr>
              <a:t>  Le coton est pesé (220 kg). Le prix fixe s'affiche automatiquement (250 FCFA/kg). Le montant total est calculé (55 000 FCFA).</a:t>
            </a:r>
          </a:p>
          <a:p>
            <a:pPr algn="l">
              <a:lnSpc>
                <a:spcPts val="2819"/>
              </a:lnSpc>
            </a:pPr>
          </a:p>
          <a:p>
            <a:pPr algn="l">
              <a:lnSpc>
                <a:spcPts val="2819"/>
              </a:lnSpc>
            </a:pPr>
            <a:r>
              <a:rPr lang="en-US" sz="2349" i="true">
                <a:solidFill>
                  <a:srgbClr val="595959"/>
                </a:solidFill>
                <a:latin typeface="Trebuchet MS Italics"/>
                <a:ea typeface="Trebuchet MS Italics"/>
                <a:cs typeface="Trebuchet MS Italics"/>
                <a:sym typeface="Trebuchet MS Italics"/>
              </a:rPr>
              <a:t>  Étape 5 : Paiement instantané</a:t>
            </a:r>
          </a:p>
          <a:p>
            <a:pPr algn="l">
              <a:lnSpc>
                <a:spcPts val="2819"/>
              </a:lnSpc>
            </a:pPr>
            <a:r>
              <a:rPr lang="en-US" sz="2349" i="true">
                <a:solidFill>
                  <a:srgbClr val="595959"/>
                </a:solidFill>
                <a:latin typeface="Trebuchet MS Italics"/>
                <a:ea typeface="Trebuchet MS Italics"/>
                <a:cs typeface="Trebuchet MS Italics"/>
                <a:sym typeface="Trebuchet MS Italics"/>
              </a:rPr>
              <a:t>  Le système déclenche le paiement automatique. L'argent est transféré immédiatement sur le compte Mobile Money de Koffi.</a:t>
            </a:r>
          </a:p>
          <a:p>
            <a:pPr algn="l">
              <a:lnSpc>
                <a:spcPts val="2819"/>
              </a:lnSpc>
            </a:pPr>
          </a:p>
          <a:p>
            <a:pPr algn="l">
              <a:lnSpc>
                <a:spcPts val="2819"/>
              </a:lnSpc>
            </a:pPr>
            <a:r>
              <a:rPr lang="en-US" sz="2349" i="true">
                <a:solidFill>
                  <a:srgbClr val="595959"/>
                </a:solidFill>
                <a:latin typeface="Trebuchet MS Italics"/>
                <a:ea typeface="Trebuchet MS Italics"/>
                <a:cs typeface="Trebuchet MS Italics"/>
                <a:sym typeface="Trebuchet MS Italics"/>
              </a:rPr>
              <a:t>  Étape 6 : Génération du credential</a:t>
            </a:r>
          </a:p>
          <a:p>
            <a:pPr algn="l">
              <a:lnSpc>
                <a:spcPts val="2819"/>
              </a:lnSpc>
            </a:pPr>
            <a:r>
              <a:rPr lang="en-US" sz="2349" i="true">
                <a:solidFill>
                  <a:srgbClr val="595959"/>
                </a:solidFill>
                <a:latin typeface="Trebuchet MS Italics"/>
                <a:ea typeface="Trebuchet MS Italics"/>
                <a:cs typeface="Trebuchet MS Italics"/>
                <a:sym typeface="Trebuchet MS Italics"/>
              </a:rPr>
              <a:t>  Un credential vérifiable est créé automatiquement avec tous les détails de la transaction.</a:t>
            </a:r>
          </a:p>
          <a:p>
            <a:pPr algn="l">
              <a:lnSpc>
                <a:spcPts val="2819"/>
              </a:lnSpc>
            </a:pPr>
          </a:p>
          <a:p>
            <a:pPr algn="l">
              <a:lnSpc>
                <a:spcPts val="2819"/>
              </a:lnSpc>
            </a:pPr>
            <a:r>
              <a:rPr lang="en-US" sz="2349" i="true">
                <a:solidFill>
                  <a:srgbClr val="595959"/>
                </a:solidFill>
                <a:latin typeface="Trebuchet MS Italics"/>
                <a:ea typeface="Trebuchet MS Italics"/>
                <a:cs typeface="Trebuchet MS Italics"/>
                <a:sym typeface="Trebuchet MS Italics"/>
              </a:rPr>
              <a:t>  Étape 7 : Réception du credential</a:t>
            </a:r>
          </a:p>
          <a:p>
            <a:pPr algn="l">
              <a:lnSpc>
                <a:spcPts val="2819"/>
              </a:lnSpc>
            </a:pPr>
            <a:r>
              <a:rPr lang="en-US" sz="2349" i="true">
                <a:solidFill>
                  <a:srgbClr val="595959"/>
                </a:solidFill>
                <a:latin typeface="Trebuchet MS Italics"/>
                <a:ea typeface="Trebuchet MS Italics"/>
                <a:cs typeface="Trebuchet MS Italics"/>
                <a:sym typeface="Trebuchet MS Italics"/>
              </a:rPr>
              <a:t>  Un QR code s'affiche à l'écran. Koffi scanne le code avec son smartphone et reçoit son credential dans son wallet.</a:t>
            </a:r>
          </a:p>
          <a:p>
            <a:pPr algn="l">
              <a:lnSpc>
                <a:spcPts val="2819"/>
              </a:lnSpc>
            </a:pPr>
          </a:p>
          <a:p>
            <a:pPr algn="l">
              <a:lnSpc>
                <a:spcPts val="2819"/>
              </a:lnSpc>
            </a:pPr>
            <a:r>
              <a:rPr lang="en-US" sz="2349" i="true">
                <a:solidFill>
                  <a:srgbClr val="595959"/>
                </a:solidFill>
                <a:latin typeface="Trebuchet MS Italics"/>
                <a:ea typeface="Trebuchet MS Italics"/>
                <a:cs typeface="Trebuchet MS Italics"/>
                <a:sym typeface="Trebuchet MS Italics"/>
              </a:rPr>
              <a:t>  Étape 8 : Accès au crédit bancaire</a:t>
            </a:r>
          </a:p>
          <a:p>
            <a:pPr algn="l">
              <a:lnSpc>
                <a:spcPts val="2819"/>
              </a:lnSpc>
            </a:pPr>
            <a:r>
              <a:rPr lang="en-US" sz="2349" i="true">
                <a:solidFill>
                  <a:srgbClr val="595959"/>
                </a:solidFill>
                <a:latin typeface="Trebuchet MS Italics"/>
                <a:ea typeface="Trebuchet MS Italics"/>
                <a:cs typeface="Trebuchet MS Italics"/>
                <a:sym typeface="Trebuchet MS Italics"/>
              </a:rPr>
              <a:t>  Koffi présente son credential à sa banque comme preuve de revenu pour obtenir un prêt agricole.</a:t>
            </a:r>
          </a:p>
          <a:p>
            <a:pPr algn="l">
              <a:lnSpc>
                <a:spcPts val="2819"/>
              </a:lnSpc>
            </a:pP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140">
            <a:off x="654872" y="9575359"/>
            <a:ext cx="11852405" cy="0"/>
          </a:xfrm>
          <a:prstGeom prst="line">
            <a:avLst/>
          </a:prstGeom>
          <a:ln cap="rnd" w="9525">
            <a:solidFill>
              <a:srgbClr val="284181"/>
            </a:solidFill>
            <a:prstDash val="solid"/>
            <a:headEnd type="none" len="sm" w="sm"/>
            <a:tailEnd type="none" len="sm" w="sm"/>
          </a:ln>
        </p:spPr>
      </p:sp>
      <p:sp>
        <p:nvSpPr>
          <p:cNvPr name="AutoShape 3" id="3"/>
          <p:cNvSpPr/>
          <p:nvPr/>
        </p:nvSpPr>
        <p:spPr>
          <a:xfrm rot="10020">
            <a:off x="12686767" y="9575359"/>
            <a:ext cx="4889106" cy="0"/>
          </a:xfrm>
          <a:prstGeom prst="line">
            <a:avLst/>
          </a:prstGeom>
          <a:ln cap="rnd" w="9525">
            <a:solidFill>
              <a:srgbClr val="00BFDF"/>
            </a:solidFill>
            <a:prstDash val="solid"/>
            <a:headEnd type="none" len="sm" w="sm"/>
            <a:tailEnd type="none" len="sm" w="sm"/>
          </a:ln>
        </p:spPr>
      </p:sp>
      <p:sp>
        <p:nvSpPr>
          <p:cNvPr name="TextBox 4" id="4"/>
          <p:cNvSpPr txBox="true"/>
          <p:nvPr/>
        </p:nvSpPr>
        <p:spPr>
          <a:xfrm rot="0">
            <a:off x="681361" y="9781699"/>
            <a:ext cx="960149" cy="273901"/>
          </a:xfrm>
          <a:prstGeom prst="rect">
            <a:avLst/>
          </a:prstGeom>
        </p:spPr>
        <p:txBody>
          <a:bodyPr anchor="t" rtlCol="false" tIns="0" lIns="0" bIns="0" rIns="0">
            <a:spAutoFit/>
          </a:bodyPr>
          <a:lstStyle/>
          <a:p>
            <a:pPr algn="l">
              <a:lnSpc>
                <a:spcPts val="1620"/>
              </a:lnSpc>
            </a:pPr>
            <a:r>
              <a:rPr lang="en-US" sz="1350">
                <a:solidFill>
                  <a:srgbClr val="595959"/>
                </a:solidFill>
                <a:latin typeface="Trebuchet MS"/>
                <a:ea typeface="Trebuchet MS"/>
                <a:cs typeface="Trebuchet MS"/>
                <a:sym typeface="Trebuchet MS"/>
              </a:rPr>
              <a:t>‹#›</a:t>
            </a:r>
          </a:p>
        </p:txBody>
      </p:sp>
      <p:sp>
        <p:nvSpPr>
          <p:cNvPr name="TextBox 5" id="5"/>
          <p:cNvSpPr txBox="true"/>
          <p:nvPr/>
        </p:nvSpPr>
        <p:spPr>
          <a:xfrm rot="0">
            <a:off x="5261715" y="9851822"/>
            <a:ext cx="7764570" cy="203778"/>
          </a:xfrm>
          <a:prstGeom prst="rect">
            <a:avLst/>
          </a:prstGeom>
        </p:spPr>
        <p:txBody>
          <a:bodyPr anchor="t" rtlCol="false" tIns="0" lIns="0" bIns="0" rIns="0">
            <a:spAutoFit/>
          </a:bodyPr>
          <a:lstStyle/>
          <a:p>
            <a:pPr algn="ctr">
              <a:lnSpc>
                <a:spcPts val="1296"/>
              </a:lnSpc>
            </a:pPr>
            <a:r>
              <a:rPr lang="en-US" sz="1200">
                <a:solidFill>
                  <a:srgbClr val="595959"/>
                </a:solidFill>
                <a:latin typeface="Trebuchet MS"/>
                <a:ea typeface="Trebuchet MS"/>
                <a:cs typeface="Trebuchet MS"/>
                <a:sym typeface="Trebuchet MS"/>
              </a:rPr>
              <a:t> All rights reserved. This document is proprietary and confidential.</a:t>
            </a:r>
          </a:p>
        </p:txBody>
      </p:sp>
      <p:sp>
        <p:nvSpPr>
          <p:cNvPr name="TextBox 6" id="6"/>
          <p:cNvSpPr txBox="true"/>
          <p:nvPr/>
        </p:nvSpPr>
        <p:spPr>
          <a:xfrm rot="0">
            <a:off x="603371" y="373380"/>
            <a:ext cx="3963739" cy="501015"/>
          </a:xfrm>
          <a:prstGeom prst="rect">
            <a:avLst/>
          </a:prstGeom>
        </p:spPr>
        <p:txBody>
          <a:bodyPr anchor="t" rtlCol="false" tIns="0" lIns="0" bIns="0" rIns="0">
            <a:spAutoFit/>
          </a:bodyPr>
          <a:lstStyle/>
          <a:p>
            <a:pPr algn="l">
              <a:lnSpc>
                <a:spcPts val="3780"/>
              </a:lnSpc>
            </a:pPr>
            <a:r>
              <a:rPr lang="en-US" b="true" sz="3500">
                <a:solidFill>
                  <a:srgbClr val="284181"/>
                </a:solidFill>
                <a:latin typeface="Trebuchet MS Bold"/>
                <a:ea typeface="Trebuchet MS Bold"/>
                <a:cs typeface="Trebuchet MS Bold"/>
                <a:sym typeface="Trebuchet MS Bold"/>
              </a:rPr>
              <a:t>IMPACT P</a:t>
            </a:r>
            <a:r>
              <a:rPr lang="en-US" b="true" sz="3500">
                <a:solidFill>
                  <a:srgbClr val="284181"/>
                </a:solidFill>
                <a:latin typeface="Trebuchet MS Bold"/>
                <a:ea typeface="Trebuchet MS Bold"/>
                <a:cs typeface="Trebuchet MS Bold"/>
                <a:sym typeface="Trebuchet MS Bold"/>
              </a:rPr>
              <a:t>OTENTIEL</a:t>
            </a:r>
          </a:p>
        </p:txBody>
      </p:sp>
      <p:sp>
        <p:nvSpPr>
          <p:cNvPr name="AutoShape 7" id="7"/>
          <p:cNvSpPr/>
          <p:nvPr/>
        </p:nvSpPr>
        <p:spPr>
          <a:xfrm rot="10920">
            <a:off x="3295326" y="3977783"/>
            <a:ext cx="4498505" cy="0"/>
          </a:xfrm>
          <a:prstGeom prst="line">
            <a:avLst/>
          </a:prstGeom>
          <a:ln cap="rnd" w="9525">
            <a:solidFill>
              <a:srgbClr val="FFFFFF"/>
            </a:solidFill>
            <a:prstDash val="solid"/>
            <a:headEnd type="none" len="sm" w="sm"/>
            <a:tailEnd type="none" len="sm" w="sm"/>
          </a:ln>
        </p:spPr>
      </p:sp>
      <p:sp>
        <p:nvSpPr>
          <p:cNvPr name="AutoShape 8" id="8"/>
          <p:cNvSpPr/>
          <p:nvPr/>
        </p:nvSpPr>
        <p:spPr>
          <a:xfrm rot="10920">
            <a:off x="3295326" y="5930703"/>
            <a:ext cx="4498505" cy="0"/>
          </a:xfrm>
          <a:prstGeom prst="line">
            <a:avLst/>
          </a:prstGeom>
          <a:ln cap="rnd" w="9525">
            <a:solidFill>
              <a:srgbClr val="FFFFFF"/>
            </a:solidFill>
            <a:prstDash val="solid"/>
            <a:headEnd type="none" len="sm" w="sm"/>
            <a:tailEnd type="none" len="sm" w="sm"/>
          </a:ln>
        </p:spPr>
      </p:sp>
      <p:grpSp>
        <p:nvGrpSpPr>
          <p:cNvPr name="Group 9" id="9"/>
          <p:cNvGrpSpPr/>
          <p:nvPr/>
        </p:nvGrpSpPr>
        <p:grpSpPr>
          <a:xfrm rot="0">
            <a:off x="3167124" y="1459672"/>
            <a:ext cx="4471074" cy="1755085"/>
            <a:chOff x="0" y="0"/>
            <a:chExt cx="5961431" cy="2340113"/>
          </a:xfrm>
        </p:grpSpPr>
        <p:sp>
          <p:nvSpPr>
            <p:cNvPr name="Freeform 10" id="10"/>
            <p:cNvSpPr/>
            <p:nvPr/>
          </p:nvSpPr>
          <p:spPr>
            <a:xfrm flipH="false" flipV="false" rot="0">
              <a:off x="0" y="0"/>
              <a:ext cx="5961435" cy="2340116"/>
            </a:xfrm>
            <a:custGeom>
              <a:avLst/>
              <a:gdLst/>
              <a:ahLst/>
              <a:cxnLst/>
              <a:rect r="r" b="b" t="t" l="l"/>
              <a:pathLst>
                <a:path h="2340116" w="5961435">
                  <a:moveTo>
                    <a:pt x="0" y="0"/>
                  </a:moveTo>
                  <a:lnTo>
                    <a:pt x="5961435" y="0"/>
                  </a:lnTo>
                  <a:lnTo>
                    <a:pt x="5961435" y="2340116"/>
                  </a:lnTo>
                  <a:lnTo>
                    <a:pt x="0" y="2340116"/>
                  </a:lnTo>
                  <a:close/>
                </a:path>
              </a:pathLst>
            </a:custGeom>
            <a:blipFill>
              <a:blip r:embed="rId3">
                <a:alphaModFix amt="0"/>
              </a:blip>
              <a:stretch>
                <a:fillRect l="0" t="-9280" r="6054" b="16015"/>
              </a:stretch>
            </a:blipFill>
          </p:spPr>
        </p:sp>
        <p:sp>
          <p:nvSpPr>
            <p:cNvPr name="TextBox 11" id="11"/>
            <p:cNvSpPr txBox="true"/>
            <p:nvPr/>
          </p:nvSpPr>
          <p:spPr>
            <a:xfrm>
              <a:off x="0" y="47625"/>
              <a:ext cx="5961431" cy="2292488"/>
            </a:xfrm>
            <a:prstGeom prst="rect">
              <a:avLst/>
            </a:prstGeom>
          </p:spPr>
          <p:txBody>
            <a:bodyPr anchor="ctr" rtlCol="false" tIns="0" lIns="0" bIns="0" rIns="0"/>
            <a:lstStyle/>
            <a:p>
              <a:pPr algn="l">
                <a:lnSpc>
                  <a:spcPts val="5184"/>
                </a:lnSpc>
              </a:pPr>
              <a:r>
                <a:rPr lang="en-US" b="true" sz="4800" i="true">
                  <a:solidFill>
                    <a:srgbClr val="284181"/>
                  </a:solidFill>
                  <a:latin typeface="Trebuchet MS Bold Italics"/>
                  <a:ea typeface="Trebuchet MS Bold Italics"/>
                  <a:cs typeface="Trebuchet MS Bold Italics"/>
                  <a:sym typeface="Trebuchet MS Bold Italics"/>
                </a:rPr>
                <a:t>3</a:t>
              </a:r>
              <a:r>
                <a:rPr lang="en-US" b="true" sz="4800" i="true">
                  <a:solidFill>
                    <a:srgbClr val="284181"/>
                  </a:solidFill>
                  <a:latin typeface="Trebuchet MS Bold Italics"/>
                  <a:ea typeface="Trebuchet MS Bold Italics"/>
                  <a:cs typeface="Trebuchet MS Bold Italics"/>
                  <a:sym typeface="Trebuchet MS Bold Italics"/>
                </a:rPr>
                <a:t>00K+</a:t>
              </a:r>
            </a:p>
            <a:p>
              <a:pPr algn="l">
                <a:lnSpc>
                  <a:spcPts val="2520"/>
                </a:lnSpc>
              </a:pPr>
              <a:r>
                <a:rPr lang="en-US" sz="2100" i="true">
                  <a:solidFill>
                    <a:srgbClr val="3F3F3F"/>
                  </a:solidFill>
                  <a:latin typeface="Trebuchet MS Italics"/>
                  <a:ea typeface="Trebuchet MS Italics"/>
                  <a:cs typeface="Trebuchet MS Italics"/>
                  <a:sym typeface="Trebuchet MS Italics"/>
                </a:rPr>
                <a:t>Nombre de personnes impactées par la solution (producteurs de coton et leurs familles au Bénin)</a:t>
              </a:r>
            </a:p>
          </p:txBody>
        </p:sp>
      </p:grpSp>
      <p:grpSp>
        <p:nvGrpSpPr>
          <p:cNvPr name="Group 12" id="12"/>
          <p:cNvGrpSpPr/>
          <p:nvPr/>
        </p:nvGrpSpPr>
        <p:grpSpPr>
          <a:xfrm rot="0">
            <a:off x="1409700" y="1712595"/>
            <a:ext cx="1352550" cy="1352550"/>
            <a:chOff x="0" y="0"/>
            <a:chExt cx="1803400" cy="1803400"/>
          </a:xfrm>
        </p:grpSpPr>
        <p:sp>
          <p:nvSpPr>
            <p:cNvPr name="Freeform 13" id="13"/>
            <p:cNvSpPr/>
            <p:nvPr/>
          </p:nvSpPr>
          <p:spPr>
            <a:xfrm flipH="false" flipV="false" rot="0">
              <a:off x="0" y="0"/>
              <a:ext cx="1803400" cy="1803400"/>
            </a:xfrm>
            <a:custGeom>
              <a:avLst/>
              <a:gdLst/>
              <a:ahLst/>
              <a:cxnLst/>
              <a:rect r="r" b="b" t="t" l="l"/>
              <a:pathLst>
                <a:path h="1803400" w="1803400">
                  <a:moveTo>
                    <a:pt x="0" y="901700"/>
                  </a:moveTo>
                  <a:cubicBezTo>
                    <a:pt x="0" y="403733"/>
                    <a:pt x="403733" y="0"/>
                    <a:pt x="901700" y="0"/>
                  </a:cubicBezTo>
                  <a:cubicBezTo>
                    <a:pt x="1399667" y="0"/>
                    <a:pt x="1803400" y="403733"/>
                    <a:pt x="1803400" y="901700"/>
                  </a:cubicBezTo>
                  <a:cubicBezTo>
                    <a:pt x="1803400" y="1399667"/>
                    <a:pt x="1399667" y="1803400"/>
                    <a:pt x="901700" y="1803400"/>
                  </a:cubicBezTo>
                  <a:cubicBezTo>
                    <a:pt x="403733" y="1803400"/>
                    <a:pt x="0" y="1399667"/>
                    <a:pt x="0" y="901700"/>
                  </a:cubicBezTo>
                  <a:close/>
                </a:path>
              </a:pathLst>
            </a:custGeom>
            <a:solidFill>
              <a:srgbClr val="284181"/>
            </a:solidFill>
          </p:spPr>
        </p:sp>
      </p:grpSp>
      <p:sp>
        <p:nvSpPr>
          <p:cNvPr name="Freeform 14" id="14"/>
          <p:cNvSpPr/>
          <p:nvPr/>
        </p:nvSpPr>
        <p:spPr>
          <a:xfrm flipH="false" flipV="false" rot="0">
            <a:off x="1754981" y="2057876"/>
            <a:ext cx="661988" cy="661988"/>
          </a:xfrm>
          <a:custGeom>
            <a:avLst/>
            <a:gdLst/>
            <a:ahLst/>
            <a:cxnLst/>
            <a:rect r="r" b="b" t="t" l="l"/>
            <a:pathLst>
              <a:path h="661988" w="661988">
                <a:moveTo>
                  <a:pt x="0" y="0"/>
                </a:moveTo>
                <a:lnTo>
                  <a:pt x="661988" y="0"/>
                </a:lnTo>
                <a:lnTo>
                  <a:pt x="661988" y="661988"/>
                </a:lnTo>
                <a:lnTo>
                  <a:pt x="0" y="66198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5" id="15"/>
          <p:cNvGrpSpPr/>
          <p:nvPr/>
        </p:nvGrpSpPr>
        <p:grpSpPr>
          <a:xfrm rot="0">
            <a:off x="3302479" y="3980278"/>
            <a:ext cx="4200363" cy="2069410"/>
            <a:chOff x="0" y="0"/>
            <a:chExt cx="5600484" cy="2759213"/>
          </a:xfrm>
        </p:grpSpPr>
        <p:sp>
          <p:nvSpPr>
            <p:cNvPr name="Freeform 16" id="16"/>
            <p:cNvSpPr/>
            <p:nvPr/>
          </p:nvSpPr>
          <p:spPr>
            <a:xfrm flipH="false" flipV="false" rot="0">
              <a:off x="0" y="0"/>
              <a:ext cx="5600488" cy="2759207"/>
            </a:xfrm>
            <a:custGeom>
              <a:avLst/>
              <a:gdLst/>
              <a:ahLst/>
              <a:cxnLst/>
              <a:rect r="r" b="b" t="t" l="l"/>
              <a:pathLst>
                <a:path h="2759207" w="5600488">
                  <a:moveTo>
                    <a:pt x="0" y="0"/>
                  </a:moveTo>
                  <a:lnTo>
                    <a:pt x="5600488" y="0"/>
                  </a:lnTo>
                  <a:lnTo>
                    <a:pt x="5600488" y="2759207"/>
                  </a:lnTo>
                  <a:lnTo>
                    <a:pt x="0" y="2759207"/>
                  </a:lnTo>
                  <a:close/>
                </a:path>
              </a:pathLst>
            </a:custGeom>
            <a:blipFill>
              <a:blip r:embed="rId3">
                <a:alphaModFix amt="0"/>
              </a:blip>
              <a:stretch>
                <a:fillRect l="-9792" t="0" r="-9792" b="5409"/>
              </a:stretch>
            </a:blipFill>
          </p:spPr>
        </p:sp>
        <p:sp>
          <p:nvSpPr>
            <p:cNvPr name="TextBox 17" id="17"/>
            <p:cNvSpPr txBox="true"/>
            <p:nvPr/>
          </p:nvSpPr>
          <p:spPr>
            <a:xfrm>
              <a:off x="0" y="47625"/>
              <a:ext cx="5600484" cy="2711588"/>
            </a:xfrm>
            <a:prstGeom prst="rect">
              <a:avLst/>
            </a:prstGeom>
          </p:spPr>
          <p:txBody>
            <a:bodyPr anchor="ctr" rtlCol="false" tIns="0" lIns="0" bIns="0" rIns="0"/>
            <a:lstStyle/>
            <a:p>
              <a:pPr algn="l">
                <a:lnSpc>
                  <a:spcPts val="5184"/>
                </a:lnSpc>
              </a:pPr>
              <a:r>
                <a:rPr lang="en-US" b="true" sz="4800" i="true">
                  <a:solidFill>
                    <a:srgbClr val="00BFDF"/>
                  </a:solidFill>
                  <a:latin typeface="Trebuchet MS Bold Italics"/>
                  <a:ea typeface="Trebuchet MS Bold Italics"/>
                  <a:cs typeface="Trebuchet MS Bold Italics"/>
                  <a:sym typeface="Trebuchet MS Bold Italics"/>
                </a:rPr>
                <a:t>40</a:t>
              </a:r>
              <a:r>
                <a:rPr lang="en-US" b="true" sz="4800" i="true">
                  <a:solidFill>
                    <a:srgbClr val="00BFDF"/>
                  </a:solidFill>
                  <a:latin typeface="Trebuchet MS Bold Italics"/>
                  <a:ea typeface="Trebuchet MS Bold Italics"/>
                  <a:cs typeface="Trebuchet MS Bold Italics"/>
                  <a:sym typeface="Trebuchet MS Bold Italics"/>
                </a:rPr>
                <a:t>%</a:t>
              </a:r>
            </a:p>
            <a:p>
              <a:pPr algn="l">
                <a:lnSpc>
                  <a:spcPts val="2520"/>
                </a:lnSpc>
              </a:pPr>
              <a:r>
                <a:rPr lang="en-US" sz="2100" i="true">
                  <a:solidFill>
                    <a:srgbClr val="3F3F3F"/>
                  </a:solidFill>
                  <a:latin typeface="Trebuchet MS Italics"/>
                  <a:ea typeface="Trebuchet MS Italics"/>
                  <a:cs typeface="Trebuchet MS Italics"/>
                  <a:sym typeface="Trebuchet MS Italics"/>
                </a:rPr>
                <a:t>Proportion de femmes agricultrices bénéficiant d'un accès égal aux preuves de revenus et au crédit bancaire</a:t>
              </a:r>
            </a:p>
          </p:txBody>
        </p:sp>
      </p:grpSp>
      <p:grpSp>
        <p:nvGrpSpPr>
          <p:cNvPr name="Group 18" id="18"/>
          <p:cNvGrpSpPr/>
          <p:nvPr/>
        </p:nvGrpSpPr>
        <p:grpSpPr>
          <a:xfrm rot="0">
            <a:off x="1409700" y="4282735"/>
            <a:ext cx="1352550" cy="1352550"/>
            <a:chOff x="0" y="0"/>
            <a:chExt cx="1803400" cy="1803400"/>
          </a:xfrm>
        </p:grpSpPr>
        <p:sp>
          <p:nvSpPr>
            <p:cNvPr name="Freeform 19" id="19"/>
            <p:cNvSpPr/>
            <p:nvPr/>
          </p:nvSpPr>
          <p:spPr>
            <a:xfrm flipH="false" flipV="false" rot="0">
              <a:off x="0" y="0"/>
              <a:ext cx="1803400" cy="1803400"/>
            </a:xfrm>
            <a:custGeom>
              <a:avLst/>
              <a:gdLst/>
              <a:ahLst/>
              <a:cxnLst/>
              <a:rect r="r" b="b" t="t" l="l"/>
              <a:pathLst>
                <a:path h="1803400" w="1803400">
                  <a:moveTo>
                    <a:pt x="0" y="901700"/>
                  </a:moveTo>
                  <a:cubicBezTo>
                    <a:pt x="0" y="403733"/>
                    <a:pt x="403733" y="0"/>
                    <a:pt x="901700" y="0"/>
                  </a:cubicBezTo>
                  <a:cubicBezTo>
                    <a:pt x="1399667" y="0"/>
                    <a:pt x="1803400" y="403733"/>
                    <a:pt x="1803400" y="901700"/>
                  </a:cubicBezTo>
                  <a:cubicBezTo>
                    <a:pt x="1803400" y="1399667"/>
                    <a:pt x="1399667" y="1803400"/>
                    <a:pt x="901700" y="1803400"/>
                  </a:cubicBezTo>
                  <a:cubicBezTo>
                    <a:pt x="403733" y="1803400"/>
                    <a:pt x="0" y="1399667"/>
                    <a:pt x="0" y="901700"/>
                  </a:cubicBezTo>
                  <a:close/>
                </a:path>
              </a:pathLst>
            </a:custGeom>
            <a:solidFill>
              <a:srgbClr val="00BFDF"/>
            </a:solidFill>
          </p:spPr>
        </p:sp>
      </p:grpSp>
      <p:sp>
        <p:nvSpPr>
          <p:cNvPr name="Freeform 20" id="20"/>
          <p:cNvSpPr/>
          <p:nvPr/>
        </p:nvSpPr>
        <p:spPr>
          <a:xfrm flipH="false" flipV="false" rot="0">
            <a:off x="1754981" y="4626169"/>
            <a:ext cx="661988" cy="665664"/>
          </a:xfrm>
          <a:custGeom>
            <a:avLst/>
            <a:gdLst/>
            <a:ahLst/>
            <a:cxnLst/>
            <a:rect r="r" b="b" t="t" l="l"/>
            <a:pathLst>
              <a:path h="665664" w="661988">
                <a:moveTo>
                  <a:pt x="0" y="0"/>
                </a:moveTo>
                <a:lnTo>
                  <a:pt x="661988" y="0"/>
                </a:lnTo>
                <a:lnTo>
                  <a:pt x="661988" y="665664"/>
                </a:lnTo>
                <a:lnTo>
                  <a:pt x="0" y="66566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21" id="21"/>
          <p:cNvGrpSpPr/>
          <p:nvPr/>
        </p:nvGrpSpPr>
        <p:grpSpPr>
          <a:xfrm rot="0">
            <a:off x="3302479" y="6797726"/>
            <a:ext cx="4200363" cy="2069410"/>
            <a:chOff x="0" y="0"/>
            <a:chExt cx="5600484" cy="2759213"/>
          </a:xfrm>
        </p:grpSpPr>
        <p:sp>
          <p:nvSpPr>
            <p:cNvPr name="Freeform 22" id="22"/>
            <p:cNvSpPr/>
            <p:nvPr/>
          </p:nvSpPr>
          <p:spPr>
            <a:xfrm flipH="false" flipV="false" rot="0">
              <a:off x="0" y="0"/>
              <a:ext cx="5600488" cy="2759218"/>
            </a:xfrm>
            <a:custGeom>
              <a:avLst/>
              <a:gdLst/>
              <a:ahLst/>
              <a:cxnLst/>
              <a:rect r="r" b="b" t="t" l="l"/>
              <a:pathLst>
                <a:path h="2759218" w="5600488">
                  <a:moveTo>
                    <a:pt x="0" y="0"/>
                  </a:moveTo>
                  <a:lnTo>
                    <a:pt x="5600488" y="0"/>
                  </a:lnTo>
                  <a:lnTo>
                    <a:pt x="5600488" y="2759218"/>
                  </a:lnTo>
                  <a:lnTo>
                    <a:pt x="0" y="2759218"/>
                  </a:lnTo>
                  <a:close/>
                </a:path>
              </a:pathLst>
            </a:custGeom>
            <a:blipFill>
              <a:blip r:embed="rId3">
                <a:alphaModFix amt="0"/>
              </a:blip>
              <a:stretch>
                <a:fillRect l="0" t="-62" r="0" b="20963"/>
              </a:stretch>
            </a:blipFill>
          </p:spPr>
        </p:sp>
        <p:sp>
          <p:nvSpPr>
            <p:cNvPr name="TextBox 23" id="23"/>
            <p:cNvSpPr txBox="true"/>
            <p:nvPr/>
          </p:nvSpPr>
          <p:spPr>
            <a:xfrm>
              <a:off x="0" y="47625"/>
              <a:ext cx="5600484" cy="2711588"/>
            </a:xfrm>
            <a:prstGeom prst="rect">
              <a:avLst/>
            </a:prstGeom>
          </p:spPr>
          <p:txBody>
            <a:bodyPr anchor="ctr" rtlCol="false" tIns="0" lIns="0" bIns="0" rIns="0"/>
            <a:lstStyle/>
            <a:p>
              <a:pPr algn="l">
                <a:lnSpc>
                  <a:spcPts val="5184"/>
                </a:lnSpc>
              </a:pPr>
              <a:r>
                <a:rPr lang="en-US" b="true" sz="4800" i="true">
                  <a:solidFill>
                    <a:srgbClr val="58595B"/>
                  </a:solidFill>
                  <a:latin typeface="Trebuchet MS Bold Italics"/>
                  <a:ea typeface="Trebuchet MS Bold Italics"/>
                  <a:cs typeface="Trebuchet MS Bold Italics"/>
                  <a:sym typeface="Trebuchet MS Bold Italics"/>
                </a:rPr>
                <a:t>90%</a:t>
              </a:r>
            </a:p>
            <a:p>
              <a:pPr algn="l">
                <a:lnSpc>
                  <a:spcPts val="2520"/>
                </a:lnSpc>
              </a:pPr>
              <a:r>
                <a:rPr lang="en-US" b="true" sz="2100" i="true">
                  <a:solidFill>
                    <a:srgbClr val="3F3F3F"/>
                  </a:solidFill>
                  <a:latin typeface="Trebuchet MS Bold Italics"/>
                  <a:ea typeface="Trebuchet MS Bold Italics"/>
                  <a:cs typeface="Trebuchet MS Bold Italics"/>
                  <a:sym typeface="Trebuchet MS Bold Italics"/>
                </a:rPr>
                <a:t> Réduction du temps de traitement des paiements (de plusieurs semaines à quelques minutes)</a:t>
              </a:r>
            </a:p>
          </p:txBody>
        </p:sp>
      </p:grpSp>
      <p:grpSp>
        <p:nvGrpSpPr>
          <p:cNvPr name="Group 24" id="24"/>
          <p:cNvGrpSpPr/>
          <p:nvPr/>
        </p:nvGrpSpPr>
        <p:grpSpPr>
          <a:xfrm rot="0">
            <a:off x="1409700" y="6938591"/>
            <a:ext cx="1352550" cy="1352550"/>
            <a:chOff x="0" y="0"/>
            <a:chExt cx="1803400" cy="1803400"/>
          </a:xfrm>
        </p:grpSpPr>
        <p:sp>
          <p:nvSpPr>
            <p:cNvPr name="Freeform 25" id="25"/>
            <p:cNvSpPr/>
            <p:nvPr/>
          </p:nvSpPr>
          <p:spPr>
            <a:xfrm flipH="false" flipV="false" rot="0">
              <a:off x="0" y="0"/>
              <a:ext cx="1803400" cy="1803400"/>
            </a:xfrm>
            <a:custGeom>
              <a:avLst/>
              <a:gdLst/>
              <a:ahLst/>
              <a:cxnLst/>
              <a:rect r="r" b="b" t="t" l="l"/>
              <a:pathLst>
                <a:path h="1803400" w="1803400">
                  <a:moveTo>
                    <a:pt x="0" y="901700"/>
                  </a:moveTo>
                  <a:cubicBezTo>
                    <a:pt x="0" y="403733"/>
                    <a:pt x="403733" y="0"/>
                    <a:pt x="901700" y="0"/>
                  </a:cubicBezTo>
                  <a:cubicBezTo>
                    <a:pt x="1399667" y="0"/>
                    <a:pt x="1803400" y="403733"/>
                    <a:pt x="1803400" y="901700"/>
                  </a:cubicBezTo>
                  <a:cubicBezTo>
                    <a:pt x="1803400" y="1399667"/>
                    <a:pt x="1399667" y="1803400"/>
                    <a:pt x="901700" y="1803400"/>
                  </a:cubicBezTo>
                  <a:cubicBezTo>
                    <a:pt x="403733" y="1803400"/>
                    <a:pt x="0" y="1399667"/>
                    <a:pt x="0" y="901700"/>
                  </a:cubicBezTo>
                  <a:close/>
                </a:path>
              </a:pathLst>
            </a:custGeom>
            <a:solidFill>
              <a:srgbClr val="595959"/>
            </a:solidFill>
          </p:spPr>
        </p:sp>
      </p:grpSp>
      <p:sp>
        <p:nvSpPr>
          <p:cNvPr name="Freeform 26" id="26"/>
          <p:cNvSpPr/>
          <p:nvPr/>
        </p:nvSpPr>
        <p:spPr>
          <a:xfrm flipH="false" flipV="false" rot="0">
            <a:off x="1758658" y="7289387"/>
            <a:ext cx="654634" cy="650958"/>
          </a:xfrm>
          <a:custGeom>
            <a:avLst/>
            <a:gdLst/>
            <a:ahLst/>
            <a:cxnLst/>
            <a:rect r="r" b="b" t="t" l="l"/>
            <a:pathLst>
              <a:path h="650958" w="654634">
                <a:moveTo>
                  <a:pt x="0" y="0"/>
                </a:moveTo>
                <a:lnTo>
                  <a:pt x="654634" y="0"/>
                </a:lnTo>
                <a:lnTo>
                  <a:pt x="654634" y="650958"/>
                </a:lnTo>
                <a:lnTo>
                  <a:pt x="0" y="650958"/>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pic>
        <p:nvPicPr>
          <p:cNvPr name="Picture 27" id="27"/>
          <p:cNvPicPr>
            <a:picLocks noChangeAspect="true"/>
          </p:cNvPicPr>
          <p:nvPr/>
        </p:nvPicPr>
        <p:blipFill>
          <a:blip r:embed="rId10"/>
          <a:stretch>
            <a:fillRect/>
          </a:stretch>
        </p:blipFill>
        <p:spPr>
          <a:xfrm rot="0">
            <a:off x="11459395" y="899287"/>
            <a:ext cx="6724622" cy="6599691"/>
          </a:xfrm>
          <a:prstGeom prst="rect">
            <a:avLst/>
          </a:prstGeom>
        </p:spPr>
      </p:pic>
      <p:sp>
        <p:nvSpPr>
          <p:cNvPr name="Freeform 28" id="28"/>
          <p:cNvSpPr/>
          <p:nvPr/>
        </p:nvSpPr>
        <p:spPr>
          <a:xfrm flipH="false" flipV="false" rot="0">
            <a:off x="14313532" y="3351190"/>
            <a:ext cx="1277607" cy="1302991"/>
          </a:xfrm>
          <a:custGeom>
            <a:avLst/>
            <a:gdLst/>
            <a:ahLst/>
            <a:cxnLst/>
            <a:rect r="r" b="b" t="t" l="l"/>
            <a:pathLst>
              <a:path h="1302991" w="1277607">
                <a:moveTo>
                  <a:pt x="0" y="0"/>
                </a:moveTo>
                <a:lnTo>
                  <a:pt x="1277607" y="0"/>
                </a:lnTo>
                <a:lnTo>
                  <a:pt x="1277607" y="1302992"/>
                </a:lnTo>
                <a:lnTo>
                  <a:pt x="0" y="1302992"/>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nvSpPr>
        <p:spPr>
          <a:xfrm rot="4140">
            <a:off x="654872" y="9575359"/>
            <a:ext cx="11852405" cy="0"/>
          </a:xfrm>
          <a:prstGeom prst="line">
            <a:avLst/>
          </a:prstGeom>
          <a:ln cap="rnd" w="9525">
            <a:solidFill>
              <a:srgbClr val="284181"/>
            </a:solidFill>
            <a:prstDash val="solid"/>
            <a:headEnd type="none" len="sm" w="sm"/>
            <a:tailEnd type="none" len="sm" w="sm"/>
          </a:ln>
        </p:spPr>
      </p:sp>
      <p:sp>
        <p:nvSpPr>
          <p:cNvPr name="AutoShape 3" id="3"/>
          <p:cNvSpPr/>
          <p:nvPr/>
        </p:nvSpPr>
        <p:spPr>
          <a:xfrm rot="10020">
            <a:off x="12686767" y="9575359"/>
            <a:ext cx="4889106" cy="0"/>
          </a:xfrm>
          <a:prstGeom prst="line">
            <a:avLst/>
          </a:prstGeom>
          <a:ln cap="rnd" w="9525">
            <a:solidFill>
              <a:srgbClr val="00BFDF"/>
            </a:solidFill>
            <a:prstDash val="solid"/>
            <a:headEnd type="none" len="sm" w="sm"/>
            <a:tailEnd type="none" len="sm" w="sm"/>
          </a:ln>
        </p:spPr>
      </p:sp>
      <p:sp>
        <p:nvSpPr>
          <p:cNvPr name="TextBox 4" id="4"/>
          <p:cNvSpPr txBox="true"/>
          <p:nvPr/>
        </p:nvSpPr>
        <p:spPr>
          <a:xfrm rot="0">
            <a:off x="681361" y="9791224"/>
            <a:ext cx="960149" cy="180975"/>
          </a:xfrm>
          <a:prstGeom prst="rect">
            <a:avLst/>
          </a:prstGeom>
        </p:spPr>
        <p:txBody>
          <a:bodyPr anchor="t" rtlCol="false" tIns="0" lIns="0" bIns="0" rIns="0">
            <a:spAutoFit/>
          </a:bodyPr>
          <a:lstStyle/>
          <a:p>
            <a:pPr algn="l">
              <a:lnSpc>
                <a:spcPts val="1380"/>
              </a:lnSpc>
            </a:pPr>
            <a:r>
              <a:rPr lang="en-US" sz="1150">
                <a:solidFill>
                  <a:srgbClr val="595959"/>
                </a:solidFill>
                <a:latin typeface="Trebuchet MS"/>
                <a:ea typeface="Trebuchet MS"/>
                <a:cs typeface="Trebuchet MS"/>
                <a:sym typeface="Trebuchet MS"/>
              </a:rPr>
              <a:t>‹#›</a:t>
            </a:r>
          </a:p>
        </p:txBody>
      </p:sp>
      <p:sp>
        <p:nvSpPr>
          <p:cNvPr name="TextBox 5" id="5"/>
          <p:cNvSpPr txBox="true"/>
          <p:nvPr/>
        </p:nvSpPr>
        <p:spPr>
          <a:xfrm rot="0">
            <a:off x="603371" y="373380"/>
            <a:ext cx="10411569" cy="501015"/>
          </a:xfrm>
          <a:prstGeom prst="rect">
            <a:avLst/>
          </a:prstGeom>
        </p:spPr>
        <p:txBody>
          <a:bodyPr anchor="t" rtlCol="false" tIns="0" lIns="0" bIns="0" rIns="0">
            <a:spAutoFit/>
          </a:bodyPr>
          <a:lstStyle/>
          <a:p>
            <a:pPr algn="l">
              <a:lnSpc>
                <a:spcPts val="3779"/>
              </a:lnSpc>
            </a:pPr>
            <a:r>
              <a:rPr lang="en-US" b="true" sz="3499">
                <a:solidFill>
                  <a:srgbClr val="284181"/>
                </a:solidFill>
                <a:latin typeface="Trebuchet MS Bold"/>
                <a:ea typeface="Trebuchet MS Bold"/>
                <a:cs typeface="Trebuchet MS Bold"/>
                <a:sym typeface="Trebuchet MS Bold"/>
              </a:rPr>
              <a:t>DÉFIS </a:t>
            </a:r>
            <a:r>
              <a:rPr lang="en-US" b="true" sz="3499">
                <a:solidFill>
                  <a:srgbClr val="284181"/>
                </a:solidFill>
                <a:latin typeface="Trebuchet MS Bold"/>
                <a:ea typeface="Trebuchet MS Bold"/>
                <a:cs typeface="Trebuchet MS Bold"/>
                <a:sym typeface="Trebuchet MS Bold"/>
              </a:rPr>
              <a:t>ET CARTOGRAPHIE DES PARTIES PRENANTES</a:t>
            </a:r>
          </a:p>
        </p:txBody>
      </p:sp>
      <p:graphicFrame>
        <p:nvGraphicFramePr>
          <p:cNvPr name="Table 6" id="6"/>
          <p:cNvGraphicFramePr>
            <a:graphicFrameLocks noGrp="true"/>
          </p:cNvGraphicFramePr>
          <p:nvPr/>
        </p:nvGraphicFramePr>
        <p:xfrm>
          <a:off x="603371" y="1041109"/>
          <a:ext cx="16802100" cy="8592603"/>
        </p:xfrm>
        <a:graphic>
          <a:graphicData uri="http://schemas.openxmlformats.org/drawingml/2006/table">
            <a:tbl>
              <a:tblPr/>
              <a:tblGrid>
                <a:gridCol w="5780130"/>
                <a:gridCol w="5765872"/>
                <a:gridCol w="5256098"/>
              </a:tblGrid>
              <a:tr h="1058265">
                <a:tc>
                  <a:txBody>
                    <a:bodyPr anchor="t" rtlCol="false"/>
                    <a:lstStyle/>
                    <a:p>
                      <a:pPr algn="ctr">
                        <a:lnSpc>
                          <a:spcPts val="2520"/>
                        </a:lnSpc>
                        <a:defRPr/>
                      </a:pPr>
                      <a:r>
                        <a:rPr lang="en-US" sz="2100">
                          <a:solidFill>
                            <a:srgbClr val="FFFFFF"/>
                          </a:solidFill>
                          <a:latin typeface="Trebuchet MS"/>
                          <a:ea typeface="Trebuchet MS"/>
                          <a:cs typeface="Trebuchet MS"/>
                          <a:sym typeface="Trebuchet MS"/>
                        </a:rPr>
                        <a:t>Challenges</a:t>
                      </a:r>
                      <a:endParaRPr lang="en-US" sz="1100"/>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284181"/>
                    </a:solidFill>
                  </a:tcPr>
                </a:tc>
                <a:tc>
                  <a:txBody>
                    <a:bodyPr anchor="t" rtlCol="false"/>
                    <a:lstStyle/>
                    <a:p>
                      <a:pPr algn="ctr">
                        <a:lnSpc>
                          <a:spcPts val="2640"/>
                        </a:lnSpc>
                        <a:defRPr/>
                      </a:pPr>
                      <a:r>
                        <a:rPr lang="en-US" sz="2200">
                          <a:solidFill>
                            <a:srgbClr val="FFFFFF"/>
                          </a:solidFill>
                          <a:latin typeface="Trebuchet MS"/>
                          <a:ea typeface="Trebuchet MS"/>
                          <a:cs typeface="Trebuchet MS"/>
                          <a:sym typeface="Trebuchet MS"/>
                        </a:rPr>
                        <a:t>Solution</a:t>
                      </a:r>
                      <a:endParaRPr lang="en-US" sz="1100"/>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284181"/>
                    </a:solidFill>
                  </a:tcPr>
                </a:tc>
                <a:tc>
                  <a:txBody>
                    <a:bodyPr anchor="t" rtlCol="false"/>
                    <a:lstStyle/>
                    <a:p>
                      <a:pPr algn="ctr">
                        <a:lnSpc>
                          <a:spcPts val="2760"/>
                        </a:lnSpc>
                        <a:defRPr/>
                      </a:pPr>
                      <a:r>
                        <a:rPr lang="en-US" sz="2300">
                          <a:solidFill>
                            <a:srgbClr val="FFFFFF"/>
                          </a:solidFill>
                          <a:latin typeface="Trebuchet MS"/>
                          <a:ea typeface="Trebuchet MS"/>
                          <a:cs typeface="Trebuchet MS"/>
                          <a:sym typeface="Trebuchet MS"/>
                        </a:rPr>
                        <a:t>Stakeholder</a:t>
                      </a:r>
                      <a:endParaRPr lang="en-US" sz="1100"/>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284181"/>
                    </a:solidFill>
                  </a:tcPr>
                </a:tc>
              </a:tr>
              <a:tr h="1073650">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 Adop</a:t>
                      </a:r>
                      <a:r>
                        <a:rPr lang="en-US" sz="1750">
                          <a:solidFill>
                            <a:srgbClr val="595959"/>
                          </a:solidFill>
                          <a:latin typeface="Trebuchet MS"/>
                          <a:ea typeface="Trebuchet MS"/>
                          <a:cs typeface="Trebuchet MS"/>
                          <a:sym typeface="Trebuchet MS"/>
                        </a:rPr>
                        <a:t>tion par les collectionneurs : Résistance au changement des pratiques informelles établies</a:t>
                      </a:r>
                      <a:endParaRPr lang="en-US" sz="1100"/>
                    </a:p>
                  </a:txBody>
                  <a:tcPr marL="63077" marR="63077" marT="63077" marB="63077" anchor="ctr">
                    <a:lnL cmpd="sng" algn="ctr" cap="flat" w="9525">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12700">
                      <a:solidFill>
                        <a:srgbClr val="00BFDF"/>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P</a:t>
                      </a:r>
                      <a:r>
                        <a:rPr lang="en-US" sz="1750">
                          <a:solidFill>
                            <a:srgbClr val="595959"/>
                          </a:solidFill>
                          <a:latin typeface="Trebuchet MS"/>
                          <a:ea typeface="Trebuchet MS"/>
                          <a:cs typeface="Trebuchet MS"/>
                          <a:sym typeface="Trebuchet MS"/>
                        </a:rPr>
                        <a:t>rogramme de formation et d'incitation financière pour les premiers adoptants. Démonstration des gains de transparence et de traçabilité</a:t>
                      </a:r>
                      <a:endParaRPr lang="en-US" sz="1100"/>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12700">
                      <a:solidFill>
                        <a:srgbClr val="00BFDF"/>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Soc</a:t>
                      </a:r>
                      <a:r>
                        <a:rPr lang="en-US" sz="1750">
                          <a:solidFill>
                            <a:srgbClr val="595959"/>
                          </a:solidFill>
                          <a:latin typeface="Trebuchet MS"/>
                          <a:ea typeface="Trebuchet MS"/>
                          <a:cs typeface="Trebuchet MS"/>
                          <a:sym typeface="Trebuchet MS"/>
                        </a:rPr>
                        <a:t>iétés cotonnières (SONAPRA), Coopératives agricoles, Ministère de l'Agriculture</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12700">
                      <a:solidFill>
                        <a:srgbClr val="00BFDF"/>
                      </a:solidFill>
                      <a:prstDash val="solid"/>
                      <a:round/>
                      <a:headEnd type="none" w="med" len="med"/>
                      <a:tailEnd type="none" w="med" len="med"/>
                    </a:lnB>
                  </a:tcPr>
                </a:tc>
              </a:tr>
              <a:tr h="1268114">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Connectivité limitée : Zon</a:t>
                      </a:r>
                      <a:r>
                        <a:rPr lang="en-US" sz="1750">
                          <a:solidFill>
                            <a:srgbClr val="595959"/>
                          </a:solidFill>
                          <a:latin typeface="Trebuchet MS"/>
                          <a:ea typeface="Trebuchet MS"/>
                          <a:cs typeface="Trebuchet MS"/>
                          <a:sym typeface="Trebuchet MS"/>
                        </a:rPr>
                        <a:t>es rurales avec accès internet instable ou inexistant</a:t>
                      </a:r>
                      <a:endParaRPr lang="en-US" sz="1100"/>
                    </a:p>
                    <a:p>
                      <a:pPr algn="l">
                        <a:lnSpc>
                          <a:spcPts val="2100"/>
                        </a:lnSpc>
                      </a:pPr>
                    </a:p>
                  </a:txBody>
                  <a:tcPr marL="63077" marR="63077" marT="63077" marB="63077" anchor="ctr">
                    <a:lnL cmpd="sng" algn="ctr" cap="flat" w="9525">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Déploiem</a:t>
                      </a:r>
                      <a:r>
                        <a:rPr lang="en-US" sz="1750">
                          <a:solidFill>
                            <a:srgbClr val="595959"/>
                          </a:solidFill>
                          <a:latin typeface="Trebuchet MS"/>
                          <a:ea typeface="Trebuchet MS"/>
                          <a:cs typeface="Trebuchet MS"/>
                          <a:sym typeface="Trebuchet MS"/>
                        </a:rPr>
                        <a:t>ent de la solution offline-first via USSD et PWA. Partenariat avec opérateurs télécoms pour améliorer la couverture.</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MTN</a:t>
                      </a:r>
                      <a:r>
                        <a:rPr lang="en-US" sz="1750">
                          <a:solidFill>
                            <a:srgbClr val="595959"/>
                          </a:solidFill>
                          <a:latin typeface="Trebuchet MS"/>
                          <a:ea typeface="Trebuchet MS"/>
                          <a:cs typeface="Trebuchet MS"/>
                          <a:sym typeface="Trebuchet MS"/>
                        </a:rPr>
                        <a:t> Benin, Moov Africa, Ministère du Numérique et de la Digitalisation</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r>
              <a:tr h="1388234">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Réglementation des données : Conformité avec les lois sur la protection des données biométriques</a:t>
                      </a:r>
                      <a:endParaRPr lang="en-US" sz="1100"/>
                    </a:p>
                    <a:p>
                      <a:pPr algn="l">
                        <a:lnSpc>
                          <a:spcPts val="2100"/>
                        </a:lnSpc>
                      </a:pPr>
                    </a:p>
                  </a:txBody>
                  <a:tcPr marL="63077" marR="63077" marT="63077" marB="63077" anchor="ctr">
                    <a:lnL cmpd="sng" algn="ctr" cap="flat" w="9525">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Collaboration avec les autorités pour garantir le respect du Code du Numérique. Audits de sécurité réguliers.</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APDP (Autorité de Protection des Données Personnelles), ARCEP Bénin</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r>
              <a:tr h="1268114">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Intégration Mobile Money : Accords techniques et commerciaux avec les opérateurs de paiement</a:t>
                      </a:r>
                      <a:endParaRPr lang="en-US" sz="1100"/>
                    </a:p>
                    <a:p>
                      <a:pPr algn="l">
                        <a:lnSpc>
                          <a:spcPts val="2100"/>
                        </a:lnSpc>
                      </a:pPr>
                    </a:p>
                  </a:txBody>
                  <a:tcPr marL="63077" marR="63077" marT="63077" marB="63077" anchor="ctr">
                    <a:lnL cmpd="sng" algn="ctr" cap="flat" w="9525">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Partenariats stratégiques avec les plateformes Mobile Money existantes. API standardisées pour l'interopérabilité.</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MTN Mobile Money, Moov Money, BCEAO (Banque Centrale)</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r>
              <a:tr h="1268114">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Financement initial : Coûts de déploiement de l'infrastructure et formation des utilisateurs</a:t>
                      </a:r>
                      <a:endParaRPr lang="en-US" sz="1100"/>
                    </a:p>
                    <a:p>
                      <a:pPr algn="l">
                        <a:lnSpc>
                          <a:spcPts val="2100"/>
                        </a:lnSpc>
                      </a:pPr>
                    </a:p>
                  </a:txBody>
                  <a:tcPr marL="63077" marR="63077" marT="63077" marB="63077" anchor="ctr">
                    <a:lnL cmpd="sng" algn="ctr" cap="flat" w="9525">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Recherche de subventions auprès d'organisations de développement. Modèle freemium avec frais minimes par transaction.</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Banque Mondiale, AFD, USAID, Fondations tech (Gates Foundation)</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r>
              <a:tr h="1268114">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Confiance des banques : Acceptation des credentials vérifiables comme preuves de revenus</a:t>
                      </a:r>
                      <a:endParaRPr lang="en-US" sz="1100"/>
                    </a:p>
                    <a:p>
                      <a:pPr algn="l">
                        <a:lnSpc>
                          <a:spcPts val="2100"/>
                        </a:lnSpc>
                      </a:pPr>
                    </a:p>
                  </a:txBody>
                  <a:tcPr marL="63077" marR="63077" marT="63077" marB="63077" anchor="ctr">
                    <a:lnL cmpd="sng" algn="ctr" cap="flat" w="9525">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040"/>
                        </a:lnSpc>
                        <a:defRPr/>
                      </a:pPr>
                      <a:r>
                        <a:rPr lang="en-US" sz="1700">
                          <a:solidFill>
                            <a:srgbClr val="595959"/>
                          </a:solidFill>
                          <a:latin typeface="Trebuchet MS"/>
                          <a:ea typeface="Trebuchet MS"/>
                          <a:cs typeface="Trebuchet MS"/>
                          <a:sym typeface="Trebuchet MS"/>
                        </a:rPr>
                        <a:t>Pilotes avec institutions financières partenaires. Certification des credentials par des auditeurs indépendants.</a:t>
                      </a:r>
                      <a:endParaRPr lang="en-US" sz="1100"/>
                    </a:p>
                    <a:p>
                      <a:pPr algn="l">
                        <a:lnSpc>
                          <a:spcPts val="204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Banques commerciales (BIBE, BOA), Institutions de microfinance, Association Professionnelle des Banques</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2700">
            <a:off x="681038" y="9575359"/>
            <a:ext cx="12025941" cy="0"/>
          </a:xfrm>
          <a:prstGeom prst="line">
            <a:avLst/>
          </a:prstGeom>
          <a:ln cap="rnd" w="9525">
            <a:solidFill>
              <a:srgbClr val="284181"/>
            </a:solidFill>
            <a:prstDash val="solid"/>
            <a:headEnd type="none" len="sm" w="sm"/>
            <a:tailEnd type="none" len="sm" w="sm"/>
          </a:ln>
        </p:spPr>
      </p:sp>
      <p:sp>
        <p:nvSpPr>
          <p:cNvPr name="AutoShape 3" id="3"/>
          <p:cNvSpPr/>
          <p:nvPr/>
        </p:nvSpPr>
        <p:spPr>
          <a:xfrm rot="-9780">
            <a:off x="12903117" y="9575359"/>
            <a:ext cx="3357534" cy="0"/>
          </a:xfrm>
          <a:prstGeom prst="line">
            <a:avLst/>
          </a:prstGeom>
          <a:ln cap="rnd" w="9525">
            <a:solidFill>
              <a:srgbClr val="00BFDF"/>
            </a:solidFill>
            <a:prstDash val="solid"/>
            <a:headEnd type="none" len="sm" w="sm"/>
            <a:tailEnd type="none" len="sm" w="sm"/>
          </a:ln>
        </p:spPr>
      </p:sp>
      <p:grpSp>
        <p:nvGrpSpPr>
          <p:cNvPr name="Group 4" id="4"/>
          <p:cNvGrpSpPr/>
          <p:nvPr/>
        </p:nvGrpSpPr>
        <p:grpSpPr>
          <a:xfrm rot="0">
            <a:off x="3139459" y="0"/>
            <a:ext cx="15166829" cy="9727178"/>
            <a:chOff x="0" y="0"/>
            <a:chExt cx="20222439" cy="12969570"/>
          </a:xfrm>
        </p:grpSpPr>
        <p:sp>
          <p:nvSpPr>
            <p:cNvPr name="Freeform 5" id="5"/>
            <p:cNvSpPr/>
            <p:nvPr/>
          </p:nvSpPr>
          <p:spPr>
            <a:xfrm flipH="false" flipV="false" rot="0">
              <a:off x="0" y="0"/>
              <a:ext cx="20222463" cy="12969621"/>
            </a:xfrm>
            <a:custGeom>
              <a:avLst/>
              <a:gdLst/>
              <a:ahLst/>
              <a:cxnLst/>
              <a:rect r="r" b="b" t="t" l="l"/>
              <a:pathLst>
                <a:path h="12969621" w="20222463">
                  <a:moveTo>
                    <a:pt x="0" y="0"/>
                  </a:moveTo>
                  <a:lnTo>
                    <a:pt x="20222463" y="0"/>
                  </a:lnTo>
                  <a:lnTo>
                    <a:pt x="20222463" y="12969621"/>
                  </a:lnTo>
                  <a:lnTo>
                    <a:pt x="0" y="12969621"/>
                  </a:lnTo>
                  <a:lnTo>
                    <a:pt x="0" y="0"/>
                  </a:lnTo>
                  <a:close/>
                </a:path>
              </a:pathLst>
            </a:custGeom>
            <a:blipFill>
              <a:blip r:embed="rId2"/>
              <a:stretch>
                <a:fillRect l="0" t="0" r="-351" b="0"/>
              </a:stretch>
            </a:blipFill>
          </p:spPr>
        </p:sp>
      </p:grpSp>
      <p:grpSp>
        <p:nvGrpSpPr>
          <p:cNvPr name="Group 6" id="6"/>
          <p:cNvGrpSpPr/>
          <p:nvPr/>
        </p:nvGrpSpPr>
        <p:grpSpPr>
          <a:xfrm rot="0">
            <a:off x="37338" y="0"/>
            <a:ext cx="18268950" cy="10287000"/>
            <a:chOff x="0" y="0"/>
            <a:chExt cx="24358600" cy="13716000"/>
          </a:xfrm>
        </p:grpSpPr>
        <p:sp>
          <p:nvSpPr>
            <p:cNvPr name="Freeform 7" id="7"/>
            <p:cNvSpPr/>
            <p:nvPr/>
          </p:nvSpPr>
          <p:spPr>
            <a:xfrm flipH="false" flipV="false" rot="0">
              <a:off x="0" y="0"/>
              <a:ext cx="24358600" cy="13716000"/>
            </a:xfrm>
            <a:custGeom>
              <a:avLst/>
              <a:gdLst/>
              <a:ahLst/>
              <a:cxnLst/>
              <a:rect r="r" b="b" t="t" l="l"/>
              <a:pathLst>
                <a:path h="13716000" w="24358600">
                  <a:moveTo>
                    <a:pt x="0" y="0"/>
                  </a:moveTo>
                  <a:lnTo>
                    <a:pt x="24358600" y="0"/>
                  </a:lnTo>
                  <a:lnTo>
                    <a:pt x="24358600" y="13716000"/>
                  </a:lnTo>
                  <a:lnTo>
                    <a:pt x="0" y="13716000"/>
                  </a:lnTo>
                  <a:lnTo>
                    <a:pt x="0" y="0"/>
                  </a:lnTo>
                  <a:close/>
                </a:path>
              </a:pathLst>
            </a:custGeom>
            <a:blipFill>
              <a:blip r:embed="rId3"/>
              <a:stretch>
                <a:fillRect l="-13" t="0" r="-13" b="0"/>
              </a:stretch>
            </a:blipFill>
          </p:spPr>
        </p:sp>
      </p:grpSp>
      <p:grpSp>
        <p:nvGrpSpPr>
          <p:cNvPr name="Group 8" id="8"/>
          <p:cNvGrpSpPr/>
          <p:nvPr/>
        </p:nvGrpSpPr>
        <p:grpSpPr>
          <a:xfrm rot="0">
            <a:off x="15338736" y="8296989"/>
            <a:ext cx="2781833" cy="1593980"/>
            <a:chOff x="0" y="0"/>
            <a:chExt cx="3709111" cy="2125307"/>
          </a:xfrm>
        </p:grpSpPr>
        <p:sp>
          <p:nvSpPr>
            <p:cNvPr name="Freeform 9" id="9"/>
            <p:cNvSpPr/>
            <p:nvPr/>
          </p:nvSpPr>
          <p:spPr>
            <a:xfrm flipH="false" flipV="false" rot="0">
              <a:off x="0" y="0"/>
              <a:ext cx="3709162" cy="2125345"/>
            </a:xfrm>
            <a:custGeom>
              <a:avLst/>
              <a:gdLst/>
              <a:ahLst/>
              <a:cxnLst/>
              <a:rect r="r" b="b" t="t" l="l"/>
              <a:pathLst>
                <a:path h="2125345" w="3709162">
                  <a:moveTo>
                    <a:pt x="0" y="0"/>
                  </a:moveTo>
                  <a:lnTo>
                    <a:pt x="3709162" y="0"/>
                  </a:lnTo>
                  <a:lnTo>
                    <a:pt x="3709162" y="2125345"/>
                  </a:lnTo>
                  <a:lnTo>
                    <a:pt x="0" y="2125345"/>
                  </a:lnTo>
                  <a:close/>
                </a:path>
              </a:pathLst>
            </a:custGeom>
            <a:solidFill>
              <a:srgbClr val="FFFFFF"/>
            </a:solidFill>
          </p:spPr>
        </p:sp>
      </p:grpSp>
      <p:grpSp>
        <p:nvGrpSpPr>
          <p:cNvPr name="Group 10" id="10"/>
          <p:cNvGrpSpPr/>
          <p:nvPr/>
        </p:nvGrpSpPr>
        <p:grpSpPr>
          <a:xfrm rot="0">
            <a:off x="512997" y="7206339"/>
            <a:ext cx="8957567" cy="897953"/>
            <a:chOff x="0" y="0"/>
            <a:chExt cx="11943423" cy="1197270"/>
          </a:xfrm>
        </p:grpSpPr>
        <p:sp>
          <p:nvSpPr>
            <p:cNvPr name="Freeform 11" id="11"/>
            <p:cNvSpPr/>
            <p:nvPr/>
          </p:nvSpPr>
          <p:spPr>
            <a:xfrm flipH="false" flipV="false" rot="0">
              <a:off x="0" y="0"/>
              <a:ext cx="11943428" cy="1197272"/>
            </a:xfrm>
            <a:custGeom>
              <a:avLst/>
              <a:gdLst/>
              <a:ahLst/>
              <a:cxnLst/>
              <a:rect r="r" b="b" t="t" l="l"/>
              <a:pathLst>
                <a:path h="1197272" w="11943428">
                  <a:moveTo>
                    <a:pt x="0" y="0"/>
                  </a:moveTo>
                  <a:lnTo>
                    <a:pt x="11943428" y="0"/>
                  </a:lnTo>
                  <a:lnTo>
                    <a:pt x="11943428" y="1197272"/>
                  </a:lnTo>
                  <a:lnTo>
                    <a:pt x="0" y="1197272"/>
                  </a:lnTo>
                  <a:close/>
                </a:path>
              </a:pathLst>
            </a:custGeom>
            <a:blipFill>
              <a:blip r:embed="rId4">
                <a:alphaModFix amt="0"/>
              </a:blip>
              <a:stretch>
                <a:fillRect l="0" t="-149123" r="0" b="-139623"/>
              </a:stretch>
            </a:blipFill>
          </p:spPr>
        </p:sp>
        <p:sp>
          <p:nvSpPr>
            <p:cNvPr name="TextBox 12" id="12"/>
            <p:cNvSpPr txBox="true"/>
            <p:nvPr/>
          </p:nvSpPr>
          <p:spPr>
            <a:xfrm>
              <a:off x="0" y="38100"/>
              <a:ext cx="11943423" cy="1159170"/>
            </a:xfrm>
            <a:prstGeom prst="rect">
              <a:avLst/>
            </a:prstGeom>
          </p:spPr>
          <p:txBody>
            <a:bodyPr anchor="b" rtlCol="false" tIns="0" lIns="0" bIns="0" rIns="0"/>
            <a:lstStyle/>
            <a:p>
              <a:pPr algn="l">
                <a:lnSpc>
                  <a:spcPts val="5248"/>
                </a:lnSpc>
              </a:pPr>
              <a:r>
                <a:rPr lang="en-US" sz="4859" b="true">
                  <a:solidFill>
                    <a:srgbClr val="284181"/>
                  </a:solidFill>
                  <a:latin typeface="Trebuchet MS Bold"/>
                  <a:ea typeface="Trebuchet MS Bold"/>
                  <a:cs typeface="Trebuchet MS Bold"/>
                  <a:sym typeface="Trebuchet MS Bold"/>
                </a:rPr>
                <a:t>MERCI </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DAHFu4YKto0</dc:identifier>
  <dcterms:modified xsi:type="dcterms:W3CDTF">2011-08-01T06:04:30Z</dcterms:modified>
  <cp:revision>1</cp:revision>
  <dc:title>EVOLUTICS-presentation</dc:title>
</cp:coreProperties>
</file>