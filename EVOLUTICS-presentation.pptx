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rebuchet MS Bold Italics" charset="1" panose="020B0703020202090204"/>
      <p:regular r:id="rId20"/>
    </p:embeddedFont>
    <p:embeddedFont>
      <p:font typeface="Trebuchet MS" charset="1" panose="020B0603020202020204"/>
      <p:regular r:id="rId21"/>
    </p:embeddedFont>
    <p:embeddedFont>
      <p:font typeface="Arial Italics" charset="1" panose="020B0604020202090204"/>
      <p:regular r:id="rId22"/>
    </p:embeddedFont>
    <p:embeddedFont>
      <p:font typeface="Trebuchet MS Bold" charset="1" panose="020B0703020202020204"/>
      <p:regular r:id="rId23"/>
    </p:embeddedFont>
    <p:embeddedFont>
      <p:font typeface="Trebuchet MS Italics" charset="1" panose="020B060302020209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2" Target="../notesSlides/notesSlide1.xml" Type="http://schemas.openxmlformats.org/officeDocument/2006/relationships/notesSlide"/><Relationship Id="rId3" Target="../media/image1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jpe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https://www.youtube.com/watch?v=4Qb5R3kSnQI"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2.png" Type="http://schemas.openxmlformats.org/officeDocument/2006/relationships/image"/><Relationship Id="rId4"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135"/>
            <a:ext cx="18295839" cy="10302135"/>
            <a:chOff x="0" y="0"/>
            <a:chExt cx="24394452" cy="13736180"/>
          </a:xfrm>
        </p:grpSpPr>
        <p:sp>
          <p:nvSpPr>
            <p:cNvPr name="Freeform 3" id="3"/>
            <p:cNvSpPr/>
            <p:nvPr/>
          </p:nvSpPr>
          <p:spPr>
            <a:xfrm flipH="false" flipV="false" rot="0">
              <a:off x="0" y="0"/>
              <a:ext cx="24394413" cy="13736193"/>
            </a:xfrm>
            <a:custGeom>
              <a:avLst/>
              <a:gdLst/>
              <a:ahLst/>
              <a:cxnLst/>
              <a:rect r="r" b="b" t="t" l="l"/>
              <a:pathLst>
                <a:path h="13736193" w="24394413">
                  <a:moveTo>
                    <a:pt x="0" y="0"/>
                  </a:moveTo>
                  <a:lnTo>
                    <a:pt x="24394413" y="0"/>
                  </a:lnTo>
                  <a:lnTo>
                    <a:pt x="24394413" y="13736193"/>
                  </a:lnTo>
                  <a:lnTo>
                    <a:pt x="0" y="13736193"/>
                  </a:lnTo>
                  <a:lnTo>
                    <a:pt x="0" y="0"/>
                  </a:lnTo>
                  <a:close/>
                </a:path>
              </a:pathLst>
            </a:custGeom>
            <a:blipFill>
              <a:blip r:embed="rId2"/>
              <a:stretch>
                <a:fillRect l="0" t="0" r="-26" b="0"/>
              </a:stretch>
            </a:blipFill>
          </p:spPr>
        </p:sp>
      </p:grpSp>
      <p:grpSp>
        <p:nvGrpSpPr>
          <p:cNvPr name="Group 4" id="4"/>
          <p:cNvGrpSpPr/>
          <p:nvPr/>
        </p:nvGrpSpPr>
        <p:grpSpPr>
          <a:xfrm rot="0">
            <a:off x="10179644" y="8720928"/>
            <a:ext cx="2845822" cy="802862"/>
            <a:chOff x="0" y="0"/>
            <a:chExt cx="3794430" cy="1070483"/>
          </a:xfrm>
        </p:grpSpPr>
        <p:sp>
          <p:nvSpPr>
            <p:cNvPr name="Freeform 5" id="5"/>
            <p:cNvSpPr/>
            <p:nvPr/>
          </p:nvSpPr>
          <p:spPr>
            <a:xfrm flipH="false" flipV="false" rot="0">
              <a:off x="0" y="0"/>
              <a:ext cx="3794379" cy="1070483"/>
            </a:xfrm>
            <a:custGeom>
              <a:avLst/>
              <a:gdLst/>
              <a:ahLst/>
              <a:cxnLst/>
              <a:rect r="r" b="b" t="t" l="l"/>
              <a:pathLst>
                <a:path h="1070483" w="3794379">
                  <a:moveTo>
                    <a:pt x="0" y="0"/>
                  </a:moveTo>
                  <a:lnTo>
                    <a:pt x="3794379" y="0"/>
                  </a:lnTo>
                  <a:lnTo>
                    <a:pt x="3794379" y="1070483"/>
                  </a:lnTo>
                  <a:lnTo>
                    <a:pt x="0" y="1070483"/>
                  </a:lnTo>
                  <a:lnTo>
                    <a:pt x="0" y="0"/>
                  </a:lnTo>
                  <a:close/>
                </a:path>
              </a:pathLst>
            </a:custGeom>
            <a:blipFill>
              <a:blip r:embed="rId3"/>
              <a:stretch>
                <a:fillRect l="0" t="0" r="-1" b="0"/>
              </a:stretch>
            </a:blipFill>
          </p:spPr>
        </p:sp>
      </p:grpSp>
      <p:grpSp>
        <p:nvGrpSpPr>
          <p:cNvPr name="Group 6" id="6"/>
          <p:cNvGrpSpPr/>
          <p:nvPr/>
        </p:nvGrpSpPr>
        <p:grpSpPr>
          <a:xfrm rot="0">
            <a:off x="13658793" y="8338385"/>
            <a:ext cx="1418577" cy="1179471"/>
            <a:chOff x="0" y="0"/>
            <a:chExt cx="1891436" cy="1572628"/>
          </a:xfrm>
        </p:grpSpPr>
        <p:sp>
          <p:nvSpPr>
            <p:cNvPr name="Freeform 7" id="7"/>
            <p:cNvSpPr/>
            <p:nvPr/>
          </p:nvSpPr>
          <p:spPr>
            <a:xfrm flipH="false" flipV="false" rot="0">
              <a:off x="0" y="0"/>
              <a:ext cx="1891411" cy="1572641"/>
            </a:xfrm>
            <a:custGeom>
              <a:avLst/>
              <a:gdLst/>
              <a:ahLst/>
              <a:cxnLst/>
              <a:rect r="r" b="b" t="t" l="l"/>
              <a:pathLst>
                <a:path h="1572641" w="1891411">
                  <a:moveTo>
                    <a:pt x="0" y="0"/>
                  </a:moveTo>
                  <a:lnTo>
                    <a:pt x="1891411" y="0"/>
                  </a:lnTo>
                  <a:lnTo>
                    <a:pt x="1891411" y="1572641"/>
                  </a:lnTo>
                  <a:lnTo>
                    <a:pt x="0" y="1572641"/>
                  </a:lnTo>
                  <a:lnTo>
                    <a:pt x="0" y="0"/>
                  </a:lnTo>
                  <a:close/>
                </a:path>
              </a:pathLst>
            </a:custGeom>
            <a:blipFill>
              <a:blip r:embed="rId4"/>
              <a:stretch>
                <a:fillRect l="0" t="0" r="-1" b="0"/>
              </a:stretch>
            </a:blipFill>
          </p:spPr>
        </p:sp>
      </p:grpSp>
      <p:sp>
        <p:nvSpPr>
          <p:cNvPr name="AutoShape 8" id="8"/>
          <p:cNvSpPr/>
          <p:nvPr/>
        </p:nvSpPr>
        <p:spPr>
          <a:xfrm rot="5373840">
            <a:off x="14768370" y="8892216"/>
            <a:ext cx="1251318" cy="0"/>
          </a:xfrm>
          <a:prstGeom prst="line">
            <a:avLst/>
          </a:prstGeom>
          <a:ln cap="rnd" w="9525">
            <a:solidFill>
              <a:srgbClr val="D1D3D4"/>
            </a:solidFill>
            <a:prstDash val="solid"/>
            <a:headEnd type="none" len="sm" w="sm"/>
            <a:tailEnd type="none" len="sm" w="sm"/>
          </a:ln>
        </p:spPr>
      </p:sp>
      <p:sp>
        <p:nvSpPr>
          <p:cNvPr name="AutoShape 9" id="9"/>
          <p:cNvSpPr/>
          <p:nvPr/>
        </p:nvSpPr>
        <p:spPr>
          <a:xfrm rot="5373840">
            <a:off x="12716466" y="8892216"/>
            <a:ext cx="1251318" cy="0"/>
          </a:xfrm>
          <a:prstGeom prst="line">
            <a:avLst/>
          </a:prstGeom>
          <a:ln cap="rnd" w="9525">
            <a:solidFill>
              <a:srgbClr val="D1D3D4"/>
            </a:solidFill>
            <a:prstDash val="solid"/>
            <a:headEnd type="none" len="sm" w="sm"/>
            <a:tailEnd type="none" len="sm" w="sm"/>
          </a:ln>
        </p:spPr>
      </p:sp>
      <p:grpSp>
        <p:nvGrpSpPr>
          <p:cNvPr name="Group 10" id="10"/>
          <p:cNvGrpSpPr/>
          <p:nvPr/>
        </p:nvGrpSpPr>
        <p:grpSpPr>
          <a:xfrm rot="0">
            <a:off x="797890" y="6858000"/>
            <a:ext cx="8346110" cy="1308287"/>
            <a:chOff x="0" y="0"/>
            <a:chExt cx="11128146" cy="1744382"/>
          </a:xfrm>
        </p:grpSpPr>
        <p:sp>
          <p:nvSpPr>
            <p:cNvPr name="Freeform 11" id="11"/>
            <p:cNvSpPr/>
            <p:nvPr/>
          </p:nvSpPr>
          <p:spPr>
            <a:xfrm flipH="false" flipV="false" rot="0">
              <a:off x="0" y="0"/>
              <a:ext cx="11128142" cy="1744381"/>
            </a:xfrm>
            <a:custGeom>
              <a:avLst/>
              <a:gdLst/>
              <a:ahLst/>
              <a:cxnLst/>
              <a:rect r="r" b="b" t="t" l="l"/>
              <a:pathLst>
                <a:path h="1744381" w="11128142">
                  <a:moveTo>
                    <a:pt x="0" y="0"/>
                  </a:moveTo>
                  <a:lnTo>
                    <a:pt x="11128142" y="0"/>
                  </a:lnTo>
                  <a:lnTo>
                    <a:pt x="11128142" y="1744381"/>
                  </a:lnTo>
                  <a:lnTo>
                    <a:pt x="0" y="1744381"/>
                  </a:lnTo>
                  <a:close/>
                </a:path>
              </a:pathLst>
            </a:custGeom>
            <a:blipFill>
              <a:blip r:embed="rId5">
                <a:alphaModFix amt="0"/>
              </a:blip>
              <a:stretch>
                <a:fillRect l="0" t="-74303" r="0" b="-74303"/>
              </a:stretch>
            </a:blipFill>
          </p:spPr>
        </p:sp>
        <p:sp>
          <p:nvSpPr>
            <p:cNvPr name="TextBox 12" id="12"/>
            <p:cNvSpPr txBox="true"/>
            <p:nvPr/>
          </p:nvSpPr>
          <p:spPr>
            <a:xfrm>
              <a:off x="0" y="38100"/>
              <a:ext cx="11128146" cy="1706282"/>
            </a:xfrm>
            <a:prstGeom prst="rect">
              <a:avLst/>
            </a:prstGeom>
          </p:spPr>
          <p:txBody>
            <a:bodyPr anchor="b" rtlCol="false" tIns="0" lIns="0" bIns="0" rIns="0"/>
            <a:lstStyle/>
            <a:p>
              <a:pPr algn="l">
                <a:lnSpc>
                  <a:spcPts val="4536"/>
                </a:lnSpc>
              </a:pPr>
              <a:r>
                <a:rPr lang="en-US" b="true" sz="4200" i="true">
                  <a:solidFill>
                    <a:srgbClr val="FFFFFF"/>
                  </a:solidFill>
                  <a:latin typeface="Trebuchet MS Bold Italics"/>
                  <a:ea typeface="Trebuchet MS Bold Italics"/>
                  <a:cs typeface="Trebuchet MS Bold Italics"/>
                  <a:sym typeface="Trebuchet MS Bold Italics"/>
                </a:rPr>
                <a:t>EVOLUTICS</a:t>
              </a:r>
            </a:p>
          </p:txBody>
        </p:sp>
      </p:grpSp>
      <p:grpSp>
        <p:nvGrpSpPr>
          <p:cNvPr name="Group 13" id="13"/>
          <p:cNvGrpSpPr/>
          <p:nvPr/>
        </p:nvGrpSpPr>
        <p:grpSpPr>
          <a:xfrm rot="0">
            <a:off x="797890" y="8166286"/>
            <a:ext cx="8346110" cy="1764059"/>
            <a:chOff x="0" y="0"/>
            <a:chExt cx="11128146" cy="2352078"/>
          </a:xfrm>
        </p:grpSpPr>
        <p:sp>
          <p:nvSpPr>
            <p:cNvPr name="Freeform 14" id="14"/>
            <p:cNvSpPr/>
            <p:nvPr/>
          </p:nvSpPr>
          <p:spPr>
            <a:xfrm flipH="false" flipV="false" rot="0">
              <a:off x="0" y="0"/>
              <a:ext cx="11128142" cy="2352078"/>
            </a:xfrm>
            <a:custGeom>
              <a:avLst/>
              <a:gdLst/>
              <a:ahLst/>
              <a:cxnLst/>
              <a:rect r="r" b="b" t="t" l="l"/>
              <a:pathLst>
                <a:path h="2352078" w="11128142">
                  <a:moveTo>
                    <a:pt x="0" y="0"/>
                  </a:moveTo>
                  <a:lnTo>
                    <a:pt x="11128142" y="0"/>
                  </a:lnTo>
                  <a:lnTo>
                    <a:pt x="11128142" y="2352078"/>
                  </a:lnTo>
                  <a:lnTo>
                    <a:pt x="0" y="2352078"/>
                  </a:lnTo>
                  <a:close/>
                </a:path>
              </a:pathLst>
            </a:custGeom>
            <a:blipFill>
              <a:blip r:embed="rId5">
                <a:alphaModFix amt="0"/>
              </a:blip>
              <a:stretch>
                <a:fillRect l="0" t="-67241" r="0" b="-17133"/>
              </a:stretch>
            </a:blipFill>
          </p:spPr>
        </p:sp>
        <p:sp>
          <p:nvSpPr>
            <p:cNvPr name="TextBox 15" id="15"/>
            <p:cNvSpPr txBox="true"/>
            <p:nvPr/>
          </p:nvSpPr>
          <p:spPr>
            <a:xfrm>
              <a:off x="0" y="38100"/>
              <a:ext cx="11128146" cy="2313978"/>
            </a:xfrm>
            <a:prstGeom prst="rect">
              <a:avLst/>
            </a:prstGeom>
          </p:spPr>
          <p:txBody>
            <a:bodyPr anchor="b" rtlCol="false" tIns="0" lIns="0" bIns="0" rIns="0"/>
            <a:lstStyle/>
            <a:p>
              <a:pPr algn="l">
                <a:lnSpc>
                  <a:spcPts val="4195"/>
                </a:lnSpc>
              </a:pPr>
              <a:r>
                <a:rPr lang="en-US" sz="3885">
                  <a:solidFill>
                    <a:srgbClr val="FFFFFF"/>
                  </a:solidFill>
                  <a:latin typeface="Trebuchet MS"/>
                  <a:ea typeface="Trebuchet MS"/>
                  <a:cs typeface="Trebuchet MS"/>
                  <a:sym typeface="Trebuchet MS"/>
                </a:rPr>
                <a:t>Une</a:t>
              </a:r>
              <a:r>
                <a:rPr lang="en-US" sz="3885">
                  <a:solidFill>
                    <a:srgbClr val="FFFFFF"/>
                  </a:solidFill>
                  <a:latin typeface="Trebuchet MS"/>
                  <a:ea typeface="Trebuchet MS"/>
                  <a:cs typeface="Trebuchet MS"/>
                  <a:sym typeface="Trebuchet MS"/>
                </a:rPr>
                <a:t> solution d’identité numérique pour l’agriculture et l’inclusion financière</a:t>
              </a:r>
            </a:p>
          </p:txBody>
        </p:sp>
      </p:grpSp>
      <p:sp>
        <p:nvSpPr>
          <p:cNvPr name="TextBox 16" id="16"/>
          <p:cNvSpPr txBox="true"/>
          <p:nvPr/>
        </p:nvSpPr>
        <p:spPr>
          <a:xfrm rot="0">
            <a:off x="9803482" y="2545632"/>
            <a:ext cx="5453863" cy="897084"/>
          </a:xfrm>
          <a:prstGeom prst="rect">
            <a:avLst/>
          </a:prstGeom>
        </p:spPr>
        <p:txBody>
          <a:bodyPr anchor="t" rtlCol="false" tIns="0" lIns="0" bIns="0" rIns="0">
            <a:spAutoFit/>
          </a:bodyPr>
          <a:lstStyle/>
          <a:p>
            <a:pPr algn="l">
              <a:lnSpc>
                <a:spcPts val="3240"/>
              </a:lnSpc>
            </a:pPr>
            <a:r>
              <a:rPr lang="en-US" sz="2700" i="true">
                <a:solidFill>
                  <a:srgbClr val="000000"/>
                </a:solidFill>
                <a:latin typeface="Arial Italics"/>
                <a:ea typeface="Arial Italics"/>
                <a:cs typeface="Arial Italics"/>
                <a:sym typeface="Arial Italics"/>
              </a:rPr>
              <a:t>A title image will appear here. </a:t>
            </a:r>
          </a:p>
          <a:p>
            <a:pPr algn="l">
              <a:lnSpc>
                <a:spcPts val="3240"/>
              </a:lnSpc>
            </a:pPr>
            <a:r>
              <a:rPr lang="en-US" sz="2700" i="true">
                <a:solidFill>
                  <a:srgbClr val="000000"/>
                </a:solidFill>
                <a:latin typeface="Arial Italics"/>
                <a:ea typeface="Arial Italics"/>
                <a:cs typeface="Arial Italics"/>
                <a:sym typeface="Arial Italics"/>
              </a:rPr>
              <a:t>Don’t worry about this space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3" id="3"/>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4" id="4"/>
          <p:cNvSpPr txBox="true"/>
          <p:nvPr/>
        </p:nvSpPr>
        <p:spPr>
          <a:xfrm rot="0">
            <a:off x="603371" y="201930"/>
            <a:ext cx="16928840" cy="920887"/>
          </a:xfrm>
          <a:prstGeom prst="rect">
            <a:avLst/>
          </a:prstGeom>
        </p:spPr>
        <p:txBody>
          <a:bodyPr anchor="t" rtlCol="false" tIns="0" lIns="0" bIns="0" rIns="0">
            <a:spAutoFit/>
          </a:bodyPr>
          <a:lstStyle/>
          <a:p>
            <a:pPr algn="l">
              <a:lnSpc>
                <a:spcPts val="5668"/>
              </a:lnSpc>
            </a:pPr>
            <a:r>
              <a:rPr lang="en-US" sz="3600" b="true">
                <a:solidFill>
                  <a:srgbClr val="284181"/>
                </a:solidFill>
                <a:latin typeface="Trebuchet MS Bold"/>
                <a:ea typeface="Trebuchet MS Bold"/>
                <a:cs typeface="Trebuchet MS Bold"/>
                <a:sym typeface="Trebuchet MS Bold"/>
              </a:rPr>
              <a:t>PRÉSENTATION DE L'ÉQUIPE</a:t>
            </a:r>
          </a:p>
        </p:txBody>
      </p:sp>
      <p:sp>
        <p:nvSpPr>
          <p:cNvPr name="TextBox 5" id="5"/>
          <p:cNvSpPr txBox="true"/>
          <p:nvPr/>
        </p:nvSpPr>
        <p:spPr>
          <a:xfrm rot="0">
            <a:off x="2638701" y="1530306"/>
            <a:ext cx="13849807" cy="1456153"/>
          </a:xfrm>
          <a:prstGeom prst="rect">
            <a:avLst/>
          </a:prstGeom>
        </p:spPr>
        <p:txBody>
          <a:bodyPr anchor="t" rtlCol="false" tIns="0" lIns="0" bIns="0" rIns="0">
            <a:spAutoFit/>
          </a:bodyPr>
          <a:lstStyle/>
          <a:p>
            <a:pPr algn="ctr">
              <a:lnSpc>
                <a:spcPts val="4860"/>
              </a:lnSpc>
            </a:pPr>
            <a:r>
              <a:rPr lang="en-US" b="true" sz="2700">
                <a:solidFill>
                  <a:srgbClr val="000000"/>
                </a:solidFill>
                <a:latin typeface="Trebuchet MS Bold"/>
                <a:ea typeface="Trebuchet MS Bold"/>
                <a:cs typeface="Trebuchet MS Bold"/>
                <a:sym typeface="Trebuchet MS Bold"/>
              </a:rPr>
              <a:t>Bénin | EVOLUTICS </a:t>
            </a:r>
          </a:p>
          <a:p>
            <a:pPr algn="ctr">
              <a:lnSpc>
                <a:spcPts val="4860"/>
              </a:lnSpc>
            </a:pPr>
            <a:r>
              <a:rPr lang="en-US" b="true" sz="2700">
                <a:solidFill>
                  <a:srgbClr val="000000"/>
                </a:solidFill>
                <a:latin typeface="Trebuchet MS Bold"/>
                <a:ea typeface="Trebuchet MS Bold"/>
                <a:cs typeface="Trebuchet MS Bold"/>
                <a:sym typeface="Trebuchet MS Bold"/>
              </a:rPr>
              <a:t>Institut de Formation et de Recherche en Informatique – Université d’Abomey-Calavi</a:t>
            </a:r>
          </a:p>
        </p:txBody>
      </p:sp>
      <p:grpSp>
        <p:nvGrpSpPr>
          <p:cNvPr name="Group 6" id="6"/>
          <p:cNvGrpSpPr/>
          <p:nvPr/>
        </p:nvGrpSpPr>
        <p:grpSpPr>
          <a:xfrm rot="0">
            <a:off x="749322" y="3741877"/>
            <a:ext cx="3165758" cy="4312358"/>
            <a:chOff x="0" y="0"/>
            <a:chExt cx="4221010" cy="5749811"/>
          </a:xfrm>
        </p:grpSpPr>
        <p:sp>
          <p:nvSpPr>
            <p:cNvPr name="Freeform 7" id="7"/>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8" id="8"/>
          <p:cNvGrpSpPr/>
          <p:nvPr/>
        </p:nvGrpSpPr>
        <p:grpSpPr>
          <a:xfrm rot="0">
            <a:off x="823722" y="6997008"/>
            <a:ext cx="2728055" cy="323164"/>
            <a:chOff x="0" y="0"/>
            <a:chExt cx="3637407" cy="430886"/>
          </a:xfrm>
        </p:grpSpPr>
        <p:sp>
          <p:nvSpPr>
            <p:cNvPr name="Freeform 9" id="9"/>
            <p:cNvSpPr/>
            <p:nvPr/>
          </p:nvSpPr>
          <p:spPr>
            <a:xfrm flipH="false" flipV="false" rot="0">
              <a:off x="0" y="0"/>
              <a:ext cx="3637404" cy="430888"/>
            </a:xfrm>
            <a:custGeom>
              <a:avLst/>
              <a:gdLst/>
              <a:ahLst/>
              <a:cxnLst/>
              <a:rect r="r" b="b" t="t" l="l"/>
              <a:pathLst>
                <a:path h="430888" w="3637404">
                  <a:moveTo>
                    <a:pt x="0" y="0"/>
                  </a:moveTo>
                  <a:lnTo>
                    <a:pt x="3637404" y="0"/>
                  </a:lnTo>
                  <a:lnTo>
                    <a:pt x="3637404" y="430888"/>
                  </a:lnTo>
                  <a:lnTo>
                    <a:pt x="0" y="430888"/>
                  </a:lnTo>
                  <a:close/>
                </a:path>
              </a:pathLst>
            </a:custGeom>
            <a:blipFill>
              <a:blip r:embed="rId2">
                <a:alphaModFix amt="0"/>
              </a:blip>
              <a:stretch>
                <a:fillRect l="0" t="-114486" r="0" b="-114485"/>
              </a:stretch>
            </a:blipFill>
          </p:spPr>
        </p:sp>
        <p:sp>
          <p:nvSpPr>
            <p:cNvPr name="TextBox 10" id="10"/>
            <p:cNvSpPr txBox="true"/>
            <p:nvPr/>
          </p:nvSpPr>
          <p:spPr>
            <a:xfrm>
              <a:off x="0" y="-19050"/>
              <a:ext cx="3637407" cy="449936"/>
            </a:xfrm>
            <a:prstGeom prst="rect">
              <a:avLst/>
            </a:prstGeom>
          </p:spPr>
          <p:txBody>
            <a:bodyPr anchor="ctr" rtlCol="false" tIns="0" lIns="0" bIns="0" rIns="0"/>
            <a:lstStyle/>
            <a:p>
              <a:pPr algn="ctr">
                <a:lnSpc>
                  <a:spcPts val="2520"/>
                </a:lnSpc>
              </a:pPr>
              <a:r>
                <a:rPr lang="en-US" b="true" sz="2100" i="true">
                  <a:solidFill>
                    <a:srgbClr val="5A5A5A"/>
                  </a:solidFill>
                  <a:latin typeface="Trebuchet MS Bold Italics"/>
                  <a:ea typeface="Trebuchet MS Bold Italics"/>
                  <a:cs typeface="Trebuchet MS Bold Italics"/>
                  <a:sym typeface="Trebuchet MS Bold Italics"/>
                </a:rPr>
                <a:t>BESSANH Shadrak</a:t>
              </a:r>
            </a:p>
          </p:txBody>
        </p:sp>
      </p:grpSp>
      <p:grpSp>
        <p:nvGrpSpPr>
          <p:cNvPr name="Group 11" id="11"/>
          <p:cNvGrpSpPr/>
          <p:nvPr/>
        </p:nvGrpSpPr>
        <p:grpSpPr>
          <a:xfrm rot="0">
            <a:off x="4231338" y="3741877"/>
            <a:ext cx="3165758" cy="4312358"/>
            <a:chOff x="0" y="0"/>
            <a:chExt cx="4221010" cy="5749811"/>
          </a:xfrm>
        </p:grpSpPr>
        <p:sp>
          <p:nvSpPr>
            <p:cNvPr name="Freeform 12" id="12"/>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3" id="13"/>
          <p:cNvGrpSpPr/>
          <p:nvPr/>
        </p:nvGrpSpPr>
        <p:grpSpPr>
          <a:xfrm rot="0">
            <a:off x="4469797" y="6997008"/>
            <a:ext cx="2728055" cy="323164"/>
            <a:chOff x="0" y="0"/>
            <a:chExt cx="3637407" cy="430886"/>
          </a:xfrm>
        </p:grpSpPr>
        <p:sp>
          <p:nvSpPr>
            <p:cNvPr name="Freeform 14" id="14"/>
            <p:cNvSpPr/>
            <p:nvPr/>
          </p:nvSpPr>
          <p:spPr>
            <a:xfrm flipH="false" flipV="false" rot="0">
              <a:off x="0" y="0"/>
              <a:ext cx="3637404" cy="430888"/>
            </a:xfrm>
            <a:custGeom>
              <a:avLst/>
              <a:gdLst/>
              <a:ahLst/>
              <a:cxnLst/>
              <a:rect r="r" b="b" t="t" l="l"/>
              <a:pathLst>
                <a:path h="430888" w="3637404">
                  <a:moveTo>
                    <a:pt x="0" y="0"/>
                  </a:moveTo>
                  <a:lnTo>
                    <a:pt x="3637404" y="0"/>
                  </a:lnTo>
                  <a:lnTo>
                    <a:pt x="3637404" y="430888"/>
                  </a:lnTo>
                  <a:lnTo>
                    <a:pt x="0" y="430888"/>
                  </a:lnTo>
                  <a:close/>
                </a:path>
              </a:pathLst>
            </a:custGeom>
            <a:blipFill>
              <a:blip r:embed="rId2">
                <a:alphaModFix amt="0"/>
              </a:blip>
              <a:stretch>
                <a:fillRect l="0" t="-114486" r="0" b="-114485"/>
              </a:stretch>
            </a:blipFill>
          </p:spPr>
        </p:sp>
        <p:sp>
          <p:nvSpPr>
            <p:cNvPr name="TextBox 15" id="15"/>
            <p:cNvSpPr txBox="true"/>
            <p:nvPr/>
          </p:nvSpPr>
          <p:spPr>
            <a:xfrm>
              <a:off x="0" y="-19050"/>
              <a:ext cx="3637407" cy="449936"/>
            </a:xfrm>
            <a:prstGeom prst="rect">
              <a:avLst/>
            </a:prstGeom>
          </p:spPr>
          <p:txBody>
            <a:bodyPr anchor="ctr" rtlCol="false" tIns="0" lIns="0" bIns="0" rIns="0"/>
            <a:lstStyle/>
            <a:p>
              <a:pPr algn="ctr">
                <a:lnSpc>
                  <a:spcPts val="2520"/>
                </a:lnSpc>
              </a:pPr>
              <a:r>
                <a:rPr lang="en-US" b="true" sz="2100" i="true">
                  <a:solidFill>
                    <a:srgbClr val="5A5A5A"/>
                  </a:solidFill>
                  <a:latin typeface="Trebuchet MS Bold Italics"/>
                  <a:ea typeface="Trebuchet MS Bold Italics"/>
                  <a:cs typeface="Trebuchet MS Bold Italics"/>
                  <a:sym typeface="Trebuchet MS Bold Italics"/>
                </a:rPr>
                <a:t>BOUKARI Marlyse</a:t>
              </a:r>
            </a:p>
          </p:txBody>
        </p:sp>
      </p:grpSp>
      <p:grpSp>
        <p:nvGrpSpPr>
          <p:cNvPr name="Group 16" id="16"/>
          <p:cNvGrpSpPr/>
          <p:nvPr/>
        </p:nvGrpSpPr>
        <p:grpSpPr>
          <a:xfrm rot="0">
            <a:off x="7713355" y="3741877"/>
            <a:ext cx="3165758" cy="4312358"/>
            <a:chOff x="0" y="0"/>
            <a:chExt cx="4221010" cy="5749811"/>
          </a:xfrm>
        </p:grpSpPr>
        <p:sp>
          <p:nvSpPr>
            <p:cNvPr name="Freeform 17" id="17"/>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8" id="18"/>
          <p:cNvGrpSpPr/>
          <p:nvPr/>
        </p:nvGrpSpPr>
        <p:grpSpPr>
          <a:xfrm rot="0">
            <a:off x="7942488" y="6849685"/>
            <a:ext cx="2728055" cy="646328"/>
            <a:chOff x="0" y="0"/>
            <a:chExt cx="3637407" cy="861771"/>
          </a:xfrm>
        </p:grpSpPr>
        <p:sp>
          <p:nvSpPr>
            <p:cNvPr name="Freeform 19" id="19"/>
            <p:cNvSpPr/>
            <p:nvPr/>
          </p:nvSpPr>
          <p:spPr>
            <a:xfrm flipH="false" flipV="false" rot="0">
              <a:off x="0" y="0"/>
              <a:ext cx="3637404" cy="861774"/>
            </a:xfrm>
            <a:custGeom>
              <a:avLst/>
              <a:gdLst/>
              <a:ahLst/>
              <a:cxnLst/>
              <a:rect r="r" b="b" t="t" l="l"/>
              <a:pathLst>
                <a:path h="861774" w="3637404">
                  <a:moveTo>
                    <a:pt x="0" y="0"/>
                  </a:moveTo>
                  <a:lnTo>
                    <a:pt x="3637404" y="0"/>
                  </a:lnTo>
                  <a:lnTo>
                    <a:pt x="3637404" y="861774"/>
                  </a:lnTo>
                  <a:lnTo>
                    <a:pt x="0" y="861774"/>
                  </a:lnTo>
                  <a:close/>
                </a:path>
              </a:pathLst>
            </a:custGeom>
            <a:blipFill>
              <a:blip r:embed="rId2">
                <a:alphaModFix amt="0"/>
              </a:blip>
              <a:stretch>
                <a:fillRect l="0" t="-32243" r="0" b="-32242"/>
              </a:stretch>
            </a:blipFill>
          </p:spPr>
        </p:sp>
        <p:sp>
          <p:nvSpPr>
            <p:cNvPr name="TextBox 20" id="20"/>
            <p:cNvSpPr txBox="true"/>
            <p:nvPr/>
          </p:nvSpPr>
          <p:spPr>
            <a:xfrm>
              <a:off x="0" y="-19050"/>
              <a:ext cx="3637407" cy="880821"/>
            </a:xfrm>
            <a:prstGeom prst="rect">
              <a:avLst/>
            </a:prstGeom>
          </p:spPr>
          <p:txBody>
            <a:bodyPr anchor="ctr" rtlCol="false" tIns="0" lIns="0" bIns="0" rIns="0"/>
            <a:lstStyle/>
            <a:p>
              <a:pPr algn="ctr">
                <a:lnSpc>
                  <a:spcPts val="2520"/>
                </a:lnSpc>
              </a:pPr>
              <a:r>
                <a:rPr lang="en-US" b="true" sz="2100" i="true">
                  <a:solidFill>
                    <a:srgbClr val="5A5A5A"/>
                  </a:solidFill>
                  <a:latin typeface="Trebuchet MS Bold Italics"/>
                  <a:ea typeface="Trebuchet MS Bold Italics"/>
                  <a:cs typeface="Trebuchet MS Bold Italics"/>
                  <a:sym typeface="Trebuchet MS Bold Italics"/>
                </a:rPr>
                <a:t>KAGBAHINTO Dédji Jules Claurèce</a:t>
              </a:r>
            </a:p>
          </p:txBody>
        </p:sp>
      </p:grpSp>
      <p:grpSp>
        <p:nvGrpSpPr>
          <p:cNvPr name="Group 21" id="21"/>
          <p:cNvGrpSpPr/>
          <p:nvPr/>
        </p:nvGrpSpPr>
        <p:grpSpPr>
          <a:xfrm rot="0">
            <a:off x="11195371" y="3741877"/>
            <a:ext cx="3165758" cy="4312358"/>
            <a:chOff x="0" y="0"/>
            <a:chExt cx="4221010" cy="5749811"/>
          </a:xfrm>
        </p:grpSpPr>
        <p:sp>
          <p:nvSpPr>
            <p:cNvPr name="Freeform 22" id="22"/>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23" id="23"/>
          <p:cNvGrpSpPr/>
          <p:nvPr/>
        </p:nvGrpSpPr>
        <p:grpSpPr>
          <a:xfrm rot="0">
            <a:off x="11414227" y="6849694"/>
            <a:ext cx="2728055" cy="646328"/>
            <a:chOff x="0" y="0"/>
            <a:chExt cx="3637407" cy="861771"/>
          </a:xfrm>
        </p:grpSpPr>
        <p:sp>
          <p:nvSpPr>
            <p:cNvPr name="Freeform 24" id="24"/>
            <p:cNvSpPr/>
            <p:nvPr/>
          </p:nvSpPr>
          <p:spPr>
            <a:xfrm flipH="false" flipV="false" rot="0">
              <a:off x="0" y="0"/>
              <a:ext cx="3637404" cy="861774"/>
            </a:xfrm>
            <a:custGeom>
              <a:avLst/>
              <a:gdLst/>
              <a:ahLst/>
              <a:cxnLst/>
              <a:rect r="r" b="b" t="t" l="l"/>
              <a:pathLst>
                <a:path h="861774" w="3637404">
                  <a:moveTo>
                    <a:pt x="0" y="0"/>
                  </a:moveTo>
                  <a:lnTo>
                    <a:pt x="3637404" y="0"/>
                  </a:lnTo>
                  <a:lnTo>
                    <a:pt x="3637404" y="861774"/>
                  </a:lnTo>
                  <a:lnTo>
                    <a:pt x="0" y="861774"/>
                  </a:lnTo>
                  <a:close/>
                </a:path>
              </a:pathLst>
            </a:custGeom>
            <a:blipFill>
              <a:blip r:embed="rId2">
                <a:alphaModFix amt="0"/>
              </a:blip>
              <a:stretch>
                <a:fillRect l="0" t="-32243" r="0" b="-32242"/>
              </a:stretch>
            </a:blipFill>
          </p:spPr>
        </p:sp>
        <p:sp>
          <p:nvSpPr>
            <p:cNvPr name="TextBox 25" id="25"/>
            <p:cNvSpPr txBox="true"/>
            <p:nvPr/>
          </p:nvSpPr>
          <p:spPr>
            <a:xfrm>
              <a:off x="0" y="-19050"/>
              <a:ext cx="3637407" cy="880821"/>
            </a:xfrm>
            <a:prstGeom prst="rect">
              <a:avLst/>
            </a:prstGeom>
          </p:spPr>
          <p:txBody>
            <a:bodyPr anchor="ctr" rtlCol="false" tIns="0" lIns="0" bIns="0" rIns="0"/>
            <a:lstStyle/>
            <a:p>
              <a:pPr algn="ctr">
                <a:lnSpc>
                  <a:spcPts val="2520"/>
                </a:lnSpc>
              </a:pPr>
              <a:r>
                <a:rPr lang="en-US" b="true" sz="2100" i="true">
                  <a:solidFill>
                    <a:srgbClr val="5A5A5A"/>
                  </a:solidFill>
                  <a:latin typeface="Trebuchet MS Bold Italics"/>
                  <a:ea typeface="Trebuchet MS Bold Italics"/>
                  <a:cs typeface="Trebuchet MS Bold Italics"/>
                  <a:sym typeface="Trebuchet MS Bold Italics"/>
                </a:rPr>
                <a:t>HOUEYETONGNON Christelle Divinia</a:t>
              </a:r>
            </a:p>
          </p:txBody>
        </p:sp>
      </p:grpSp>
      <p:grpSp>
        <p:nvGrpSpPr>
          <p:cNvPr name="Group 26" id="26"/>
          <p:cNvGrpSpPr/>
          <p:nvPr/>
        </p:nvGrpSpPr>
        <p:grpSpPr>
          <a:xfrm rot="0">
            <a:off x="14677387" y="3741877"/>
            <a:ext cx="3165758" cy="4312358"/>
            <a:chOff x="0" y="0"/>
            <a:chExt cx="4221010" cy="5749811"/>
          </a:xfrm>
        </p:grpSpPr>
        <p:sp>
          <p:nvSpPr>
            <p:cNvPr name="Freeform 27" id="27"/>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28" id="28"/>
          <p:cNvGrpSpPr/>
          <p:nvPr/>
        </p:nvGrpSpPr>
        <p:grpSpPr>
          <a:xfrm rot="0">
            <a:off x="14933676" y="6849685"/>
            <a:ext cx="2728055" cy="646328"/>
            <a:chOff x="0" y="0"/>
            <a:chExt cx="3637407" cy="861771"/>
          </a:xfrm>
        </p:grpSpPr>
        <p:sp>
          <p:nvSpPr>
            <p:cNvPr name="Freeform 29" id="29"/>
            <p:cNvSpPr/>
            <p:nvPr/>
          </p:nvSpPr>
          <p:spPr>
            <a:xfrm flipH="false" flipV="false" rot="0">
              <a:off x="0" y="0"/>
              <a:ext cx="3637404" cy="861774"/>
            </a:xfrm>
            <a:custGeom>
              <a:avLst/>
              <a:gdLst/>
              <a:ahLst/>
              <a:cxnLst/>
              <a:rect r="r" b="b" t="t" l="l"/>
              <a:pathLst>
                <a:path h="861774" w="3637404">
                  <a:moveTo>
                    <a:pt x="0" y="0"/>
                  </a:moveTo>
                  <a:lnTo>
                    <a:pt x="3637404" y="0"/>
                  </a:lnTo>
                  <a:lnTo>
                    <a:pt x="3637404" y="861774"/>
                  </a:lnTo>
                  <a:lnTo>
                    <a:pt x="0" y="861774"/>
                  </a:lnTo>
                  <a:close/>
                </a:path>
              </a:pathLst>
            </a:custGeom>
            <a:blipFill>
              <a:blip r:embed="rId2">
                <a:alphaModFix amt="0"/>
              </a:blip>
              <a:stretch>
                <a:fillRect l="0" t="-32243" r="0" b="-32242"/>
              </a:stretch>
            </a:blipFill>
          </p:spPr>
        </p:sp>
        <p:sp>
          <p:nvSpPr>
            <p:cNvPr name="TextBox 30" id="30"/>
            <p:cNvSpPr txBox="true"/>
            <p:nvPr/>
          </p:nvSpPr>
          <p:spPr>
            <a:xfrm>
              <a:off x="0" y="-19050"/>
              <a:ext cx="3637407" cy="880821"/>
            </a:xfrm>
            <a:prstGeom prst="rect">
              <a:avLst/>
            </a:prstGeom>
          </p:spPr>
          <p:txBody>
            <a:bodyPr anchor="ctr" rtlCol="false" tIns="0" lIns="0" bIns="0" rIns="0"/>
            <a:lstStyle/>
            <a:p>
              <a:pPr algn="ctr">
                <a:lnSpc>
                  <a:spcPts val="2520"/>
                </a:lnSpc>
              </a:pPr>
              <a:r>
                <a:rPr lang="en-US" b="true" sz="2100" i="true">
                  <a:solidFill>
                    <a:srgbClr val="5A5A5A"/>
                  </a:solidFill>
                  <a:latin typeface="Trebuchet MS Bold Italics"/>
                  <a:ea typeface="Trebuchet MS Bold Italics"/>
                  <a:cs typeface="Trebuchet MS Bold Italics"/>
                  <a:sym typeface="Trebuchet MS Bold Italics"/>
                </a:rPr>
                <a:t>KPEGBE Mahougnon Uriel</a:t>
              </a:r>
            </a:p>
          </p:txBody>
        </p:sp>
      </p:grpSp>
      <p:grpSp>
        <p:nvGrpSpPr>
          <p:cNvPr name="Group 31" id="31"/>
          <p:cNvGrpSpPr/>
          <p:nvPr/>
        </p:nvGrpSpPr>
        <p:grpSpPr>
          <a:xfrm rot="0">
            <a:off x="12964887" y="2686"/>
            <a:ext cx="3877113" cy="748427"/>
            <a:chOff x="0" y="0"/>
            <a:chExt cx="5169484" cy="997902"/>
          </a:xfrm>
        </p:grpSpPr>
        <p:sp>
          <p:nvSpPr>
            <p:cNvPr name="Freeform 32" id="32"/>
            <p:cNvSpPr/>
            <p:nvPr/>
          </p:nvSpPr>
          <p:spPr>
            <a:xfrm flipH="false" flipV="false" rot="0">
              <a:off x="0" y="0"/>
              <a:ext cx="5169535" cy="997839"/>
            </a:xfrm>
            <a:custGeom>
              <a:avLst/>
              <a:gdLst/>
              <a:ahLst/>
              <a:cxnLst/>
              <a:rect r="r" b="b" t="t" l="l"/>
              <a:pathLst>
                <a:path h="997839" w="5169535">
                  <a:moveTo>
                    <a:pt x="0" y="0"/>
                  </a:moveTo>
                  <a:lnTo>
                    <a:pt x="5169535" y="0"/>
                  </a:lnTo>
                  <a:lnTo>
                    <a:pt x="5169535" y="997839"/>
                  </a:lnTo>
                  <a:lnTo>
                    <a:pt x="0" y="997839"/>
                  </a:lnTo>
                  <a:close/>
                </a:path>
              </a:pathLst>
            </a:custGeom>
            <a:solidFill>
              <a:srgbClr val="A5A5A5"/>
            </a:solidFill>
          </p:spPr>
        </p:sp>
        <p:sp>
          <p:nvSpPr>
            <p:cNvPr name="TextBox 33" id="33"/>
            <p:cNvSpPr txBox="true"/>
            <p:nvPr/>
          </p:nvSpPr>
          <p:spPr>
            <a:xfrm>
              <a:off x="0" y="-161925"/>
              <a:ext cx="5169484" cy="1159827"/>
            </a:xfrm>
            <a:prstGeom prst="rect">
              <a:avLst/>
            </a:prstGeom>
          </p:spPr>
          <p:txBody>
            <a:bodyPr anchor="ctr" rtlCol="false" tIns="50800" lIns="50800" bIns="50800" rIns="50800"/>
            <a:lstStyle/>
            <a:p>
              <a:pPr algn="ctr">
                <a:lnSpc>
                  <a:spcPts val="4860"/>
                </a:lnSpc>
              </a:pPr>
              <a:r>
                <a:rPr lang="en-US" sz="2700" b="true">
                  <a:solidFill>
                    <a:srgbClr val="FFFFFF"/>
                  </a:solidFill>
                  <a:latin typeface="Trebuchet MS Bold"/>
                  <a:ea typeface="Trebuchet MS Bold"/>
                  <a:cs typeface="Trebuchet MS Bold"/>
                  <a:sym typeface="Trebuchet MS Bold"/>
                </a:rPr>
                <a:t> Afrique de l'Ouest</a:t>
              </a:r>
            </a:p>
          </p:txBody>
        </p:sp>
      </p:grpSp>
      <p:grpSp>
        <p:nvGrpSpPr>
          <p:cNvPr name="Group 34" id="34"/>
          <p:cNvGrpSpPr/>
          <p:nvPr/>
        </p:nvGrpSpPr>
        <p:grpSpPr>
          <a:xfrm rot="0">
            <a:off x="7884585" y="3879590"/>
            <a:ext cx="2833583" cy="2683383"/>
            <a:chOff x="0" y="0"/>
            <a:chExt cx="3778110" cy="3577844"/>
          </a:xfrm>
        </p:grpSpPr>
        <p:sp>
          <p:nvSpPr>
            <p:cNvPr name="Freeform 35" id="35"/>
            <p:cNvSpPr/>
            <p:nvPr/>
          </p:nvSpPr>
          <p:spPr>
            <a:xfrm flipH="false" flipV="false" rot="0">
              <a:off x="0" y="0"/>
              <a:ext cx="3778123" cy="3577844"/>
            </a:xfrm>
            <a:custGeom>
              <a:avLst/>
              <a:gdLst/>
              <a:ahLst/>
              <a:cxnLst/>
              <a:rect r="r" b="b" t="t" l="l"/>
              <a:pathLst>
                <a:path h="3577844" w="3778123">
                  <a:moveTo>
                    <a:pt x="1270000" y="0"/>
                  </a:moveTo>
                  <a:lnTo>
                    <a:pt x="2508123" y="0"/>
                  </a:lnTo>
                  <a:cubicBezTo>
                    <a:pt x="3209524" y="0"/>
                    <a:pt x="3778123" y="568598"/>
                    <a:pt x="3778123" y="1270000"/>
                  </a:cubicBezTo>
                  <a:lnTo>
                    <a:pt x="3778123" y="2307844"/>
                  </a:lnTo>
                  <a:cubicBezTo>
                    <a:pt x="3778123" y="2644669"/>
                    <a:pt x="3644320" y="2967699"/>
                    <a:pt x="3406149" y="3205870"/>
                  </a:cubicBezTo>
                  <a:cubicBezTo>
                    <a:pt x="3167977" y="3444041"/>
                    <a:pt x="2844948" y="3577844"/>
                    <a:pt x="2508123" y="3577844"/>
                  </a:cubicBezTo>
                  <a:lnTo>
                    <a:pt x="1270000" y="3577844"/>
                  </a:lnTo>
                  <a:cubicBezTo>
                    <a:pt x="933175" y="3577844"/>
                    <a:pt x="610146" y="3444041"/>
                    <a:pt x="371974" y="3205870"/>
                  </a:cubicBezTo>
                  <a:cubicBezTo>
                    <a:pt x="133803" y="2967699"/>
                    <a:pt x="0" y="2644669"/>
                    <a:pt x="0" y="2307844"/>
                  </a:cubicBezTo>
                  <a:lnTo>
                    <a:pt x="0" y="1270000"/>
                  </a:lnTo>
                  <a:cubicBezTo>
                    <a:pt x="0" y="568598"/>
                    <a:pt x="568598" y="0"/>
                    <a:pt x="1270000" y="0"/>
                  </a:cubicBezTo>
                  <a:close/>
                </a:path>
              </a:pathLst>
            </a:custGeom>
            <a:blipFill>
              <a:blip r:embed="rId3"/>
              <a:stretch>
                <a:fillRect l="-110" t="0" r="-110" b="0"/>
              </a:stretch>
            </a:blipFill>
          </p:spPr>
        </p:sp>
      </p:grpSp>
      <p:grpSp>
        <p:nvGrpSpPr>
          <p:cNvPr name="Group 36" id="36"/>
          <p:cNvGrpSpPr/>
          <p:nvPr/>
        </p:nvGrpSpPr>
        <p:grpSpPr>
          <a:xfrm rot="0">
            <a:off x="14781848" y="3912241"/>
            <a:ext cx="2943835" cy="2683383"/>
            <a:chOff x="0" y="0"/>
            <a:chExt cx="3925113" cy="3577844"/>
          </a:xfrm>
        </p:grpSpPr>
        <p:sp>
          <p:nvSpPr>
            <p:cNvPr name="Freeform 37" id="37"/>
            <p:cNvSpPr/>
            <p:nvPr/>
          </p:nvSpPr>
          <p:spPr>
            <a:xfrm flipH="false" flipV="false" rot="0">
              <a:off x="0" y="0"/>
              <a:ext cx="3925062" cy="3577844"/>
            </a:xfrm>
            <a:custGeom>
              <a:avLst/>
              <a:gdLst/>
              <a:ahLst/>
              <a:cxnLst/>
              <a:rect r="r" b="b" t="t" l="l"/>
              <a:pathLst>
                <a:path h="3577844" w="3925062">
                  <a:moveTo>
                    <a:pt x="1270000" y="0"/>
                  </a:moveTo>
                  <a:lnTo>
                    <a:pt x="2655062" y="0"/>
                  </a:lnTo>
                  <a:cubicBezTo>
                    <a:pt x="2991887" y="0"/>
                    <a:pt x="3314916" y="133803"/>
                    <a:pt x="3553088" y="371974"/>
                  </a:cubicBezTo>
                  <a:cubicBezTo>
                    <a:pt x="3791259" y="610146"/>
                    <a:pt x="3925062" y="933175"/>
                    <a:pt x="3925062" y="1270000"/>
                  </a:cubicBezTo>
                  <a:lnTo>
                    <a:pt x="3925062" y="2307844"/>
                  </a:lnTo>
                  <a:cubicBezTo>
                    <a:pt x="3925062" y="3009246"/>
                    <a:pt x="3356464" y="3577844"/>
                    <a:pt x="2655062" y="3577844"/>
                  </a:cubicBezTo>
                  <a:lnTo>
                    <a:pt x="1270000" y="3577844"/>
                  </a:lnTo>
                  <a:cubicBezTo>
                    <a:pt x="933175" y="3577844"/>
                    <a:pt x="610146" y="3444041"/>
                    <a:pt x="371974" y="3205870"/>
                  </a:cubicBezTo>
                  <a:cubicBezTo>
                    <a:pt x="133803" y="2967699"/>
                    <a:pt x="0" y="2644669"/>
                    <a:pt x="0" y="2307844"/>
                  </a:cubicBezTo>
                  <a:lnTo>
                    <a:pt x="0" y="1270000"/>
                  </a:lnTo>
                  <a:cubicBezTo>
                    <a:pt x="0" y="568598"/>
                    <a:pt x="568598" y="0"/>
                    <a:pt x="1270000" y="0"/>
                  </a:cubicBezTo>
                  <a:close/>
                </a:path>
              </a:pathLst>
            </a:custGeom>
            <a:blipFill>
              <a:blip r:embed="rId4"/>
              <a:stretch>
                <a:fillRect l="-27825" t="-13452" r="-33628" b="-57437"/>
              </a:stretch>
            </a:blipFill>
          </p:spPr>
        </p:sp>
      </p:grpSp>
      <p:grpSp>
        <p:nvGrpSpPr>
          <p:cNvPr name="Group 38" id="38"/>
          <p:cNvGrpSpPr/>
          <p:nvPr/>
        </p:nvGrpSpPr>
        <p:grpSpPr>
          <a:xfrm rot="0">
            <a:off x="4390834" y="3937835"/>
            <a:ext cx="2854642" cy="2863215"/>
            <a:chOff x="0" y="0"/>
            <a:chExt cx="3806190" cy="3817620"/>
          </a:xfrm>
        </p:grpSpPr>
        <p:sp>
          <p:nvSpPr>
            <p:cNvPr name="Freeform 39" id="39"/>
            <p:cNvSpPr/>
            <p:nvPr/>
          </p:nvSpPr>
          <p:spPr>
            <a:xfrm flipH="false" flipV="false" rot="0">
              <a:off x="0" y="0"/>
              <a:ext cx="3806190" cy="3817620"/>
            </a:xfrm>
            <a:custGeom>
              <a:avLst/>
              <a:gdLst/>
              <a:ahLst/>
              <a:cxnLst/>
              <a:rect r="r" b="b" t="t" l="l"/>
              <a:pathLst>
                <a:path h="3817620" w="3806190">
                  <a:moveTo>
                    <a:pt x="1270000" y="0"/>
                  </a:moveTo>
                  <a:lnTo>
                    <a:pt x="2536190" y="0"/>
                  </a:lnTo>
                  <a:cubicBezTo>
                    <a:pt x="2873015" y="0"/>
                    <a:pt x="3196045" y="133803"/>
                    <a:pt x="3434216" y="371974"/>
                  </a:cubicBezTo>
                  <a:cubicBezTo>
                    <a:pt x="3672387" y="610146"/>
                    <a:pt x="3806190" y="933175"/>
                    <a:pt x="3806190" y="1270000"/>
                  </a:cubicBezTo>
                  <a:lnTo>
                    <a:pt x="3806190" y="2547620"/>
                  </a:lnTo>
                  <a:cubicBezTo>
                    <a:pt x="3806190" y="3249022"/>
                    <a:pt x="3237592" y="3817620"/>
                    <a:pt x="2536190" y="3817620"/>
                  </a:cubicBezTo>
                  <a:lnTo>
                    <a:pt x="1270000" y="3817620"/>
                  </a:lnTo>
                  <a:cubicBezTo>
                    <a:pt x="933175" y="3817620"/>
                    <a:pt x="610146" y="3683817"/>
                    <a:pt x="371974" y="3445646"/>
                  </a:cubicBezTo>
                  <a:cubicBezTo>
                    <a:pt x="133803" y="3207475"/>
                    <a:pt x="0" y="2884445"/>
                    <a:pt x="0" y="2547620"/>
                  </a:cubicBezTo>
                  <a:lnTo>
                    <a:pt x="0" y="1270000"/>
                  </a:lnTo>
                  <a:cubicBezTo>
                    <a:pt x="0" y="568598"/>
                    <a:pt x="568598" y="0"/>
                    <a:pt x="1270000" y="0"/>
                  </a:cubicBezTo>
                  <a:close/>
                </a:path>
              </a:pathLst>
            </a:custGeom>
            <a:blipFill>
              <a:blip r:embed="rId5"/>
              <a:stretch>
                <a:fillRect l="0" t="0" r="0" b="0"/>
              </a:stretch>
            </a:blipFill>
          </p:spPr>
        </p:sp>
      </p:grpSp>
      <p:grpSp>
        <p:nvGrpSpPr>
          <p:cNvPr name="Group 40" id="40"/>
          <p:cNvGrpSpPr/>
          <p:nvPr/>
        </p:nvGrpSpPr>
        <p:grpSpPr>
          <a:xfrm rot="0">
            <a:off x="11453870" y="3846928"/>
            <a:ext cx="2683078" cy="2899439"/>
            <a:chOff x="0" y="0"/>
            <a:chExt cx="3577438" cy="3865918"/>
          </a:xfrm>
        </p:grpSpPr>
        <p:sp>
          <p:nvSpPr>
            <p:cNvPr name="Freeform 41" id="41"/>
            <p:cNvSpPr/>
            <p:nvPr/>
          </p:nvSpPr>
          <p:spPr>
            <a:xfrm flipH="false" flipV="false" rot="0">
              <a:off x="0" y="0"/>
              <a:ext cx="3577463" cy="3865880"/>
            </a:xfrm>
            <a:custGeom>
              <a:avLst/>
              <a:gdLst/>
              <a:ahLst/>
              <a:cxnLst/>
              <a:rect r="r" b="b" t="t" l="l"/>
              <a:pathLst>
                <a:path h="3865880" w="3577463">
                  <a:moveTo>
                    <a:pt x="1130300" y="0"/>
                  </a:moveTo>
                  <a:lnTo>
                    <a:pt x="2447163" y="0"/>
                  </a:lnTo>
                  <a:cubicBezTo>
                    <a:pt x="3071411" y="0"/>
                    <a:pt x="3577463" y="506053"/>
                    <a:pt x="3577463" y="1130300"/>
                  </a:cubicBezTo>
                  <a:lnTo>
                    <a:pt x="3577463" y="2735580"/>
                  </a:lnTo>
                  <a:cubicBezTo>
                    <a:pt x="3577463" y="3035354"/>
                    <a:pt x="3458378" y="3322850"/>
                    <a:pt x="3246406" y="3534823"/>
                  </a:cubicBezTo>
                  <a:cubicBezTo>
                    <a:pt x="3034433" y="3746795"/>
                    <a:pt x="2746937" y="3865880"/>
                    <a:pt x="2447163" y="3865880"/>
                  </a:cubicBezTo>
                  <a:lnTo>
                    <a:pt x="1130300" y="3865880"/>
                  </a:lnTo>
                  <a:cubicBezTo>
                    <a:pt x="506053" y="3865880"/>
                    <a:pt x="0" y="3359827"/>
                    <a:pt x="0" y="2735580"/>
                  </a:cubicBezTo>
                  <a:lnTo>
                    <a:pt x="0" y="1130300"/>
                  </a:lnTo>
                  <a:cubicBezTo>
                    <a:pt x="0" y="506053"/>
                    <a:pt x="506053" y="0"/>
                    <a:pt x="1130300" y="0"/>
                  </a:cubicBezTo>
                  <a:close/>
                </a:path>
              </a:pathLst>
            </a:custGeom>
            <a:blipFill>
              <a:blip r:embed="rId6"/>
              <a:stretch>
                <a:fillRect l="0" t="-142" r="0" b="-143"/>
              </a:stretch>
            </a:blipFill>
          </p:spPr>
        </p:sp>
      </p:grpSp>
      <p:grpSp>
        <p:nvGrpSpPr>
          <p:cNvPr name="Group 42" id="42"/>
          <p:cNvGrpSpPr/>
          <p:nvPr/>
        </p:nvGrpSpPr>
        <p:grpSpPr>
          <a:xfrm rot="0">
            <a:off x="883072" y="3870874"/>
            <a:ext cx="2898248" cy="2930166"/>
            <a:chOff x="0" y="0"/>
            <a:chExt cx="3864331" cy="3906888"/>
          </a:xfrm>
        </p:grpSpPr>
        <p:sp>
          <p:nvSpPr>
            <p:cNvPr name="Freeform 43" id="43"/>
            <p:cNvSpPr/>
            <p:nvPr/>
          </p:nvSpPr>
          <p:spPr>
            <a:xfrm flipH="false" flipV="false" rot="0">
              <a:off x="0" y="0"/>
              <a:ext cx="3864356" cy="3906901"/>
            </a:xfrm>
            <a:custGeom>
              <a:avLst/>
              <a:gdLst/>
              <a:ahLst/>
              <a:cxnLst/>
              <a:rect r="r" b="b" t="t" l="l"/>
              <a:pathLst>
                <a:path h="3906901" w="3864356">
                  <a:moveTo>
                    <a:pt x="1270000" y="0"/>
                  </a:moveTo>
                  <a:lnTo>
                    <a:pt x="2594356" y="0"/>
                  </a:lnTo>
                  <a:cubicBezTo>
                    <a:pt x="2931181" y="0"/>
                    <a:pt x="3254210" y="133803"/>
                    <a:pt x="3492382" y="371974"/>
                  </a:cubicBezTo>
                  <a:cubicBezTo>
                    <a:pt x="3730553" y="610146"/>
                    <a:pt x="3864356" y="933175"/>
                    <a:pt x="3864356" y="1270000"/>
                  </a:cubicBezTo>
                  <a:lnTo>
                    <a:pt x="3864356" y="2636901"/>
                  </a:lnTo>
                  <a:cubicBezTo>
                    <a:pt x="3864356" y="3338303"/>
                    <a:pt x="3295758" y="3906901"/>
                    <a:pt x="2594356" y="3906901"/>
                  </a:cubicBezTo>
                  <a:lnTo>
                    <a:pt x="1270000" y="3906901"/>
                  </a:lnTo>
                  <a:cubicBezTo>
                    <a:pt x="933175" y="3906901"/>
                    <a:pt x="610146" y="3773098"/>
                    <a:pt x="371974" y="3534927"/>
                  </a:cubicBezTo>
                  <a:cubicBezTo>
                    <a:pt x="133803" y="3296755"/>
                    <a:pt x="0" y="2973726"/>
                    <a:pt x="0" y="2636901"/>
                  </a:cubicBezTo>
                  <a:lnTo>
                    <a:pt x="0" y="1270000"/>
                  </a:lnTo>
                  <a:cubicBezTo>
                    <a:pt x="0" y="568598"/>
                    <a:pt x="568598" y="0"/>
                    <a:pt x="1270000" y="0"/>
                  </a:cubicBezTo>
                  <a:close/>
                </a:path>
              </a:pathLst>
            </a:custGeom>
            <a:blipFill>
              <a:blip r:embed="rId7"/>
              <a:stretch>
                <a:fillRect l="0" t="-1706" r="0" b="-1706"/>
              </a:stretch>
            </a:blipFill>
          </p:spPr>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586921" y="310639"/>
            <a:ext cx="16928840" cy="517065"/>
          </a:xfrm>
          <a:prstGeom prst="rect">
            <a:avLst/>
          </a:prstGeom>
        </p:spPr>
        <p:txBody>
          <a:bodyPr anchor="t" rtlCol="false" tIns="0" lIns="0" bIns="0" rIns="0">
            <a:spAutoFit/>
          </a:bodyPr>
          <a:lstStyle/>
          <a:p>
            <a:pPr algn="l">
              <a:lnSpc>
                <a:spcPts val="3888"/>
              </a:lnSpc>
            </a:pPr>
            <a:r>
              <a:rPr lang="en-US" sz="3600" b="true">
                <a:solidFill>
                  <a:srgbClr val="284181"/>
                </a:solidFill>
                <a:latin typeface="Trebuchet MS Bold"/>
                <a:ea typeface="Trebuchet MS Bold"/>
                <a:cs typeface="Trebuchet MS Bold"/>
                <a:sym typeface="Trebuchet MS Bold"/>
              </a:rPr>
              <a:t>PRÉSENTATION DU CAS D'UTILISATION : Filière coton au Bénin</a:t>
            </a:r>
          </a:p>
        </p:txBody>
      </p:sp>
      <p:sp>
        <p:nvSpPr>
          <p:cNvPr name="TextBox 7" id="7"/>
          <p:cNvSpPr txBox="true"/>
          <p:nvPr/>
        </p:nvSpPr>
        <p:spPr>
          <a:xfrm rot="0">
            <a:off x="603371" y="1010803"/>
            <a:ext cx="16147199" cy="1357894"/>
          </a:xfrm>
          <a:prstGeom prst="rect">
            <a:avLst/>
          </a:prstGeom>
        </p:spPr>
        <p:txBody>
          <a:bodyPr anchor="t" rtlCol="false" tIns="0" lIns="0" bIns="0" rIns="0">
            <a:spAutoFit/>
          </a:bodyPr>
          <a:lstStyle/>
          <a:p>
            <a:pPr algn="just">
              <a:lnSpc>
                <a:spcPts val="3283"/>
              </a:lnSpc>
            </a:pPr>
            <a:r>
              <a:rPr lang="en-US" sz="2400">
                <a:solidFill>
                  <a:srgbClr val="2D2D2D"/>
                </a:solidFill>
                <a:latin typeface="Trebuchet MS"/>
                <a:ea typeface="Trebuchet MS"/>
                <a:cs typeface="Trebuchet MS"/>
                <a:sym typeface="Trebuchet MS"/>
              </a:rPr>
              <a:t>CottonPay transforme chaque livraison de coton en un credential numérique vérifiable que le producteur stocke souverainement dans son smartphone créant pour la première fois un historique économique certifié qui lui ouvre les portes du crédit formel.</a:t>
            </a:r>
          </a:p>
        </p:txBody>
      </p:sp>
      <p:grpSp>
        <p:nvGrpSpPr>
          <p:cNvPr name="Group 8" id="8"/>
          <p:cNvGrpSpPr/>
          <p:nvPr/>
        </p:nvGrpSpPr>
        <p:grpSpPr>
          <a:xfrm rot="0">
            <a:off x="511950" y="2698975"/>
            <a:ext cx="17111682" cy="1532696"/>
            <a:chOff x="0" y="0"/>
            <a:chExt cx="22815575" cy="2043595"/>
          </a:xfrm>
        </p:grpSpPr>
        <p:sp>
          <p:nvSpPr>
            <p:cNvPr name="Freeform 9" id="9"/>
            <p:cNvSpPr/>
            <p:nvPr/>
          </p:nvSpPr>
          <p:spPr>
            <a:xfrm flipH="false" flipV="false" rot="0">
              <a:off x="0" y="0"/>
              <a:ext cx="22815550" cy="2043557"/>
            </a:xfrm>
            <a:custGeom>
              <a:avLst/>
              <a:gdLst/>
              <a:ahLst/>
              <a:cxnLst/>
              <a:rect r="r" b="b" t="t" l="l"/>
              <a:pathLst>
                <a:path h="2043557" w="22815550">
                  <a:moveTo>
                    <a:pt x="0" y="0"/>
                  </a:moveTo>
                  <a:lnTo>
                    <a:pt x="22815550" y="0"/>
                  </a:lnTo>
                  <a:lnTo>
                    <a:pt x="22815550" y="2043557"/>
                  </a:lnTo>
                  <a:lnTo>
                    <a:pt x="0" y="2043557"/>
                  </a:lnTo>
                  <a:close/>
                </a:path>
              </a:pathLst>
            </a:custGeom>
            <a:solidFill>
              <a:srgbClr val="E6E7E8"/>
            </a:solidFill>
          </p:spPr>
        </p:sp>
      </p:grpSp>
      <p:grpSp>
        <p:nvGrpSpPr>
          <p:cNvPr name="Group 10" id="10"/>
          <p:cNvGrpSpPr/>
          <p:nvPr/>
        </p:nvGrpSpPr>
        <p:grpSpPr>
          <a:xfrm rot="-10800000">
            <a:off x="883577" y="2559644"/>
            <a:ext cx="1730912" cy="1634833"/>
            <a:chOff x="0" y="0"/>
            <a:chExt cx="2307882" cy="2179777"/>
          </a:xfrm>
        </p:grpSpPr>
        <p:sp>
          <p:nvSpPr>
            <p:cNvPr name="Freeform 11" id="11"/>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12" id="12"/>
          <p:cNvGrpSpPr/>
          <p:nvPr/>
        </p:nvGrpSpPr>
        <p:grpSpPr>
          <a:xfrm rot="0">
            <a:off x="1052455" y="2764526"/>
            <a:ext cx="1393174" cy="1226125"/>
            <a:chOff x="0" y="0"/>
            <a:chExt cx="1857565" cy="1634833"/>
          </a:xfrm>
        </p:grpSpPr>
        <p:sp>
          <p:nvSpPr>
            <p:cNvPr name="Freeform 13" id="13"/>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14" id="14"/>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01</a:t>
              </a:r>
            </a:p>
          </p:txBody>
        </p:sp>
      </p:grpSp>
      <p:sp>
        <p:nvSpPr>
          <p:cNvPr name="TextBox 15" id="15"/>
          <p:cNvSpPr txBox="true"/>
          <p:nvPr/>
        </p:nvSpPr>
        <p:spPr>
          <a:xfrm rot="0">
            <a:off x="2874788" y="2901353"/>
            <a:ext cx="14269336" cy="1491758"/>
          </a:xfrm>
          <a:prstGeom prst="rect">
            <a:avLst/>
          </a:prstGeom>
        </p:spPr>
        <p:txBody>
          <a:bodyPr anchor="t" rtlCol="false" tIns="0" lIns="0" bIns="0" rIns="0">
            <a:spAutoFit/>
          </a:bodyPr>
          <a:lstStyle/>
          <a:p>
            <a:pPr algn="l">
              <a:lnSpc>
                <a:spcPts val="2268"/>
              </a:lnSpc>
            </a:pPr>
            <a:r>
              <a:rPr lang="en-US" b="true" sz="2100" i="true">
                <a:solidFill>
                  <a:srgbClr val="284181"/>
                </a:solidFill>
                <a:latin typeface="Trebuchet MS Bold Italics"/>
                <a:ea typeface="Trebuchet MS Bold Italics"/>
                <a:cs typeface="Trebuchet MS Bold Italics"/>
                <a:sym typeface="Trebuchet MS Bold Italics"/>
              </a:rPr>
              <a:t>Les producteurs de coton au Bénin n'ont aucune preuve formelle de leurs livraisons et revenus, les rendant vulnérables à la fraude, incapables d'accéder au crédit, et économiquement invisibles. Cela affecte plus de 200 000 agriculteurs piégés dans l'endettement informel malgré leur contribution au premier pilier économique du pays.</a:t>
            </a:r>
          </a:p>
          <a:p>
            <a:pPr algn="l">
              <a:lnSpc>
                <a:spcPts val="2268"/>
              </a:lnSpc>
            </a:pPr>
          </a:p>
        </p:txBody>
      </p:sp>
      <p:grpSp>
        <p:nvGrpSpPr>
          <p:cNvPr name="Group 16" id="16"/>
          <p:cNvGrpSpPr/>
          <p:nvPr/>
        </p:nvGrpSpPr>
        <p:grpSpPr>
          <a:xfrm rot="0">
            <a:off x="511950" y="4608757"/>
            <a:ext cx="17111682" cy="1266549"/>
            <a:chOff x="0" y="0"/>
            <a:chExt cx="22815575" cy="1688732"/>
          </a:xfrm>
        </p:grpSpPr>
        <p:sp>
          <p:nvSpPr>
            <p:cNvPr name="Freeform 17" id="17"/>
            <p:cNvSpPr/>
            <p:nvPr/>
          </p:nvSpPr>
          <p:spPr>
            <a:xfrm flipH="false" flipV="false" rot="0">
              <a:off x="0" y="0"/>
              <a:ext cx="22815550" cy="1688719"/>
            </a:xfrm>
            <a:custGeom>
              <a:avLst/>
              <a:gdLst/>
              <a:ahLst/>
              <a:cxnLst/>
              <a:rect r="r" b="b" t="t" l="l"/>
              <a:pathLst>
                <a:path h="1688719" w="22815550">
                  <a:moveTo>
                    <a:pt x="0" y="0"/>
                  </a:moveTo>
                  <a:lnTo>
                    <a:pt x="22815550" y="0"/>
                  </a:lnTo>
                  <a:lnTo>
                    <a:pt x="22815550" y="1688719"/>
                  </a:lnTo>
                  <a:lnTo>
                    <a:pt x="0" y="1688719"/>
                  </a:lnTo>
                  <a:close/>
                </a:path>
              </a:pathLst>
            </a:custGeom>
            <a:solidFill>
              <a:srgbClr val="E6E7E8"/>
            </a:solidFill>
          </p:spPr>
        </p:sp>
      </p:grpSp>
      <p:grpSp>
        <p:nvGrpSpPr>
          <p:cNvPr name="Group 18" id="18"/>
          <p:cNvGrpSpPr/>
          <p:nvPr/>
        </p:nvGrpSpPr>
        <p:grpSpPr>
          <a:xfrm rot="-10800000">
            <a:off x="883577" y="4469425"/>
            <a:ext cx="1730912" cy="1634833"/>
            <a:chOff x="0" y="0"/>
            <a:chExt cx="2307882" cy="2179777"/>
          </a:xfrm>
        </p:grpSpPr>
        <p:sp>
          <p:nvSpPr>
            <p:cNvPr name="Freeform 19" id="19"/>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00BFDF"/>
            </a:solidFill>
          </p:spPr>
        </p:sp>
      </p:grpSp>
      <p:grpSp>
        <p:nvGrpSpPr>
          <p:cNvPr name="Group 20" id="20"/>
          <p:cNvGrpSpPr/>
          <p:nvPr/>
        </p:nvGrpSpPr>
        <p:grpSpPr>
          <a:xfrm rot="0">
            <a:off x="1052455" y="4673775"/>
            <a:ext cx="1393174" cy="1226125"/>
            <a:chOff x="0" y="0"/>
            <a:chExt cx="1857565" cy="1634833"/>
          </a:xfrm>
        </p:grpSpPr>
        <p:sp>
          <p:nvSpPr>
            <p:cNvPr name="Freeform 21" id="21"/>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22" id="22"/>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00BFDF"/>
                  </a:solidFill>
                  <a:latin typeface="Trebuchet MS Bold"/>
                  <a:ea typeface="Trebuchet MS Bold"/>
                  <a:cs typeface="Trebuchet MS Bold"/>
                  <a:sym typeface="Trebuchet MS Bold"/>
                </a:rPr>
                <a:t>02</a:t>
              </a:r>
            </a:p>
          </p:txBody>
        </p:sp>
      </p:grpSp>
      <p:sp>
        <p:nvSpPr>
          <p:cNvPr name="TextBox 23" id="23"/>
          <p:cNvSpPr txBox="true"/>
          <p:nvPr/>
        </p:nvSpPr>
        <p:spPr>
          <a:xfrm rot="0">
            <a:off x="2874788" y="4836576"/>
            <a:ext cx="14657413" cy="910057"/>
          </a:xfrm>
          <a:prstGeom prst="rect">
            <a:avLst/>
          </a:prstGeom>
        </p:spPr>
        <p:txBody>
          <a:bodyPr anchor="t" rtlCol="false" tIns="0" lIns="0" bIns="0" rIns="0">
            <a:spAutoFit/>
          </a:bodyPr>
          <a:lstStyle/>
          <a:p>
            <a:pPr algn="l">
              <a:lnSpc>
                <a:spcPts val="2268"/>
              </a:lnSpc>
            </a:pPr>
            <a:r>
              <a:rPr lang="en-US" b="true" sz="2100" i="true">
                <a:solidFill>
                  <a:srgbClr val="00BFDF"/>
                </a:solidFill>
                <a:latin typeface="Trebuchet MS Bold Italics"/>
                <a:ea typeface="Trebuchet MS Bold Italics"/>
                <a:cs typeface="Trebuchet MS Bold Italics"/>
                <a:sym typeface="Trebuchet MS Bold Italics"/>
              </a:rPr>
              <a:t>CottonPay enregistre chaque livraison de coton avec des credentials vérifiables (preuves numériques certifiées) que les agriculteurs peuvent utiliser pour prouver leur historique de production, accéder aux services financiers, et garantir une traçabilité transparente de chaque transaction entre producteurs et coopératives.</a:t>
            </a:r>
          </a:p>
        </p:txBody>
      </p:sp>
      <p:grpSp>
        <p:nvGrpSpPr>
          <p:cNvPr name="Group 24" id="24"/>
          <p:cNvGrpSpPr/>
          <p:nvPr/>
        </p:nvGrpSpPr>
        <p:grpSpPr>
          <a:xfrm rot="0">
            <a:off x="495500" y="6518539"/>
            <a:ext cx="17128131" cy="1425264"/>
            <a:chOff x="0" y="0"/>
            <a:chExt cx="22837508" cy="1900352"/>
          </a:xfrm>
        </p:grpSpPr>
        <p:sp>
          <p:nvSpPr>
            <p:cNvPr name="Freeform 25" id="25"/>
            <p:cNvSpPr/>
            <p:nvPr/>
          </p:nvSpPr>
          <p:spPr>
            <a:xfrm flipH="false" flipV="false" rot="0">
              <a:off x="0" y="0"/>
              <a:ext cx="22837521" cy="1900301"/>
            </a:xfrm>
            <a:custGeom>
              <a:avLst/>
              <a:gdLst/>
              <a:ahLst/>
              <a:cxnLst/>
              <a:rect r="r" b="b" t="t" l="l"/>
              <a:pathLst>
                <a:path h="1900301" w="22837521">
                  <a:moveTo>
                    <a:pt x="0" y="0"/>
                  </a:moveTo>
                  <a:lnTo>
                    <a:pt x="22837521" y="0"/>
                  </a:lnTo>
                  <a:lnTo>
                    <a:pt x="22837521" y="1900301"/>
                  </a:lnTo>
                  <a:lnTo>
                    <a:pt x="0" y="1900301"/>
                  </a:lnTo>
                  <a:close/>
                </a:path>
              </a:pathLst>
            </a:custGeom>
            <a:solidFill>
              <a:srgbClr val="E6E7E8"/>
            </a:solidFill>
          </p:spPr>
        </p:sp>
      </p:grpSp>
      <p:grpSp>
        <p:nvGrpSpPr>
          <p:cNvPr name="Group 26" id="26"/>
          <p:cNvGrpSpPr/>
          <p:nvPr/>
        </p:nvGrpSpPr>
        <p:grpSpPr>
          <a:xfrm rot="-10800000">
            <a:off x="883577" y="6379207"/>
            <a:ext cx="1730912" cy="1634833"/>
            <a:chOff x="0" y="0"/>
            <a:chExt cx="2307882" cy="2179777"/>
          </a:xfrm>
        </p:grpSpPr>
        <p:sp>
          <p:nvSpPr>
            <p:cNvPr name="Freeform 27" id="27"/>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5A5A5A"/>
            </a:solidFill>
          </p:spPr>
        </p:sp>
      </p:grpSp>
      <p:grpSp>
        <p:nvGrpSpPr>
          <p:cNvPr name="Group 28" id="28"/>
          <p:cNvGrpSpPr/>
          <p:nvPr/>
        </p:nvGrpSpPr>
        <p:grpSpPr>
          <a:xfrm rot="0">
            <a:off x="1052455" y="6583556"/>
            <a:ext cx="1393174" cy="1226125"/>
            <a:chOff x="0" y="0"/>
            <a:chExt cx="1857565" cy="1634833"/>
          </a:xfrm>
        </p:grpSpPr>
        <p:sp>
          <p:nvSpPr>
            <p:cNvPr name="Freeform 29" id="29"/>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30" id="30"/>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5A5A5A"/>
                  </a:solidFill>
                  <a:latin typeface="Trebuchet MS Bold"/>
                  <a:ea typeface="Trebuchet MS Bold"/>
                  <a:cs typeface="Trebuchet MS Bold"/>
                  <a:sym typeface="Trebuchet MS Bold"/>
                </a:rPr>
                <a:t>03</a:t>
              </a:r>
            </a:p>
          </p:txBody>
        </p:sp>
      </p:grpSp>
      <p:sp>
        <p:nvSpPr>
          <p:cNvPr name="TextBox 31" id="31"/>
          <p:cNvSpPr txBox="true"/>
          <p:nvPr/>
        </p:nvSpPr>
        <p:spPr>
          <a:xfrm rot="0">
            <a:off x="2874788" y="6638782"/>
            <a:ext cx="14657413" cy="1200912"/>
          </a:xfrm>
          <a:prstGeom prst="rect">
            <a:avLst/>
          </a:prstGeom>
        </p:spPr>
        <p:txBody>
          <a:bodyPr anchor="t" rtlCol="false" tIns="0" lIns="0" bIns="0" rIns="0">
            <a:spAutoFit/>
          </a:bodyPr>
          <a:lstStyle/>
          <a:p>
            <a:pPr algn="l">
              <a:lnSpc>
                <a:spcPts val="2268"/>
              </a:lnSpc>
            </a:pPr>
            <a:r>
              <a:rPr lang="en-US" b="true" sz="2100" i="true">
                <a:solidFill>
                  <a:srgbClr val="434343"/>
                </a:solidFill>
                <a:latin typeface="Trebuchet MS Bold Italics"/>
                <a:ea typeface="Trebuchet MS Bold Italics"/>
                <a:cs typeface="Trebuchet MS Bold Italics"/>
                <a:sym typeface="Trebuchet MS Bold Italics"/>
              </a:rPr>
              <a:t>Les acteurs s'authentifient via eSignet (MOSIP) avec leur NPI. Chaque livraison génère un Verifiable Credential ancré sur BCovrin via eidStack, que le producteur stocke dans son wallet e-IDapp en scannant le QR code du bordereau. La vérification publique passe aussi par eSignet (OTP), permettant aux banques de consulter l'historique certifié du producteur.</a:t>
            </a:r>
          </a:p>
        </p:txBody>
      </p:sp>
      <p:grpSp>
        <p:nvGrpSpPr>
          <p:cNvPr name="Group 32" id="32"/>
          <p:cNvGrpSpPr/>
          <p:nvPr/>
        </p:nvGrpSpPr>
        <p:grpSpPr>
          <a:xfrm rot="0">
            <a:off x="2614498" y="4469425"/>
            <a:ext cx="137903" cy="139332"/>
            <a:chOff x="0" y="0"/>
            <a:chExt cx="183871" cy="185776"/>
          </a:xfrm>
        </p:grpSpPr>
        <p:sp>
          <p:nvSpPr>
            <p:cNvPr name="Freeform 33" id="33"/>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6ECFE0"/>
            </a:solidFill>
          </p:spPr>
        </p:sp>
      </p:grpSp>
      <p:grpSp>
        <p:nvGrpSpPr>
          <p:cNvPr name="Group 34" id="34"/>
          <p:cNvGrpSpPr/>
          <p:nvPr/>
        </p:nvGrpSpPr>
        <p:grpSpPr>
          <a:xfrm rot="0">
            <a:off x="2614498" y="2562406"/>
            <a:ext cx="137903" cy="139332"/>
            <a:chOff x="0" y="0"/>
            <a:chExt cx="183871" cy="185776"/>
          </a:xfrm>
        </p:grpSpPr>
        <p:sp>
          <p:nvSpPr>
            <p:cNvPr name="Freeform 35" id="35"/>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436AB3"/>
            </a:solidFill>
          </p:spPr>
        </p:sp>
      </p:grpSp>
      <p:grpSp>
        <p:nvGrpSpPr>
          <p:cNvPr name="Group 36" id="36"/>
          <p:cNvGrpSpPr/>
          <p:nvPr/>
        </p:nvGrpSpPr>
        <p:grpSpPr>
          <a:xfrm rot="0">
            <a:off x="2614498" y="6379207"/>
            <a:ext cx="137903" cy="139332"/>
            <a:chOff x="0" y="0"/>
            <a:chExt cx="183871" cy="185776"/>
          </a:xfrm>
        </p:grpSpPr>
        <p:sp>
          <p:nvSpPr>
            <p:cNvPr name="Freeform 37" id="37"/>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939598"/>
            </a:solidFill>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84963"/>
            <a:ext cx="16928840" cy="920887"/>
          </a:xfrm>
          <a:prstGeom prst="rect">
            <a:avLst/>
          </a:prstGeom>
        </p:spPr>
        <p:txBody>
          <a:bodyPr anchor="t" rtlCol="false" tIns="0" lIns="0" bIns="0" rIns="0">
            <a:spAutoFit/>
          </a:bodyPr>
          <a:lstStyle/>
          <a:p>
            <a:pPr algn="l">
              <a:lnSpc>
                <a:spcPts val="5668"/>
              </a:lnSpc>
            </a:pPr>
            <a:r>
              <a:rPr lang="en-US" sz="3600" b="true">
                <a:solidFill>
                  <a:srgbClr val="284181"/>
                </a:solidFill>
                <a:latin typeface="Trebuchet MS Bold"/>
                <a:ea typeface="Trebuchet MS Bold"/>
                <a:cs typeface="Trebuchet MS Bold"/>
                <a:sym typeface="Trebuchet MS Bold"/>
              </a:rPr>
              <a:t>ÉNONCÉ DU PROBLÈME</a:t>
            </a:r>
          </a:p>
        </p:txBody>
      </p:sp>
      <p:sp>
        <p:nvSpPr>
          <p:cNvPr name="TextBox 7" id="7"/>
          <p:cNvSpPr txBox="true"/>
          <p:nvPr/>
        </p:nvSpPr>
        <p:spPr>
          <a:xfrm rot="0">
            <a:off x="265147" y="908266"/>
            <a:ext cx="17267063" cy="8029804"/>
          </a:xfrm>
          <a:prstGeom prst="rect">
            <a:avLst/>
          </a:prstGeom>
        </p:spPr>
        <p:txBody>
          <a:bodyPr anchor="t" rtlCol="false" tIns="0" lIns="0" bIns="0" rIns="0">
            <a:spAutoFit/>
          </a:bodyPr>
          <a:lstStyle/>
          <a:p>
            <a:pPr algn="l" marL="407194" indent="-203597" lvl="1">
              <a:lnSpc>
                <a:spcPts val="2700"/>
              </a:lnSpc>
              <a:buAutoNum type="arabicPeriod" startAt="1"/>
            </a:pPr>
            <a:r>
              <a:rPr lang="en-US" b="true" sz="2250">
                <a:solidFill>
                  <a:srgbClr val="284181"/>
                </a:solidFill>
                <a:latin typeface="Trebuchet MS Bold"/>
                <a:ea typeface="Trebuchet MS Bold"/>
                <a:cs typeface="Trebuchet MS Bold"/>
                <a:sym typeface="Trebuchet MS Bold"/>
              </a:rPr>
              <a:t>Processus actuel : </a:t>
            </a:r>
          </a:p>
          <a:p>
            <a:pPr algn="l" marL="380048" indent="-190024" lvl="1">
              <a:lnSpc>
                <a:spcPts val="2520"/>
              </a:lnSpc>
            </a:pPr>
            <a:r>
              <a:rPr lang="en-US" b="true" sz="2100" i="true">
                <a:solidFill>
                  <a:srgbClr val="2D2D2D"/>
                </a:solidFill>
                <a:latin typeface="Trebuchet MS Bold Italics"/>
                <a:ea typeface="Trebuchet MS Bold Italics"/>
                <a:cs typeface="Trebuchet MS Bold Italics"/>
                <a:sym typeface="Trebuchet MS Bold Italics"/>
              </a:rPr>
              <a:t>L</a:t>
            </a:r>
            <a:r>
              <a:rPr lang="en-US" sz="2100" i="true">
                <a:solidFill>
                  <a:srgbClr val="2D2D2D"/>
                </a:solidFill>
                <a:latin typeface="Trebuchet MS Italics"/>
                <a:ea typeface="Trebuchet MS Italics"/>
                <a:cs typeface="Trebuchet MS Italics"/>
                <a:sym typeface="Trebuchet MS Italics"/>
              </a:rPr>
              <a:t>e producteur livre son coton au marché de collecte de sa coopérative (CVPC). La pesée, le classement qualité et l'enregistrement se font manuellement sur des registres papier. Un bordereau est parfois remis au producteur, mais il n'a aucune valeur probante en dehors de la coopérative. Le paiement transite par la CSPR (Centrale de Sécurisation des Paiements) qui déduit les crédits intrants à la source, souvent des mois après la livraison. Le producteur n'a aucun moyen de vérifier ni de prouver ces transactions auprès d'un tiers.</a:t>
            </a:r>
          </a:p>
          <a:p>
            <a:pPr algn="l" marL="380048" indent="-190024" lvl="1">
              <a:lnSpc>
                <a:spcPts val="2520"/>
              </a:lnSpc>
            </a:pPr>
          </a:p>
          <a:p>
            <a:pPr algn="l" marL="407194" indent="-203597" lvl="1">
              <a:lnSpc>
                <a:spcPts val="2700"/>
              </a:lnSpc>
              <a:buAutoNum type="arabicPeriod" startAt="1"/>
            </a:pPr>
            <a:r>
              <a:rPr lang="en-US" b="true" sz="2250">
                <a:solidFill>
                  <a:srgbClr val="284181"/>
                </a:solidFill>
                <a:latin typeface="Trebuchet MS Bold"/>
                <a:ea typeface="Trebuchet MS Bold"/>
                <a:cs typeface="Trebuchet MS Bold"/>
                <a:sym typeface="Trebuchet MS Bold"/>
              </a:rPr>
              <a:t>Obstacles et personnes affectées : </a:t>
            </a:r>
          </a:p>
          <a:p>
            <a:pPr algn="l" marL="380048" indent="-190024" lvl="1">
              <a:lnSpc>
                <a:spcPts val="2520"/>
              </a:lnSpc>
            </a:pPr>
            <a:r>
              <a:rPr lang="en-US" sz="2100" i="true" spc="-60">
                <a:solidFill>
                  <a:srgbClr val="2D2D2D"/>
                </a:solidFill>
                <a:latin typeface="Trebuchet MS Italics"/>
                <a:ea typeface="Trebuchet MS Italics"/>
                <a:cs typeface="Trebuchet MS Italics"/>
                <a:sym typeface="Trebuchet MS Italics"/>
              </a:rPr>
              <a:t>Les producteurs analphabètes et ceux cultivant moins de 2 hectares sont les plus touchés. Sans preuve formelle de revenus, ils ne peuvent accéder au crédit bancaire de campagne et se tournent vers des prêteurs informels à des taux élevés par an. Les femmes et les jeunes agriculteurs, souvent sans terre enregistrée à leur nom, sont doublement exclus. L'éloignement des zones rurales, l'analphabétisme, les délais de paiement (plusieurs mois après la livraison) et l’absence de documents fiables aggravent leur dépendance à l'endettement informel.</a:t>
            </a:r>
          </a:p>
          <a:p>
            <a:pPr algn="l" marL="380048" indent="-190024" lvl="1">
              <a:lnSpc>
                <a:spcPts val="2520"/>
              </a:lnSpc>
            </a:pPr>
          </a:p>
          <a:p>
            <a:pPr algn="l" marL="434340" indent="-217170" lvl="1">
              <a:lnSpc>
                <a:spcPts val="2879"/>
              </a:lnSpc>
              <a:buAutoNum type="arabicPeriod" startAt="1"/>
            </a:pPr>
            <a:r>
              <a:rPr lang="en-US" b="true" sz="2400" spc="-68">
                <a:solidFill>
                  <a:srgbClr val="284181"/>
                </a:solidFill>
                <a:latin typeface="Trebuchet MS Bold"/>
                <a:ea typeface="Trebuchet MS Bold"/>
                <a:cs typeface="Trebuchet MS Bold"/>
                <a:sym typeface="Trebuchet MS Bold"/>
              </a:rPr>
              <a:t>Comment l'absence d'identité numérique aggrave-t-elle le problème ?</a:t>
            </a:r>
          </a:p>
          <a:p>
            <a:pPr algn="l" marL="380048" indent="-190024" lvl="1">
              <a:lnSpc>
                <a:spcPts val="2520"/>
              </a:lnSpc>
            </a:pPr>
            <a:r>
              <a:rPr lang="en-US" sz="2100" i="true" spc="-60">
                <a:solidFill>
                  <a:srgbClr val="2D2D2D"/>
                </a:solidFill>
                <a:latin typeface="Trebuchet MS Italics"/>
                <a:ea typeface="Trebuchet MS Italics"/>
                <a:cs typeface="Trebuchet MS Italics"/>
                <a:sym typeface="Trebuchet MS Italics"/>
              </a:rPr>
              <a:t>Sans identité numérique intégrée, il est impossible de lier de manière fiable un producteur à ses livraisons. Les registres papier du CVPC sont sujets aux erreurs, aux pertes et à la fraude. Un producteur ne peut pas prouver son historique de production auprès d'une banque. Les coopératives ne peuvent pas vérifier à distance l'identité d'un producteur ni certifier ses transactions. Résultat : les données remontent lentement aux structures faîtières (AIC, CSPR), rendant le suivi en temps réel impossible et les litiges fréquents.</a:t>
            </a:r>
          </a:p>
          <a:p>
            <a:pPr algn="l" marL="380048" indent="-190024" lvl="1">
              <a:lnSpc>
                <a:spcPts val="2520"/>
              </a:lnSpc>
            </a:pPr>
          </a:p>
          <a:p>
            <a:pPr algn="l" marL="434340" indent="-217170" lvl="1">
              <a:lnSpc>
                <a:spcPts val="2879"/>
              </a:lnSpc>
              <a:buAutoNum type="arabicPeriod" startAt="1"/>
            </a:pPr>
            <a:r>
              <a:rPr lang="en-US" b="true" sz="2400" spc="-68">
                <a:solidFill>
                  <a:srgbClr val="284181"/>
                </a:solidFill>
                <a:latin typeface="Trebuchet MS Bold"/>
                <a:ea typeface="Trebuchet MS Bold"/>
                <a:cs typeface="Trebuchet MS Bold"/>
                <a:sym typeface="Trebuchet MS Bold"/>
              </a:rPr>
              <a:t>Ampleur et urgence : </a:t>
            </a:r>
          </a:p>
          <a:p>
            <a:pPr algn="l" marL="380048" indent="-190024" lvl="1">
              <a:lnSpc>
                <a:spcPts val="2520"/>
              </a:lnSpc>
            </a:pPr>
            <a:r>
              <a:rPr lang="en-US" sz="2100" i="true" spc="-60">
                <a:solidFill>
                  <a:srgbClr val="2D2D2D"/>
                </a:solidFill>
                <a:latin typeface="Trebuchet MS Italics"/>
                <a:ea typeface="Trebuchet MS Italics"/>
                <a:cs typeface="Trebuchet MS Italics"/>
                <a:sym typeface="Trebuchet MS Italics"/>
              </a:rPr>
              <a:t>Le Bénin a produit 647 000 tonnes de coton graine en 2025-2026, se hissant au rang de premier producteur d'Afrique de l'Ouest. Des centaines de milliers de producteurs sont impliqués dans cette filière qui représente un pilier stratégique de l'économie nationale. Malgré ces performances, l'accès au crédit formel de campagne reste inaccessible pour la majorité de ces producteurs, freinant l'investissement agricole et la productivité du premier secteur économique du pays.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6928840" cy="517065"/>
          </a:xfrm>
          <a:prstGeom prst="rect">
            <a:avLst/>
          </a:prstGeom>
        </p:spPr>
        <p:txBody>
          <a:bodyPr anchor="t" rtlCol="false" tIns="0" lIns="0" bIns="0" rIns="0">
            <a:spAutoFit/>
          </a:bodyPr>
          <a:lstStyle/>
          <a:p>
            <a:pPr algn="l">
              <a:lnSpc>
                <a:spcPts val="3888"/>
              </a:lnSpc>
            </a:pPr>
            <a:r>
              <a:rPr lang="en-US" sz="3600" b="true">
                <a:solidFill>
                  <a:srgbClr val="284181"/>
                </a:solidFill>
                <a:latin typeface="Trebuchet MS Bold"/>
                <a:ea typeface="Trebuchet MS Bold"/>
                <a:cs typeface="Trebuchet MS Bold"/>
                <a:sym typeface="Trebuchet MS Bold"/>
              </a:rPr>
              <a:t>SOLUTION PROPOSÉE</a:t>
            </a:r>
          </a:p>
        </p:txBody>
      </p:sp>
      <p:grpSp>
        <p:nvGrpSpPr>
          <p:cNvPr name="Group 7" id="7"/>
          <p:cNvGrpSpPr/>
          <p:nvPr/>
        </p:nvGrpSpPr>
        <p:grpSpPr>
          <a:xfrm rot="0">
            <a:off x="531019" y="2019186"/>
            <a:ext cx="17479394" cy="1266549"/>
            <a:chOff x="0" y="0"/>
            <a:chExt cx="23305859" cy="1688732"/>
          </a:xfrm>
        </p:grpSpPr>
        <p:sp>
          <p:nvSpPr>
            <p:cNvPr name="Freeform 8" id="8"/>
            <p:cNvSpPr/>
            <p:nvPr/>
          </p:nvSpPr>
          <p:spPr>
            <a:xfrm flipH="false" flipV="false" rot="0">
              <a:off x="0" y="0"/>
              <a:ext cx="23305897" cy="1688719"/>
            </a:xfrm>
            <a:custGeom>
              <a:avLst/>
              <a:gdLst/>
              <a:ahLst/>
              <a:cxnLst/>
              <a:rect r="r" b="b" t="t" l="l"/>
              <a:pathLst>
                <a:path h="1688719" w="23305897">
                  <a:moveTo>
                    <a:pt x="0" y="0"/>
                  </a:moveTo>
                  <a:lnTo>
                    <a:pt x="23305897" y="0"/>
                  </a:lnTo>
                  <a:lnTo>
                    <a:pt x="23305897" y="1688719"/>
                  </a:lnTo>
                  <a:lnTo>
                    <a:pt x="0" y="1688719"/>
                  </a:lnTo>
                  <a:close/>
                </a:path>
              </a:pathLst>
            </a:custGeom>
            <a:solidFill>
              <a:srgbClr val="E6E7E8"/>
            </a:solidFill>
          </p:spPr>
        </p:sp>
      </p:grpSp>
      <p:grpSp>
        <p:nvGrpSpPr>
          <p:cNvPr name="Group 9" id="9"/>
          <p:cNvGrpSpPr/>
          <p:nvPr/>
        </p:nvGrpSpPr>
        <p:grpSpPr>
          <a:xfrm rot="-10800000">
            <a:off x="1143162" y="1879854"/>
            <a:ext cx="1730912" cy="1634833"/>
            <a:chOff x="0" y="0"/>
            <a:chExt cx="2307882" cy="2179777"/>
          </a:xfrm>
        </p:grpSpPr>
        <p:sp>
          <p:nvSpPr>
            <p:cNvPr name="Freeform 10" id="10"/>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11" id="11"/>
          <p:cNvGrpSpPr/>
          <p:nvPr/>
        </p:nvGrpSpPr>
        <p:grpSpPr>
          <a:xfrm rot="0">
            <a:off x="1312031" y="2084737"/>
            <a:ext cx="1393174" cy="1226125"/>
            <a:chOff x="0" y="0"/>
            <a:chExt cx="1857565" cy="1634833"/>
          </a:xfrm>
        </p:grpSpPr>
        <p:sp>
          <p:nvSpPr>
            <p:cNvPr name="Freeform 12" id="12"/>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13" id="13"/>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01</a:t>
              </a:r>
            </a:p>
          </p:txBody>
        </p:sp>
      </p:grpSp>
      <p:sp>
        <p:nvSpPr>
          <p:cNvPr name="TextBox 14" id="14"/>
          <p:cNvSpPr txBox="true"/>
          <p:nvPr/>
        </p:nvSpPr>
        <p:spPr>
          <a:xfrm rot="0">
            <a:off x="3103397" y="2251881"/>
            <a:ext cx="14597682" cy="910057"/>
          </a:xfrm>
          <a:prstGeom prst="rect">
            <a:avLst/>
          </a:prstGeom>
        </p:spPr>
        <p:txBody>
          <a:bodyPr anchor="t" rtlCol="false" tIns="0" lIns="0" bIns="0" rIns="0">
            <a:spAutoFit/>
          </a:bodyPr>
          <a:lstStyle/>
          <a:p>
            <a:pPr algn="l">
              <a:lnSpc>
                <a:spcPts val="2268"/>
              </a:lnSpc>
            </a:pPr>
            <a:r>
              <a:rPr lang="en-US" b="true" sz="2100" i="true">
                <a:solidFill>
                  <a:srgbClr val="284181"/>
                </a:solidFill>
                <a:latin typeface="Trebuchet MS Bold Italics"/>
                <a:ea typeface="Trebuchet MS Bold Italics"/>
                <a:cs typeface="Trebuchet MS Bold Italics"/>
                <a:sym typeface="Trebuchet MS Bold Italics"/>
              </a:rPr>
              <a:t>CottonPay numérise l'enregistrement des livraisons de coton et émet un credential vérifiable que le producteur conserve comme preuve infalsifiable. Cela élimine la fraude, crée un historique de production prouvable pour accéder au crédit, et garantit la traçabilité de chaque transaction entre producteur et coopérative.</a:t>
            </a:r>
          </a:p>
        </p:txBody>
      </p:sp>
      <p:grpSp>
        <p:nvGrpSpPr>
          <p:cNvPr name="Group 15" id="15"/>
          <p:cNvGrpSpPr/>
          <p:nvPr/>
        </p:nvGrpSpPr>
        <p:grpSpPr>
          <a:xfrm rot="0">
            <a:off x="531009" y="3928967"/>
            <a:ext cx="17479394" cy="1266549"/>
            <a:chOff x="0" y="0"/>
            <a:chExt cx="23305859" cy="1688732"/>
          </a:xfrm>
        </p:grpSpPr>
        <p:sp>
          <p:nvSpPr>
            <p:cNvPr name="Freeform 16" id="16"/>
            <p:cNvSpPr/>
            <p:nvPr/>
          </p:nvSpPr>
          <p:spPr>
            <a:xfrm flipH="false" flipV="false" rot="0">
              <a:off x="0" y="0"/>
              <a:ext cx="23305897" cy="1688719"/>
            </a:xfrm>
            <a:custGeom>
              <a:avLst/>
              <a:gdLst/>
              <a:ahLst/>
              <a:cxnLst/>
              <a:rect r="r" b="b" t="t" l="l"/>
              <a:pathLst>
                <a:path h="1688719" w="23305897">
                  <a:moveTo>
                    <a:pt x="0" y="0"/>
                  </a:moveTo>
                  <a:lnTo>
                    <a:pt x="23305897" y="0"/>
                  </a:lnTo>
                  <a:lnTo>
                    <a:pt x="23305897" y="1688719"/>
                  </a:lnTo>
                  <a:lnTo>
                    <a:pt x="0" y="1688719"/>
                  </a:lnTo>
                  <a:close/>
                </a:path>
              </a:pathLst>
            </a:custGeom>
            <a:solidFill>
              <a:srgbClr val="E6E7E8"/>
            </a:solidFill>
          </p:spPr>
        </p:sp>
      </p:grpSp>
      <p:grpSp>
        <p:nvGrpSpPr>
          <p:cNvPr name="Group 17" id="17"/>
          <p:cNvGrpSpPr/>
          <p:nvPr/>
        </p:nvGrpSpPr>
        <p:grpSpPr>
          <a:xfrm rot="-10800000">
            <a:off x="1143162" y="3789636"/>
            <a:ext cx="1730912" cy="1634833"/>
            <a:chOff x="0" y="0"/>
            <a:chExt cx="2307882" cy="2179777"/>
          </a:xfrm>
        </p:grpSpPr>
        <p:sp>
          <p:nvSpPr>
            <p:cNvPr name="Freeform 18" id="18"/>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00BFDF"/>
            </a:solidFill>
          </p:spPr>
        </p:sp>
      </p:grpSp>
      <p:grpSp>
        <p:nvGrpSpPr>
          <p:cNvPr name="Group 19" id="19"/>
          <p:cNvGrpSpPr/>
          <p:nvPr/>
        </p:nvGrpSpPr>
        <p:grpSpPr>
          <a:xfrm rot="0">
            <a:off x="1312031" y="3993985"/>
            <a:ext cx="1393174" cy="1226125"/>
            <a:chOff x="0" y="0"/>
            <a:chExt cx="1857565" cy="1634833"/>
          </a:xfrm>
        </p:grpSpPr>
        <p:sp>
          <p:nvSpPr>
            <p:cNvPr name="Freeform 20" id="20"/>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21" id="21"/>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00BFDF"/>
                  </a:solidFill>
                  <a:latin typeface="Trebuchet MS Bold"/>
                  <a:ea typeface="Trebuchet MS Bold"/>
                  <a:cs typeface="Trebuchet MS Bold"/>
                  <a:sym typeface="Trebuchet MS Bold"/>
                </a:rPr>
                <a:t>02</a:t>
              </a:r>
            </a:p>
          </p:txBody>
        </p:sp>
      </p:grpSp>
      <p:sp>
        <p:nvSpPr>
          <p:cNvPr name="TextBox 22" id="22"/>
          <p:cNvSpPr txBox="true"/>
          <p:nvPr/>
        </p:nvSpPr>
        <p:spPr>
          <a:xfrm rot="0">
            <a:off x="3103397" y="4177360"/>
            <a:ext cx="14497755" cy="1200912"/>
          </a:xfrm>
          <a:prstGeom prst="rect">
            <a:avLst/>
          </a:prstGeom>
        </p:spPr>
        <p:txBody>
          <a:bodyPr anchor="t" rtlCol="false" tIns="0" lIns="0" bIns="0" rIns="0">
            <a:spAutoFit/>
          </a:bodyPr>
          <a:lstStyle/>
          <a:p>
            <a:pPr algn="l">
              <a:lnSpc>
                <a:spcPts val="2268"/>
              </a:lnSpc>
            </a:pPr>
            <a:r>
              <a:rPr lang="en-US" b="true" sz="2100" i="true">
                <a:solidFill>
                  <a:srgbClr val="284181"/>
                </a:solidFill>
                <a:latin typeface="Trebuchet MS Bold Italics"/>
                <a:ea typeface="Trebuchet MS Bold Italics"/>
                <a:cs typeface="Trebuchet MS Bold Italics"/>
                <a:sym typeface="Trebuchet MS Bold Italics"/>
              </a:rPr>
              <a:t>Les représentants de coopératives s'authentifient via eSignet avec leur NPI. Chaque livraison génère un credential vérifiable lié à l'identité numérique du producteur, stocké dans son wallet mobile e-IDapp créant une identité économique portable et souveraine.</a:t>
            </a:r>
          </a:p>
          <a:p>
            <a:pPr algn="l">
              <a:lnSpc>
                <a:spcPts val="2268"/>
              </a:lnSpc>
            </a:pPr>
          </a:p>
        </p:txBody>
      </p:sp>
      <p:grpSp>
        <p:nvGrpSpPr>
          <p:cNvPr name="Group 23" id="23"/>
          <p:cNvGrpSpPr/>
          <p:nvPr/>
        </p:nvGrpSpPr>
        <p:grpSpPr>
          <a:xfrm rot="0">
            <a:off x="531009" y="5838749"/>
            <a:ext cx="17479394" cy="1266549"/>
            <a:chOff x="0" y="0"/>
            <a:chExt cx="23305859" cy="1688732"/>
          </a:xfrm>
        </p:grpSpPr>
        <p:sp>
          <p:nvSpPr>
            <p:cNvPr name="Freeform 24" id="24"/>
            <p:cNvSpPr/>
            <p:nvPr/>
          </p:nvSpPr>
          <p:spPr>
            <a:xfrm flipH="false" flipV="false" rot="0">
              <a:off x="0" y="0"/>
              <a:ext cx="23305897" cy="1688719"/>
            </a:xfrm>
            <a:custGeom>
              <a:avLst/>
              <a:gdLst/>
              <a:ahLst/>
              <a:cxnLst/>
              <a:rect r="r" b="b" t="t" l="l"/>
              <a:pathLst>
                <a:path h="1688719" w="23305897">
                  <a:moveTo>
                    <a:pt x="0" y="0"/>
                  </a:moveTo>
                  <a:lnTo>
                    <a:pt x="23305897" y="0"/>
                  </a:lnTo>
                  <a:lnTo>
                    <a:pt x="23305897" y="1688719"/>
                  </a:lnTo>
                  <a:lnTo>
                    <a:pt x="0" y="1688719"/>
                  </a:lnTo>
                  <a:close/>
                </a:path>
              </a:pathLst>
            </a:custGeom>
            <a:solidFill>
              <a:srgbClr val="E6E7E8"/>
            </a:solidFill>
          </p:spPr>
        </p:sp>
      </p:grpSp>
      <p:grpSp>
        <p:nvGrpSpPr>
          <p:cNvPr name="Group 25" id="25"/>
          <p:cNvGrpSpPr/>
          <p:nvPr/>
        </p:nvGrpSpPr>
        <p:grpSpPr>
          <a:xfrm rot="-10800000">
            <a:off x="1143162" y="5699417"/>
            <a:ext cx="1730912" cy="1634833"/>
            <a:chOff x="0" y="0"/>
            <a:chExt cx="2307882" cy="2179777"/>
          </a:xfrm>
        </p:grpSpPr>
        <p:sp>
          <p:nvSpPr>
            <p:cNvPr name="Freeform 26" id="26"/>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5A5A5A"/>
            </a:solidFill>
          </p:spPr>
        </p:sp>
      </p:grpSp>
      <p:grpSp>
        <p:nvGrpSpPr>
          <p:cNvPr name="Group 27" id="27"/>
          <p:cNvGrpSpPr/>
          <p:nvPr/>
        </p:nvGrpSpPr>
        <p:grpSpPr>
          <a:xfrm rot="0">
            <a:off x="1312031" y="5903766"/>
            <a:ext cx="1393174" cy="1226125"/>
            <a:chOff x="0" y="0"/>
            <a:chExt cx="1857565" cy="1634833"/>
          </a:xfrm>
        </p:grpSpPr>
        <p:sp>
          <p:nvSpPr>
            <p:cNvPr name="Freeform 28" id="28"/>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29" id="29"/>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5A5A5A"/>
                  </a:solidFill>
                  <a:latin typeface="Trebuchet MS Bold"/>
                  <a:ea typeface="Trebuchet MS Bold"/>
                  <a:cs typeface="Trebuchet MS Bold"/>
                  <a:sym typeface="Trebuchet MS Bold"/>
                </a:rPr>
                <a:t>03</a:t>
              </a:r>
            </a:p>
          </p:txBody>
        </p:sp>
      </p:grpSp>
      <p:sp>
        <p:nvSpPr>
          <p:cNvPr name="TextBox 30" id="30"/>
          <p:cNvSpPr txBox="true"/>
          <p:nvPr/>
        </p:nvSpPr>
        <p:spPr>
          <a:xfrm rot="0">
            <a:off x="3233785" y="6084246"/>
            <a:ext cx="14416907" cy="910057"/>
          </a:xfrm>
          <a:prstGeom prst="rect">
            <a:avLst/>
          </a:prstGeom>
        </p:spPr>
        <p:txBody>
          <a:bodyPr anchor="t" rtlCol="false" tIns="0" lIns="0" bIns="0" rIns="0">
            <a:spAutoFit/>
          </a:bodyPr>
          <a:lstStyle/>
          <a:p>
            <a:pPr algn="l">
              <a:lnSpc>
                <a:spcPts val="2268"/>
              </a:lnSpc>
            </a:pPr>
            <a:r>
              <a:rPr lang="en-US" b="true" sz="2100" i="true">
                <a:solidFill>
                  <a:srgbClr val="5A5A5A"/>
                </a:solidFill>
                <a:latin typeface="Trebuchet MS Bold Italics"/>
                <a:ea typeface="Trebuchet MS Bold Italics"/>
                <a:cs typeface="Trebuchet MS Bold Italics"/>
                <a:sym typeface="Trebuchet MS Bold Italics"/>
              </a:rPr>
              <a:t>Elément différenciateur : Première solution combinant authentification nationale (eSignet/MOSIP) et credentials vérifiables pour l'inclusion financière agricole. Le producteur possède ses preuves et toute institution peut les vérifier via le portail public CottonPay, avec son consentement.</a:t>
            </a:r>
          </a:p>
        </p:txBody>
      </p:sp>
      <p:grpSp>
        <p:nvGrpSpPr>
          <p:cNvPr name="Group 31" id="31"/>
          <p:cNvGrpSpPr/>
          <p:nvPr/>
        </p:nvGrpSpPr>
        <p:grpSpPr>
          <a:xfrm rot="0">
            <a:off x="2874074" y="3789636"/>
            <a:ext cx="137903" cy="139332"/>
            <a:chOff x="0" y="0"/>
            <a:chExt cx="183871" cy="185776"/>
          </a:xfrm>
        </p:grpSpPr>
        <p:sp>
          <p:nvSpPr>
            <p:cNvPr name="Freeform 32" id="32"/>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6ECFE0"/>
            </a:solidFill>
          </p:spPr>
        </p:sp>
      </p:grpSp>
      <p:grpSp>
        <p:nvGrpSpPr>
          <p:cNvPr name="Group 33" id="33"/>
          <p:cNvGrpSpPr/>
          <p:nvPr/>
        </p:nvGrpSpPr>
        <p:grpSpPr>
          <a:xfrm rot="0">
            <a:off x="2874074" y="1882616"/>
            <a:ext cx="137903" cy="139332"/>
            <a:chOff x="0" y="0"/>
            <a:chExt cx="183871" cy="185776"/>
          </a:xfrm>
        </p:grpSpPr>
        <p:sp>
          <p:nvSpPr>
            <p:cNvPr name="Freeform 34" id="34"/>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436AB3"/>
            </a:solidFill>
          </p:spPr>
        </p:sp>
      </p:grpSp>
      <p:grpSp>
        <p:nvGrpSpPr>
          <p:cNvPr name="Group 35" id="35"/>
          <p:cNvGrpSpPr/>
          <p:nvPr/>
        </p:nvGrpSpPr>
        <p:grpSpPr>
          <a:xfrm rot="0">
            <a:off x="2874074" y="5699417"/>
            <a:ext cx="137903" cy="139332"/>
            <a:chOff x="0" y="0"/>
            <a:chExt cx="183871" cy="185776"/>
          </a:xfrm>
        </p:grpSpPr>
        <p:sp>
          <p:nvSpPr>
            <p:cNvPr name="Freeform 36" id="36"/>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939598"/>
            </a:solidFill>
          </p:spPr>
        </p:sp>
      </p:grpSp>
      <p:grpSp>
        <p:nvGrpSpPr>
          <p:cNvPr name="Group 37" id="37"/>
          <p:cNvGrpSpPr/>
          <p:nvPr/>
        </p:nvGrpSpPr>
        <p:grpSpPr>
          <a:xfrm rot="0">
            <a:off x="511950" y="7710345"/>
            <a:ext cx="17479394" cy="1266549"/>
            <a:chOff x="0" y="0"/>
            <a:chExt cx="23305859" cy="1688732"/>
          </a:xfrm>
        </p:grpSpPr>
        <p:sp>
          <p:nvSpPr>
            <p:cNvPr name="Freeform 38" id="38"/>
            <p:cNvSpPr/>
            <p:nvPr/>
          </p:nvSpPr>
          <p:spPr>
            <a:xfrm flipH="false" flipV="false" rot="0">
              <a:off x="0" y="0"/>
              <a:ext cx="23305897" cy="1688719"/>
            </a:xfrm>
            <a:custGeom>
              <a:avLst/>
              <a:gdLst/>
              <a:ahLst/>
              <a:cxnLst/>
              <a:rect r="r" b="b" t="t" l="l"/>
              <a:pathLst>
                <a:path h="1688719" w="23305897">
                  <a:moveTo>
                    <a:pt x="0" y="0"/>
                  </a:moveTo>
                  <a:lnTo>
                    <a:pt x="23305897" y="0"/>
                  </a:lnTo>
                  <a:lnTo>
                    <a:pt x="23305897" y="1688719"/>
                  </a:lnTo>
                  <a:lnTo>
                    <a:pt x="0" y="1688719"/>
                  </a:lnTo>
                  <a:close/>
                </a:path>
              </a:pathLst>
            </a:custGeom>
            <a:solidFill>
              <a:srgbClr val="E6E7E8"/>
            </a:solidFill>
          </p:spPr>
        </p:sp>
      </p:grpSp>
      <p:grpSp>
        <p:nvGrpSpPr>
          <p:cNvPr name="Group 39" id="39"/>
          <p:cNvGrpSpPr/>
          <p:nvPr/>
        </p:nvGrpSpPr>
        <p:grpSpPr>
          <a:xfrm rot="-10800000">
            <a:off x="1124093" y="7571013"/>
            <a:ext cx="1730912" cy="1634833"/>
            <a:chOff x="0" y="0"/>
            <a:chExt cx="2307882" cy="2179777"/>
          </a:xfrm>
        </p:grpSpPr>
        <p:sp>
          <p:nvSpPr>
            <p:cNvPr name="Freeform 40" id="40"/>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41" id="41"/>
          <p:cNvGrpSpPr/>
          <p:nvPr/>
        </p:nvGrpSpPr>
        <p:grpSpPr>
          <a:xfrm rot="0">
            <a:off x="1292962" y="7775896"/>
            <a:ext cx="1393174" cy="1226125"/>
            <a:chOff x="0" y="0"/>
            <a:chExt cx="1857565" cy="1634833"/>
          </a:xfrm>
        </p:grpSpPr>
        <p:sp>
          <p:nvSpPr>
            <p:cNvPr name="Freeform 42" id="42"/>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43" id="43"/>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04</a:t>
              </a:r>
            </a:p>
          </p:txBody>
        </p:sp>
      </p:grpSp>
      <p:sp>
        <p:nvSpPr>
          <p:cNvPr name="TextBox 44" id="44"/>
          <p:cNvSpPr txBox="true"/>
          <p:nvPr/>
        </p:nvSpPr>
        <p:spPr>
          <a:xfrm rot="0">
            <a:off x="3184255" y="7938164"/>
            <a:ext cx="14416907" cy="910057"/>
          </a:xfrm>
          <a:prstGeom prst="rect">
            <a:avLst/>
          </a:prstGeom>
        </p:spPr>
        <p:txBody>
          <a:bodyPr anchor="t" rtlCol="false" tIns="0" lIns="0" bIns="0" rIns="0">
            <a:spAutoFit/>
          </a:bodyPr>
          <a:lstStyle/>
          <a:p>
            <a:pPr algn="l">
              <a:lnSpc>
                <a:spcPts val="2268"/>
              </a:lnSpc>
            </a:pPr>
            <a:r>
              <a:rPr lang="en-US" b="true" sz="2100" i="true">
                <a:solidFill>
                  <a:srgbClr val="284181"/>
                </a:solidFill>
                <a:latin typeface="Trebuchet MS Bold Italics"/>
                <a:ea typeface="Trebuchet MS Bold Italics"/>
                <a:cs typeface="Trebuchet MS Bold Italics"/>
                <a:sym typeface="Trebuchet MS Bold Italics"/>
              </a:rPr>
              <a:t>Préréquis : Infrastructure eSignet/MOSIP déployée nationalement, connectivité internet au point de collecte, </a:t>
            </a:r>
          </a:p>
          <a:p>
            <a:pPr algn="l">
              <a:lnSpc>
                <a:spcPts val="2268"/>
              </a:lnSpc>
            </a:pPr>
            <a:r>
              <a:rPr lang="en-US" b="true" sz="2100" i="true">
                <a:solidFill>
                  <a:srgbClr val="284181"/>
                </a:solidFill>
                <a:latin typeface="Trebuchet MS Bold Italics"/>
                <a:ea typeface="Trebuchet MS Bold Italics"/>
                <a:cs typeface="Trebuchet MS Bold Italics"/>
                <a:sym typeface="Trebuchet MS Bold Italics"/>
              </a:rPr>
              <a:t>e-IDapp sur le smartphone du producteur et formation des représentants de coopératives à l'utilisation de la plateforme.</a:t>
            </a:r>
          </a:p>
        </p:txBody>
      </p:sp>
      <p:grpSp>
        <p:nvGrpSpPr>
          <p:cNvPr name="Group 45" id="45"/>
          <p:cNvGrpSpPr/>
          <p:nvPr/>
        </p:nvGrpSpPr>
        <p:grpSpPr>
          <a:xfrm rot="0">
            <a:off x="2855004" y="7573775"/>
            <a:ext cx="137903" cy="139332"/>
            <a:chOff x="0" y="0"/>
            <a:chExt cx="183871" cy="185776"/>
          </a:xfrm>
        </p:grpSpPr>
        <p:sp>
          <p:nvSpPr>
            <p:cNvPr name="Freeform 46" id="46"/>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436AB3"/>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3" id="3"/>
          <p:cNvSpPr txBox="true"/>
          <p:nvPr/>
        </p:nvSpPr>
        <p:spPr>
          <a:xfrm rot="0">
            <a:off x="508121" y="224161"/>
            <a:ext cx="16928840" cy="517065"/>
          </a:xfrm>
          <a:prstGeom prst="rect">
            <a:avLst/>
          </a:prstGeom>
        </p:spPr>
        <p:txBody>
          <a:bodyPr anchor="t" rtlCol="false" tIns="0" lIns="0" bIns="0" rIns="0">
            <a:spAutoFit/>
          </a:bodyPr>
          <a:lstStyle/>
          <a:p>
            <a:pPr algn="l">
              <a:lnSpc>
                <a:spcPts val="3888"/>
              </a:lnSpc>
            </a:pPr>
            <a:r>
              <a:rPr lang="en-US" sz="3600" b="true">
                <a:solidFill>
                  <a:srgbClr val="284181"/>
                </a:solidFill>
                <a:latin typeface="Trebuchet MS Bold"/>
                <a:ea typeface="Trebuchet MS Bold"/>
                <a:cs typeface="Trebuchet MS Bold"/>
                <a:sym typeface="Trebuchet MS Bold"/>
              </a:rPr>
              <a:t>FLUX D'INFORMATION</a:t>
            </a:r>
          </a:p>
        </p:txBody>
      </p:sp>
      <p:grpSp>
        <p:nvGrpSpPr>
          <p:cNvPr name="Group 4" id="4"/>
          <p:cNvGrpSpPr/>
          <p:nvPr/>
        </p:nvGrpSpPr>
        <p:grpSpPr>
          <a:xfrm rot="0">
            <a:off x="2115830" y="1028700"/>
            <a:ext cx="14495014" cy="9062714"/>
            <a:chOff x="0" y="0"/>
            <a:chExt cx="20412671" cy="12762609"/>
          </a:xfrm>
        </p:grpSpPr>
        <p:sp>
          <p:nvSpPr>
            <p:cNvPr name="Freeform 5" id="5"/>
            <p:cNvSpPr/>
            <p:nvPr/>
          </p:nvSpPr>
          <p:spPr>
            <a:xfrm flipH="false" flipV="false" rot="0">
              <a:off x="0" y="0"/>
              <a:ext cx="20412610" cy="12762622"/>
            </a:xfrm>
            <a:custGeom>
              <a:avLst/>
              <a:gdLst/>
              <a:ahLst/>
              <a:cxnLst/>
              <a:rect r="r" b="b" t="t" l="l"/>
              <a:pathLst>
                <a:path h="12762622" w="20412610">
                  <a:moveTo>
                    <a:pt x="0" y="0"/>
                  </a:moveTo>
                  <a:lnTo>
                    <a:pt x="20412610" y="0"/>
                  </a:lnTo>
                  <a:lnTo>
                    <a:pt x="20412610" y="12762622"/>
                  </a:lnTo>
                  <a:lnTo>
                    <a:pt x="0" y="12762622"/>
                  </a:lnTo>
                  <a:lnTo>
                    <a:pt x="0" y="0"/>
                  </a:lnTo>
                  <a:close/>
                </a:path>
              </a:pathLst>
            </a:custGeom>
            <a:blipFill>
              <a:blip r:embed="rId2"/>
              <a:stretch>
                <a:fillRect l="0" t="-3280" r="0" b="-3280"/>
              </a:stretch>
            </a:blipFill>
          </p:spPr>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6201"/>
            <a:ext cx="16928840" cy="920887"/>
          </a:xfrm>
          <a:prstGeom prst="rect">
            <a:avLst/>
          </a:prstGeom>
        </p:spPr>
        <p:txBody>
          <a:bodyPr anchor="t" rtlCol="false" tIns="0" lIns="0" bIns="0" rIns="0">
            <a:spAutoFit/>
          </a:bodyPr>
          <a:lstStyle/>
          <a:p>
            <a:pPr algn="l">
              <a:lnSpc>
                <a:spcPts val="5668"/>
              </a:lnSpc>
            </a:pPr>
            <a:r>
              <a:rPr lang="en-US" sz="3600" b="true">
                <a:solidFill>
                  <a:srgbClr val="284181"/>
                </a:solidFill>
                <a:latin typeface="Trebuchet MS Bold"/>
                <a:ea typeface="Trebuchet MS Bold"/>
                <a:cs typeface="Trebuchet MS Bold"/>
                <a:sym typeface="Trebuchet MS Bold"/>
              </a:rPr>
              <a:t>PARCOURS UTILISATEUR</a:t>
            </a:r>
          </a:p>
        </p:txBody>
      </p:sp>
      <p:sp>
        <p:nvSpPr>
          <p:cNvPr name="TextBox 7" id="7"/>
          <p:cNvSpPr txBox="true"/>
          <p:nvPr/>
        </p:nvSpPr>
        <p:spPr>
          <a:xfrm rot="0">
            <a:off x="664369" y="738197"/>
            <a:ext cx="13577487" cy="8791556"/>
          </a:xfrm>
          <a:prstGeom prst="rect">
            <a:avLst/>
          </a:prstGeom>
        </p:spPr>
        <p:txBody>
          <a:bodyPr anchor="t" rtlCol="false" tIns="0" lIns="0" bIns="0" rIns="0">
            <a:spAutoFit/>
          </a:bodyPr>
          <a:lstStyle/>
          <a:p>
            <a:pPr algn="l">
              <a:lnSpc>
                <a:spcPts val="2520"/>
              </a:lnSpc>
            </a:pPr>
          </a:p>
          <a:p>
            <a:pPr algn="l">
              <a:lnSpc>
                <a:spcPts val="2520"/>
              </a:lnSpc>
            </a:pPr>
            <a:r>
              <a:rPr lang="en-US" sz="2100" i="true">
                <a:solidFill>
                  <a:srgbClr val="2D2D2D"/>
                </a:solidFill>
                <a:latin typeface="Trebuchet MS Italics"/>
                <a:ea typeface="Trebuchet MS Italics"/>
                <a:cs typeface="Trebuchet MS Italics"/>
                <a:sym typeface="Trebuchet MS Italics"/>
              </a:rPr>
              <a:t>Acteur : Koffi Mensah (Représentant CVPC Parakou)</a:t>
            </a:r>
          </a:p>
          <a:p>
            <a:pPr algn="l">
              <a:lnSpc>
                <a:spcPts val="2520"/>
              </a:lnSpc>
            </a:pPr>
            <a:r>
              <a:rPr lang="en-US" sz="2100" i="true">
                <a:solidFill>
                  <a:srgbClr val="2D2D2D"/>
                </a:solidFill>
                <a:latin typeface="Trebuchet MS Italics"/>
                <a:ea typeface="Trebuchet MS Italics"/>
                <a:cs typeface="Trebuchet MS Italics"/>
                <a:sym typeface="Trebuchet MS Italics"/>
              </a:rPr>
              <a:t>Bénéficiaire : Adjovi Dossou (Producteur de coton)</a:t>
            </a:r>
          </a:p>
          <a:p>
            <a:pPr algn="l">
              <a:lnSpc>
                <a:spcPts val="2520"/>
              </a:lnSpc>
            </a:pPr>
          </a:p>
          <a:p>
            <a:pPr algn="l">
              <a:lnSpc>
                <a:spcPts val="2520"/>
              </a:lnSpc>
            </a:pPr>
            <a:r>
              <a:rPr lang="en-US" sz="2100" i="true">
                <a:solidFill>
                  <a:srgbClr val="2D2D2D"/>
                </a:solidFill>
                <a:latin typeface="Trebuchet MS Italics"/>
                <a:ea typeface="Trebuchet MS Italics"/>
                <a:cs typeface="Trebuchet MS Italics"/>
                <a:sym typeface="Trebuchet MS Italics"/>
              </a:rPr>
              <a:t>—— AU POINT DE COLLECTE ——</a:t>
            </a:r>
          </a:p>
          <a:p>
            <a:pPr algn="l">
              <a:lnSpc>
                <a:spcPts val="2520"/>
              </a:lnSpc>
            </a:pP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Adjovi arrive au marché de collecte avec ses sacs de coton</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Koffi ouvre CottonPay sur son navigateur et clique "Se connecter avec eSignet"</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Il saisit son NPI et reçoit un code OTP sur son téléphone</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eSignet valide son identité et il accède au dashboard</a:t>
            </a:r>
          </a:p>
          <a:p>
            <a:pPr algn="l" marL="396716" indent="-198358" lvl="1">
              <a:lnSpc>
                <a:spcPts val="2520"/>
              </a:lnSpc>
            </a:pPr>
          </a:p>
          <a:p>
            <a:pPr algn="l" marL="396716" indent="-198358" lvl="1">
              <a:lnSpc>
                <a:spcPts val="2520"/>
              </a:lnSpc>
            </a:pPr>
            <a:r>
              <a:rPr lang="en-US" sz="2100" i="true">
                <a:solidFill>
                  <a:srgbClr val="2D2D2D"/>
                </a:solidFill>
                <a:latin typeface="Trebuchet MS Italics"/>
                <a:ea typeface="Trebuchet MS Italics"/>
                <a:cs typeface="Trebuchet MS Italics"/>
                <a:sym typeface="Trebuchet MS Italics"/>
              </a:rPr>
              <a:t>—— ENREGISTREMENT DE LA LIVRAISON ——</a:t>
            </a:r>
          </a:p>
          <a:p>
            <a:pPr algn="l" marL="396716" indent="-198358" lvl="1">
              <a:lnSpc>
                <a:spcPts val="2520"/>
              </a:lnSpc>
            </a:pP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Koffi clique sur "Enregistrer une livraison"</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Il saisit le NPI d'Adjovi, le système vérifie son identité et affiche son profil</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Il entre le poids : 150 kg, qualité : 1er choix (300 FCFA/kg)</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Le système calcule automatiquement : 45 000 FCFA</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Il clique sur "Enregistrer la livraison"</a:t>
            </a:r>
          </a:p>
          <a:p>
            <a:pPr algn="l" marL="396716" indent="-198358" lvl="1">
              <a:lnSpc>
                <a:spcPts val="2520"/>
              </a:lnSpc>
            </a:pPr>
          </a:p>
          <a:p>
            <a:pPr algn="l" marL="396716" indent="-198358" lvl="1">
              <a:lnSpc>
                <a:spcPts val="2520"/>
              </a:lnSpc>
            </a:pPr>
            <a:r>
              <a:rPr lang="en-US" sz="2100" i="true">
                <a:solidFill>
                  <a:srgbClr val="2D2D2D"/>
                </a:solidFill>
                <a:latin typeface="Trebuchet MS Italics"/>
                <a:ea typeface="Trebuchet MS Italics"/>
                <a:cs typeface="Trebuchet MS Italics"/>
                <a:sym typeface="Trebuchet MS Italics"/>
              </a:rPr>
              <a:t>—— ÉMISSION DU CREDENTIAL ——</a:t>
            </a:r>
          </a:p>
          <a:p>
            <a:pPr algn="l" marL="396716" indent="-198358" lvl="1">
              <a:lnSpc>
                <a:spcPts val="2520"/>
              </a:lnSpc>
            </a:pP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CottonPay génère automatiquement un credential vérifiable via eidStack, ancré sur BCovrin</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Un bordereau PDF avec QR code est créé</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Koffi montre le QR code à Adjovi</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Adjovi le scanne avec e-IDapp sur son téléphone</a:t>
            </a:r>
          </a:p>
          <a:p>
            <a:pPr algn="l" marL="396716" indent="-198358" lvl="1">
              <a:lnSpc>
                <a:spcPts val="2520"/>
              </a:lnSpc>
              <a:buAutoNum type="arabicPeriod" startAt="1"/>
            </a:pPr>
            <a:r>
              <a:rPr lang="en-US" sz="2100" i="true">
                <a:solidFill>
                  <a:srgbClr val="2D2D2D"/>
                </a:solidFill>
                <a:latin typeface="Trebuchet MS Italics"/>
                <a:ea typeface="Trebuchet MS Italics"/>
                <a:cs typeface="Trebuchet MS Italics"/>
                <a:sym typeface="Trebuchet MS Italics"/>
              </a:rPr>
              <a:t>La preuve de sa livraison est stockée dans son wallet permanente, infalsifiable, et souveraine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4140">
            <a:off x="650110" y="9570596"/>
            <a:ext cx="11861930" cy="9525"/>
            <a:chOff x="0" y="0"/>
            <a:chExt cx="15815907" cy="12700"/>
          </a:xfrm>
        </p:grpSpPr>
        <p:sp>
          <p:nvSpPr>
            <p:cNvPr name="Freeform 3" id="3"/>
            <p:cNvSpPr/>
            <p:nvPr/>
          </p:nvSpPr>
          <p:spPr>
            <a:xfrm flipH="false" flipV="false" rot="0">
              <a:off x="0" y="0"/>
              <a:ext cx="15815945" cy="12700"/>
            </a:xfrm>
            <a:custGeom>
              <a:avLst/>
              <a:gdLst/>
              <a:ahLst/>
              <a:cxnLst/>
              <a:rect r="r" b="b" t="t" l="l"/>
              <a:pathLst>
                <a:path h="12700" w="15815945">
                  <a:moveTo>
                    <a:pt x="6350" y="0"/>
                  </a:moveTo>
                  <a:lnTo>
                    <a:pt x="15809595" y="0"/>
                  </a:lnTo>
                  <a:cubicBezTo>
                    <a:pt x="15813151" y="0"/>
                    <a:pt x="15815945" y="2794"/>
                    <a:pt x="15815945" y="6350"/>
                  </a:cubicBezTo>
                  <a:cubicBezTo>
                    <a:pt x="15815945" y="9906"/>
                    <a:pt x="15813151" y="12700"/>
                    <a:pt x="15809595" y="12700"/>
                  </a:cubicBezTo>
                  <a:lnTo>
                    <a:pt x="6350" y="12700"/>
                  </a:lnTo>
                  <a:cubicBezTo>
                    <a:pt x="2794" y="12700"/>
                    <a:pt x="0" y="9906"/>
                    <a:pt x="0" y="6350"/>
                  </a:cubicBezTo>
                  <a:cubicBezTo>
                    <a:pt x="0" y="2794"/>
                    <a:pt x="2794" y="0"/>
                    <a:pt x="6350" y="0"/>
                  </a:cubicBezTo>
                  <a:close/>
                </a:path>
              </a:pathLst>
            </a:custGeom>
            <a:solidFill>
              <a:srgbClr val="284181"/>
            </a:solidFill>
          </p:spPr>
        </p:sp>
      </p:grpSp>
      <p:grpSp>
        <p:nvGrpSpPr>
          <p:cNvPr name="Group 4" id="4"/>
          <p:cNvGrpSpPr/>
          <p:nvPr/>
        </p:nvGrpSpPr>
        <p:grpSpPr>
          <a:xfrm rot="10020">
            <a:off x="12682004" y="9570596"/>
            <a:ext cx="4898631" cy="9525"/>
            <a:chOff x="0" y="0"/>
            <a:chExt cx="6531508" cy="12700"/>
          </a:xfrm>
        </p:grpSpPr>
        <p:sp>
          <p:nvSpPr>
            <p:cNvPr name="Freeform 5" id="5"/>
            <p:cNvSpPr/>
            <p:nvPr/>
          </p:nvSpPr>
          <p:spPr>
            <a:xfrm flipH="false" flipV="false" rot="0">
              <a:off x="0" y="0"/>
              <a:ext cx="6531483" cy="12700"/>
            </a:xfrm>
            <a:custGeom>
              <a:avLst/>
              <a:gdLst/>
              <a:ahLst/>
              <a:cxnLst/>
              <a:rect r="r" b="b" t="t" l="l"/>
              <a:pathLst>
                <a:path h="12700" w="6531483">
                  <a:moveTo>
                    <a:pt x="6350" y="0"/>
                  </a:moveTo>
                  <a:lnTo>
                    <a:pt x="6525133" y="0"/>
                  </a:lnTo>
                  <a:cubicBezTo>
                    <a:pt x="6528689" y="0"/>
                    <a:pt x="6531483" y="2794"/>
                    <a:pt x="6531483" y="6350"/>
                  </a:cubicBezTo>
                  <a:cubicBezTo>
                    <a:pt x="6531483" y="9906"/>
                    <a:pt x="6528689" y="12700"/>
                    <a:pt x="6525133" y="12700"/>
                  </a:cubicBezTo>
                  <a:lnTo>
                    <a:pt x="6350" y="12700"/>
                  </a:lnTo>
                  <a:cubicBezTo>
                    <a:pt x="2794" y="12700"/>
                    <a:pt x="0" y="9906"/>
                    <a:pt x="0" y="6350"/>
                  </a:cubicBezTo>
                  <a:cubicBezTo>
                    <a:pt x="0" y="2794"/>
                    <a:pt x="2794" y="0"/>
                    <a:pt x="6350" y="0"/>
                  </a:cubicBezTo>
                  <a:close/>
                </a:path>
              </a:pathLst>
            </a:custGeom>
            <a:solidFill>
              <a:srgbClr val="00BFDF"/>
            </a:solidFill>
          </p:spPr>
        </p:sp>
      </p:grpSp>
      <p:sp>
        <p:nvSpPr>
          <p:cNvPr name="TextBox 6" id="6"/>
          <p:cNvSpPr txBox="true"/>
          <p:nvPr/>
        </p:nvSpPr>
        <p:spPr>
          <a:xfrm rot="0">
            <a:off x="681361" y="9762649"/>
            <a:ext cx="960149" cy="29295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7" id="7"/>
          <p:cNvSpPr txBox="true"/>
          <p:nvPr/>
        </p:nvSpPr>
        <p:spPr>
          <a:xfrm rot="0">
            <a:off x="5261715" y="9861347"/>
            <a:ext cx="7764570" cy="194253"/>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8" id="8"/>
          <p:cNvSpPr txBox="true"/>
          <p:nvPr/>
        </p:nvSpPr>
        <p:spPr>
          <a:xfrm rot="0">
            <a:off x="603371" y="401955"/>
            <a:ext cx="3963743" cy="472440"/>
          </a:xfrm>
          <a:prstGeom prst="rect">
            <a:avLst/>
          </a:prstGeom>
        </p:spPr>
        <p:txBody>
          <a:bodyPr anchor="t" rtlCol="false" tIns="0" lIns="0" bIns="0" rIns="0">
            <a:spAutoFit/>
          </a:bodyPr>
          <a:lstStyle/>
          <a:p>
            <a:pPr algn="l">
              <a:lnSpc>
                <a:spcPts val="3780"/>
              </a:lnSpc>
            </a:pPr>
            <a:r>
              <a:rPr lang="en-US" sz="3500" b="true">
                <a:solidFill>
                  <a:srgbClr val="284181"/>
                </a:solidFill>
                <a:latin typeface="Trebuchet MS Bold"/>
                <a:ea typeface="Trebuchet MS Bold"/>
                <a:cs typeface="Trebuchet MS Bold"/>
                <a:sym typeface="Trebuchet MS Bold"/>
              </a:rPr>
              <a:t>IMPACT POTENTIEL</a:t>
            </a:r>
          </a:p>
        </p:txBody>
      </p:sp>
      <p:grpSp>
        <p:nvGrpSpPr>
          <p:cNvPr name="Group 9" id="9"/>
          <p:cNvGrpSpPr/>
          <p:nvPr/>
        </p:nvGrpSpPr>
        <p:grpSpPr>
          <a:xfrm rot="10920">
            <a:off x="3290564" y="3973020"/>
            <a:ext cx="4508030" cy="9525"/>
            <a:chOff x="0" y="0"/>
            <a:chExt cx="6010707" cy="12700"/>
          </a:xfrm>
        </p:grpSpPr>
        <p:sp>
          <p:nvSpPr>
            <p:cNvPr name="Freeform 10" id="10"/>
            <p:cNvSpPr/>
            <p:nvPr/>
          </p:nvSpPr>
          <p:spPr>
            <a:xfrm flipH="false" flipV="false" rot="0">
              <a:off x="0" y="0"/>
              <a:ext cx="6010656" cy="12700"/>
            </a:xfrm>
            <a:custGeom>
              <a:avLst/>
              <a:gdLst/>
              <a:ahLst/>
              <a:cxnLst/>
              <a:rect r="r" b="b" t="t" l="l"/>
              <a:pathLst>
                <a:path h="12700" w="6010656">
                  <a:moveTo>
                    <a:pt x="6350" y="0"/>
                  </a:moveTo>
                  <a:lnTo>
                    <a:pt x="6004306" y="0"/>
                  </a:lnTo>
                  <a:cubicBezTo>
                    <a:pt x="6007862" y="0"/>
                    <a:pt x="6010656" y="2794"/>
                    <a:pt x="6010656" y="6350"/>
                  </a:cubicBezTo>
                  <a:cubicBezTo>
                    <a:pt x="6010656" y="9906"/>
                    <a:pt x="6007862" y="12700"/>
                    <a:pt x="6004306"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name="Group 11" id="11"/>
          <p:cNvGrpSpPr/>
          <p:nvPr/>
        </p:nvGrpSpPr>
        <p:grpSpPr>
          <a:xfrm rot="0">
            <a:off x="1161436" y="1640466"/>
            <a:ext cx="6228493" cy="1755086"/>
            <a:chOff x="0" y="0"/>
            <a:chExt cx="8304657" cy="2340115"/>
          </a:xfrm>
        </p:grpSpPr>
        <p:grpSp>
          <p:nvGrpSpPr>
            <p:cNvPr name="Group 12" id="12"/>
            <p:cNvGrpSpPr/>
            <p:nvPr/>
          </p:nvGrpSpPr>
          <p:grpSpPr>
            <a:xfrm rot="0">
              <a:off x="2343226" y="0"/>
              <a:ext cx="5961431" cy="2340115"/>
              <a:chOff x="0" y="0"/>
              <a:chExt cx="5961431" cy="2340115"/>
            </a:xfrm>
          </p:grpSpPr>
          <p:sp>
            <p:nvSpPr>
              <p:cNvPr name="Freeform 13" id="13"/>
              <p:cNvSpPr/>
              <p:nvPr/>
            </p:nvSpPr>
            <p:spPr>
              <a:xfrm flipH="false" flipV="false" rot="0">
                <a:off x="0" y="0"/>
                <a:ext cx="5961380" cy="2340102"/>
              </a:xfrm>
              <a:custGeom>
                <a:avLst/>
                <a:gdLst/>
                <a:ahLst/>
                <a:cxnLst/>
                <a:rect r="r" b="b" t="t" l="l"/>
                <a:pathLst>
                  <a:path h="2340102" w="5961380">
                    <a:moveTo>
                      <a:pt x="0" y="0"/>
                    </a:moveTo>
                    <a:lnTo>
                      <a:pt x="5961380" y="0"/>
                    </a:lnTo>
                    <a:lnTo>
                      <a:pt x="5961380" y="2340102"/>
                    </a:lnTo>
                    <a:lnTo>
                      <a:pt x="0" y="2340102"/>
                    </a:lnTo>
                    <a:close/>
                  </a:path>
                </a:pathLst>
              </a:custGeom>
              <a:blipFill>
                <a:blip r:embed="rId3">
                  <a:alphaModFix amt="0"/>
                </a:blip>
                <a:stretch>
                  <a:fillRect l="-399" t="0" r="-400" b="0"/>
                </a:stretch>
              </a:blipFill>
            </p:spPr>
          </p:sp>
        </p:grpSp>
        <p:grpSp>
          <p:nvGrpSpPr>
            <p:cNvPr name="Group 14" id="14"/>
            <p:cNvGrpSpPr/>
            <p:nvPr/>
          </p:nvGrpSpPr>
          <p:grpSpPr>
            <a:xfrm rot="0">
              <a:off x="0" y="337236"/>
              <a:ext cx="1803400" cy="1803400"/>
              <a:chOff x="0" y="0"/>
              <a:chExt cx="1803400" cy="1803400"/>
            </a:xfrm>
          </p:grpSpPr>
          <p:sp>
            <p:nvSpPr>
              <p:cNvPr name="Freeform 15" id="15"/>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284181"/>
              </a:solidFill>
            </p:spPr>
          </p:sp>
        </p:grpSp>
        <p:sp>
          <p:nvSpPr>
            <p:cNvPr name="Freeform 16" id="16"/>
            <p:cNvSpPr/>
            <p:nvPr/>
          </p:nvSpPr>
          <p:spPr>
            <a:xfrm flipH="false" flipV="false" rot="0">
              <a:off x="460375" y="797611"/>
              <a:ext cx="882650" cy="882650"/>
            </a:xfrm>
            <a:custGeom>
              <a:avLst/>
              <a:gdLst/>
              <a:ahLst/>
              <a:cxnLst/>
              <a:rect r="r" b="b" t="t" l="l"/>
              <a:pathLst>
                <a:path h="882650" w="882650">
                  <a:moveTo>
                    <a:pt x="0" y="0"/>
                  </a:moveTo>
                  <a:lnTo>
                    <a:pt x="882650" y="0"/>
                  </a:lnTo>
                  <a:lnTo>
                    <a:pt x="882650" y="882650"/>
                  </a:lnTo>
                  <a:lnTo>
                    <a:pt x="0" y="882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0">
            <a:off x="2918855" y="1694044"/>
            <a:ext cx="9404020" cy="1719366"/>
            <a:chOff x="0" y="0"/>
            <a:chExt cx="12538694" cy="2292488"/>
          </a:xfrm>
        </p:grpSpPr>
        <p:sp>
          <p:nvSpPr>
            <p:cNvPr name="Freeform 18" id="18"/>
            <p:cNvSpPr/>
            <p:nvPr/>
          </p:nvSpPr>
          <p:spPr>
            <a:xfrm flipH="false" flipV="false" rot="0">
              <a:off x="0" y="0"/>
              <a:ext cx="12538695" cy="2292487"/>
            </a:xfrm>
            <a:custGeom>
              <a:avLst/>
              <a:gdLst/>
              <a:ahLst/>
              <a:cxnLst/>
              <a:rect r="r" b="b" t="t" l="l"/>
              <a:pathLst>
                <a:path h="2292487" w="12538695">
                  <a:moveTo>
                    <a:pt x="0" y="0"/>
                  </a:moveTo>
                  <a:lnTo>
                    <a:pt x="12538695" y="0"/>
                  </a:lnTo>
                  <a:lnTo>
                    <a:pt x="12538695" y="2292487"/>
                  </a:lnTo>
                  <a:lnTo>
                    <a:pt x="0" y="2292487"/>
                  </a:lnTo>
                  <a:close/>
                </a:path>
              </a:pathLst>
            </a:custGeom>
            <a:blipFill>
              <a:blip r:embed="rId6">
                <a:alphaModFix amt="0"/>
              </a:blip>
              <a:stretch>
                <a:fillRect l="0" t="-669" r="52455" b="-669"/>
              </a:stretch>
            </a:blipFill>
          </p:spPr>
        </p:sp>
        <p:sp>
          <p:nvSpPr>
            <p:cNvPr name="TextBox 19" id="19"/>
            <p:cNvSpPr txBox="true"/>
            <p:nvPr/>
          </p:nvSpPr>
          <p:spPr>
            <a:xfrm>
              <a:off x="0" y="47625"/>
              <a:ext cx="12538694" cy="2244863"/>
            </a:xfrm>
            <a:prstGeom prst="rect">
              <a:avLst/>
            </a:prstGeom>
          </p:spPr>
          <p:txBody>
            <a:bodyPr anchor="ctr" rtlCol="false" tIns="0" lIns="0" bIns="0" rIns="0"/>
            <a:lstStyle/>
            <a:p>
              <a:pPr algn="l">
                <a:lnSpc>
                  <a:spcPts val="5615"/>
                </a:lnSpc>
              </a:pPr>
              <a:r>
                <a:rPr lang="en-US" b="true" sz="5199" i="true">
                  <a:solidFill>
                    <a:srgbClr val="284181"/>
                  </a:solidFill>
                  <a:latin typeface="Trebuchet MS Bold Italics"/>
                  <a:ea typeface="Trebuchet MS Bold Italics"/>
                  <a:cs typeface="Trebuchet MS Bold Italics"/>
                  <a:sym typeface="Trebuchet MS Bold Italics"/>
                </a:rPr>
                <a:t>187</a:t>
              </a:r>
              <a:r>
                <a:rPr lang="en-US" b="true" sz="5199" i="true">
                  <a:solidFill>
                    <a:srgbClr val="284181"/>
                  </a:solidFill>
                  <a:latin typeface="Trebuchet MS Bold Italics"/>
                  <a:ea typeface="Trebuchet MS Bold Italics"/>
                  <a:cs typeface="Trebuchet MS Bold Italics"/>
                  <a:sym typeface="Trebuchet MS Bold Italics"/>
                </a:rPr>
                <a:t>K+</a:t>
              </a:r>
            </a:p>
            <a:p>
              <a:pPr algn="l">
                <a:lnSpc>
                  <a:spcPts val="3719"/>
                </a:lnSpc>
              </a:pPr>
              <a:r>
                <a:rPr lang="en-US" b="true" sz="3099" i="true">
                  <a:solidFill>
                    <a:srgbClr val="3F3F3F"/>
                  </a:solidFill>
                  <a:latin typeface="Trebuchet MS Bold Italics"/>
                  <a:ea typeface="Trebuchet MS Bold Italics"/>
                  <a:cs typeface="Trebuchet MS Bold Italics"/>
                  <a:sym typeface="Trebuchet MS Bold Italics"/>
                </a:rPr>
                <a:t>Producteurs de coton</a:t>
              </a:r>
              <a:r>
                <a:rPr lang="en-US" b="true" sz="3099" i="true">
                  <a:solidFill>
                    <a:srgbClr val="3F3F3F"/>
                  </a:solidFill>
                  <a:latin typeface="Trebuchet MS Bold Italics"/>
                  <a:ea typeface="Trebuchet MS Bold Italics"/>
                  <a:cs typeface="Trebuchet MS Bold Italics"/>
                  <a:sym typeface="Trebuchet MS Bold Italics"/>
                </a:rPr>
                <a:t> impactées par la solution </a:t>
              </a:r>
            </a:p>
          </p:txBody>
        </p:sp>
      </p:grpSp>
      <p:grpSp>
        <p:nvGrpSpPr>
          <p:cNvPr name="Group 20" id="20"/>
          <p:cNvGrpSpPr/>
          <p:nvPr/>
        </p:nvGrpSpPr>
        <p:grpSpPr>
          <a:xfrm rot="10920">
            <a:off x="3042299" y="5925789"/>
            <a:ext cx="4508030" cy="9525"/>
            <a:chOff x="0" y="0"/>
            <a:chExt cx="6010707" cy="12700"/>
          </a:xfrm>
        </p:grpSpPr>
        <p:sp>
          <p:nvSpPr>
            <p:cNvPr name="Freeform 21" id="21"/>
            <p:cNvSpPr/>
            <p:nvPr/>
          </p:nvSpPr>
          <p:spPr>
            <a:xfrm flipH="false" flipV="false" rot="0">
              <a:off x="0" y="0"/>
              <a:ext cx="6010656" cy="12700"/>
            </a:xfrm>
            <a:custGeom>
              <a:avLst/>
              <a:gdLst/>
              <a:ahLst/>
              <a:cxnLst/>
              <a:rect r="r" b="b" t="t" l="l"/>
              <a:pathLst>
                <a:path h="12700" w="6010656">
                  <a:moveTo>
                    <a:pt x="6350" y="0"/>
                  </a:moveTo>
                  <a:lnTo>
                    <a:pt x="6004306" y="0"/>
                  </a:lnTo>
                  <a:cubicBezTo>
                    <a:pt x="6007862" y="0"/>
                    <a:pt x="6010656" y="2794"/>
                    <a:pt x="6010656" y="6350"/>
                  </a:cubicBezTo>
                  <a:cubicBezTo>
                    <a:pt x="6010656" y="9906"/>
                    <a:pt x="6007862" y="12700"/>
                    <a:pt x="6004306"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name="Group 22" id="22"/>
          <p:cNvGrpSpPr/>
          <p:nvPr/>
        </p:nvGrpSpPr>
        <p:grpSpPr>
          <a:xfrm rot="0">
            <a:off x="3054215" y="3980127"/>
            <a:ext cx="4200363" cy="2069402"/>
            <a:chOff x="0" y="0"/>
            <a:chExt cx="5600484" cy="2759202"/>
          </a:xfrm>
        </p:grpSpPr>
        <p:sp>
          <p:nvSpPr>
            <p:cNvPr name="Freeform 23" id="23"/>
            <p:cNvSpPr/>
            <p:nvPr/>
          </p:nvSpPr>
          <p:spPr>
            <a:xfrm flipH="false" flipV="false" rot="0">
              <a:off x="0" y="0"/>
              <a:ext cx="5600446" cy="2759202"/>
            </a:xfrm>
            <a:custGeom>
              <a:avLst/>
              <a:gdLst/>
              <a:ahLst/>
              <a:cxnLst/>
              <a:rect r="r" b="b" t="t" l="l"/>
              <a:pathLst>
                <a:path h="2759202" w="5600446">
                  <a:moveTo>
                    <a:pt x="0" y="0"/>
                  </a:moveTo>
                  <a:lnTo>
                    <a:pt x="5600446" y="0"/>
                  </a:lnTo>
                  <a:lnTo>
                    <a:pt x="5600446" y="2759202"/>
                  </a:lnTo>
                  <a:lnTo>
                    <a:pt x="0" y="2759202"/>
                  </a:lnTo>
                  <a:close/>
                </a:path>
              </a:pathLst>
            </a:custGeom>
            <a:blipFill>
              <a:blip r:embed="rId3">
                <a:alphaModFix amt="0"/>
              </a:blip>
              <a:stretch>
                <a:fillRect l="-13255" t="0" r="-13256" b="0"/>
              </a:stretch>
            </a:blipFill>
          </p:spPr>
        </p:sp>
      </p:grpSp>
      <p:grpSp>
        <p:nvGrpSpPr>
          <p:cNvPr name="Group 24" id="24"/>
          <p:cNvGrpSpPr/>
          <p:nvPr/>
        </p:nvGrpSpPr>
        <p:grpSpPr>
          <a:xfrm rot="0">
            <a:off x="1161436" y="4282584"/>
            <a:ext cx="1352550" cy="1352550"/>
            <a:chOff x="0" y="0"/>
            <a:chExt cx="1803400" cy="1803400"/>
          </a:xfrm>
        </p:grpSpPr>
        <p:sp>
          <p:nvSpPr>
            <p:cNvPr name="Freeform 25" id="25"/>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00BFDF"/>
            </a:solidFill>
          </p:spPr>
        </p:sp>
      </p:grpSp>
      <p:sp>
        <p:nvSpPr>
          <p:cNvPr name="Freeform 26" id="26"/>
          <p:cNvSpPr/>
          <p:nvPr/>
        </p:nvSpPr>
        <p:spPr>
          <a:xfrm flipH="false" flipV="false" rot="0">
            <a:off x="1506717" y="4626017"/>
            <a:ext cx="661988" cy="665664"/>
          </a:xfrm>
          <a:custGeom>
            <a:avLst/>
            <a:gdLst/>
            <a:ahLst/>
            <a:cxnLst/>
            <a:rect r="r" b="b" t="t" l="l"/>
            <a:pathLst>
              <a:path h="665664" w="661988">
                <a:moveTo>
                  <a:pt x="0" y="0"/>
                </a:moveTo>
                <a:lnTo>
                  <a:pt x="661987" y="0"/>
                </a:lnTo>
                <a:lnTo>
                  <a:pt x="661987" y="665664"/>
                </a:lnTo>
                <a:lnTo>
                  <a:pt x="0" y="665664"/>
                </a:lnTo>
                <a:lnTo>
                  <a:pt x="0" y="0"/>
                </a:lnTo>
                <a:close/>
              </a:path>
            </a:pathLst>
          </a:custGeom>
          <a:blipFill>
            <a:blip r:embed="rId7">
              <a:extLst>
                <a:ext uri="{96DAC541-7B7A-43D3-8B79-37D633B846F1}">
                  <asvg:svgBlip xmlns:asvg="http://schemas.microsoft.com/office/drawing/2016/SVG/main" r:embed="rId8"/>
                </a:ext>
              </a:extLst>
            </a:blip>
            <a:stretch>
              <a:fillRect l="-277" t="0" r="-277" b="0"/>
            </a:stretch>
          </a:blipFill>
        </p:spPr>
      </p:sp>
      <p:grpSp>
        <p:nvGrpSpPr>
          <p:cNvPr name="Group 27" id="27"/>
          <p:cNvGrpSpPr/>
          <p:nvPr/>
        </p:nvGrpSpPr>
        <p:grpSpPr>
          <a:xfrm rot="0">
            <a:off x="3042296" y="3725229"/>
            <a:ext cx="12772863" cy="2324300"/>
            <a:chOff x="0" y="0"/>
            <a:chExt cx="17030484" cy="3099066"/>
          </a:xfrm>
        </p:grpSpPr>
        <p:sp>
          <p:nvSpPr>
            <p:cNvPr name="Freeform 28" id="28"/>
            <p:cNvSpPr/>
            <p:nvPr/>
          </p:nvSpPr>
          <p:spPr>
            <a:xfrm flipH="false" flipV="false" rot="0">
              <a:off x="0" y="0"/>
              <a:ext cx="17030485" cy="3099065"/>
            </a:xfrm>
            <a:custGeom>
              <a:avLst/>
              <a:gdLst/>
              <a:ahLst/>
              <a:cxnLst/>
              <a:rect r="r" b="b" t="t" l="l"/>
              <a:pathLst>
                <a:path h="3099065" w="17030485">
                  <a:moveTo>
                    <a:pt x="0" y="0"/>
                  </a:moveTo>
                  <a:lnTo>
                    <a:pt x="17030485" y="0"/>
                  </a:lnTo>
                  <a:lnTo>
                    <a:pt x="17030485" y="3099065"/>
                  </a:lnTo>
                  <a:lnTo>
                    <a:pt x="0" y="3099065"/>
                  </a:lnTo>
                  <a:close/>
                </a:path>
              </a:pathLst>
            </a:custGeom>
            <a:blipFill>
              <a:blip r:embed="rId6">
                <a:alphaModFix amt="0"/>
              </a:blip>
              <a:stretch>
                <a:fillRect l="-3985" t="0" r="63129" b="12502"/>
              </a:stretch>
            </a:blipFill>
          </p:spPr>
        </p:sp>
        <p:sp>
          <p:nvSpPr>
            <p:cNvPr name="TextBox 29" id="29"/>
            <p:cNvSpPr txBox="true"/>
            <p:nvPr/>
          </p:nvSpPr>
          <p:spPr>
            <a:xfrm>
              <a:off x="0" y="47625"/>
              <a:ext cx="17030484" cy="3051441"/>
            </a:xfrm>
            <a:prstGeom prst="rect">
              <a:avLst/>
            </a:prstGeom>
          </p:spPr>
          <p:txBody>
            <a:bodyPr anchor="ctr" rtlCol="false" tIns="0" lIns="0" bIns="0" rIns="0"/>
            <a:lstStyle/>
            <a:p>
              <a:pPr algn="l">
                <a:lnSpc>
                  <a:spcPts val="5615"/>
                </a:lnSpc>
              </a:pPr>
              <a:r>
                <a:rPr lang="en-US" b="true" sz="5199" i="true">
                  <a:solidFill>
                    <a:srgbClr val="00BFDF"/>
                  </a:solidFill>
                  <a:latin typeface="Trebuchet MS Bold Italics"/>
                  <a:ea typeface="Trebuchet MS Bold Italics"/>
                  <a:cs typeface="Trebuchet MS Bold Italics"/>
                  <a:sym typeface="Trebuchet MS Bold Italics"/>
                </a:rPr>
                <a:t>3</a:t>
              </a:r>
              <a:r>
                <a:rPr lang="en-US" b="true" sz="5199" i="true">
                  <a:solidFill>
                    <a:srgbClr val="00BFDF"/>
                  </a:solidFill>
                  <a:latin typeface="Trebuchet MS Bold Italics"/>
                  <a:ea typeface="Trebuchet MS Bold Italics"/>
                  <a:cs typeface="Trebuchet MS Bold Italics"/>
                  <a:sym typeface="Trebuchet MS Bold Italics"/>
                </a:rPr>
                <a:t>0%</a:t>
              </a:r>
            </a:p>
            <a:p>
              <a:pPr algn="l">
                <a:lnSpc>
                  <a:spcPts val="3839"/>
                </a:lnSpc>
              </a:pPr>
              <a:r>
                <a:rPr lang="en-US" b="true" sz="3199" i="true">
                  <a:solidFill>
                    <a:srgbClr val="3F3F3F"/>
                  </a:solidFill>
                  <a:latin typeface="Trebuchet MS Bold Italics"/>
                  <a:ea typeface="Trebuchet MS Bold Italics"/>
                  <a:cs typeface="Trebuchet MS Bold Italics"/>
                  <a:sym typeface="Trebuchet MS Bold Italics"/>
                </a:rPr>
                <a:t>Proportion de femmes agricultrices pouvant  bénéficier d'un accès égal aux preuves de revenus et au crédit bancaire</a:t>
              </a:r>
            </a:p>
          </p:txBody>
        </p:sp>
      </p:grpSp>
      <p:grpSp>
        <p:nvGrpSpPr>
          <p:cNvPr name="Group 30" id="30"/>
          <p:cNvGrpSpPr/>
          <p:nvPr/>
        </p:nvGrpSpPr>
        <p:grpSpPr>
          <a:xfrm rot="0">
            <a:off x="3534289" y="6601979"/>
            <a:ext cx="4200363" cy="2069411"/>
            <a:chOff x="0" y="0"/>
            <a:chExt cx="5600484" cy="2759215"/>
          </a:xfrm>
        </p:grpSpPr>
        <p:sp>
          <p:nvSpPr>
            <p:cNvPr name="Freeform 31" id="31"/>
            <p:cNvSpPr/>
            <p:nvPr/>
          </p:nvSpPr>
          <p:spPr>
            <a:xfrm flipH="false" flipV="false" rot="0">
              <a:off x="0" y="0"/>
              <a:ext cx="5600446" cy="2759202"/>
            </a:xfrm>
            <a:custGeom>
              <a:avLst/>
              <a:gdLst/>
              <a:ahLst/>
              <a:cxnLst/>
              <a:rect r="r" b="b" t="t" l="l"/>
              <a:pathLst>
                <a:path h="2759202" w="5600446">
                  <a:moveTo>
                    <a:pt x="0" y="0"/>
                  </a:moveTo>
                  <a:lnTo>
                    <a:pt x="5600446" y="0"/>
                  </a:lnTo>
                  <a:lnTo>
                    <a:pt x="5600446" y="2759202"/>
                  </a:lnTo>
                  <a:lnTo>
                    <a:pt x="0" y="2759202"/>
                  </a:lnTo>
                  <a:close/>
                </a:path>
              </a:pathLst>
            </a:custGeom>
            <a:blipFill>
              <a:blip r:embed="rId3">
                <a:alphaModFix amt="0"/>
              </a:blip>
              <a:stretch>
                <a:fillRect l="-13255" t="0" r="-13256" b="0"/>
              </a:stretch>
            </a:blipFill>
          </p:spPr>
        </p:sp>
      </p:grpSp>
      <p:grpSp>
        <p:nvGrpSpPr>
          <p:cNvPr name="Group 32" id="32"/>
          <p:cNvGrpSpPr/>
          <p:nvPr/>
        </p:nvGrpSpPr>
        <p:grpSpPr>
          <a:xfrm rot="0">
            <a:off x="1232692" y="6742844"/>
            <a:ext cx="1352550" cy="1352550"/>
            <a:chOff x="0" y="0"/>
            <a:chExt cx="1803400" cy="1803400"/>
          </a:xfrm>
        </p:grpSpPr>
        <p:grpSp>
          <p:nvGrpSpPr>
            <p:cNvPr name="Group 33" id="33"/>
            <p:cNvGrpSpPr/>
            <p:nvPr/>
          </p:nvGrpSpPr>
          <p:grpSpPr>
            <a:xfrm rot="0">
              <a:off x="0" y="0"/>
              <a:ext cx="1803400" cy="1803400"/>
              <a:chOff x="0" y="0"/>
              <a:chExt cx="1803400" cy="1803400"/>
            </a:xfrm>
          </p:grpSpPr>
          <p:sp>
            <p:nvSpPr>
              <p:cNvPr name="Freeform 34" id="34"/>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595959"/>
              </a:solidFill>
            </p:spPr>
          </p:sp>
        </p:grpSp>
        <p:sp>
          <p:nvSpPr>
            <p:cNvPr name="Freeform 35" id="35"/>
            <p:cNvSpPr/>
            <p:nvPr/>
          </p:nvSpPr>
          <p:spPr>
            <a:xfrm flipH="false" flipV="false" rot="0">
              <a:off x="465277" y="467728"/>
              <a:ext cx="872846" cy="867943"/>
            </a:xfrm>
            <a:custGeom>
              <a:avLst/>
              <a:gdLst/>
              <a:ahLst/>
              <a:cxnLst/>
              <a:rect r="r" b="b" t="t" l="l"/>
              <a:pathLst>
                <a:path h="867943" w="872846">
                  <a:moveTo>
                    <a:pt x="0" y="0"/>
                  </a:moveTo>
                  <a:lnTo>
                    <a:pt x="872846" y="0"/>
                  </a:lnTo>
                  <a:lnTo>
                    <a:pt x="872846" y="867944"/>
                  </a:lnTo>
                  <a:lnTo>
                    <a:pt x="0" y="867944"/>
                  </a:lnTo>
                  <a:lnTo>
                    <a:pt x="0" y="0"/>
                  </a:lnTo>
                  <a:close/>
                </a:path>
              </a:pathLst>
            </a:custGeom>
            <a:blipFill>
              <a:blip r:embed="rId9">
                <a:extLst>
                  <a:ext uri="{96DAC541-7B7A-43D3-8B79-37D633B846F1}">
                    <asvg:svgBlip xmlns:asvg="http://schemas.microsoft.com/office/drawing/2016/SVG/main" r:embed="rId10"/>
                  </a:ext>
                </a:extLst>
              </a:blip>
              <a:stretch>
                <a:fillRect l="0" t="-282" r="0" b="-282"/>
              </a:stretch>
            </a:blipFill>
          </p:spPr>
        </p:sp>
      </p:grpSp>
      <p:grpSp>
        <p:nvGrpSpPr>
          <p:cNvPr name="Group 36" id="36"/>
          <p:cNvGrpSpPr/>
          <p:nvPr/>
        </p:nvGrpSpPr>
        <p:grpSpPr>
          <a:xfrm rot="0">
            <a:off x="3054215" y="6256969"/>
            <a:ext cx="12772863" cy="2324300"/>
            <a:chOff x="0" y="0"/>
            <a:chExt cx="17030484" cy="3099066"/>
          </a:xfrm>
        </p:grpSpPr>
        <p:sp>
          <p:nvSpPr>
            <p:cNvPr name="Freeform 37" id="37"/>
            <p:cNvSpPr/>
            <p:nvPr/>
          </p:nvSpPr>
          <p:spPr>
            <a:xfrm flipH="false" flipV="false" rot="0">
              <a:off x="0" y="0"/>
              <a:ext cx="17030485" cy="3099065"/>
            </a:xfrm>
            <a:custGeom>
              <a:avLst/>
              <a:gdLst/>
              <a:ahLst/>
              <a:cxnLst/>
              <a:rect r="r" b="b" t="t" l="l"/>
              <a:pathLst>
                <a:path h="3099065" w="17030485">
                  <a:moveTo>
                    <a:pt x="0" y="0"/>
                  </a:moveTo>
                  <a:lnTo>
                    <a:pt x="17030485" y="0"/>
                  </a:lnTo>
                  <a:lnTo>
                    <a:pt x="17030485" y="3099065"/>
                  </a:lnTo>
                  <a:lnTo>
                    <a:pt x="0" y="3099065"/>
                  </a:lnTo>
                  <a:close/>
                </a:path>
              </a:pathLst>
            </a:custGeom>
            <a:blipFill>
              <a:blip r:embed="rId6">
                <a:alphaModFix amt="0"/>
              </a:blip>
              <a:stretch>
                <a:fillRect l="-3985" t="0" r="63129" b="12502"/>
              </a:stretch>
            </a:blipFill>
          </p:spPr>
        </p:sp>
        <p:sp>
          <p:nvSpPr>
            <p:cNvPr name="TextBox 38" id="38"/>
            <p:cNvSpPr txBox="true"/>
            <p:nvPr/>
          </p:nvSpPr>
          <p:spPr>
            <a:xfrm>
              <a:off x="0" y="47625"/>
              <a:ext cx="17030484" cy="3051441"/>
            </a:xfrm>
            <a:prstGeom prst="rect">
              <a:avLst/>
            </a:prstGeom>
          </p:spPr>
          <p:txBody>
            <a:bodyPr anchor="ctr" rtlCol="false" tIns="0" lIns="0" bIns="0" rIns="0"/>
            <a:lstStyle/>
            <a:p>
              <a:pPr algn="l">
                <a:lnSpc>
                  <a:spcPts val="5615"/>
                </a:lnSpc>
              </a:pPr>
              <a:r>
                <a:rPr lang="en-US" b="true" sz="5199" i="true">
                  <a:solidFill>
                    <a:srgbClr val="434343"/>
                  </a:solidFill>
                  <a:latin typeface="Trebuchet MS Bold Italics"/>
                  <a:ea typeface="Trebuchet MS Bold Italics"/>
                  <a:cs typeface="Trebuchet MS Bold Italics"/>
                  <a:sym typeface="Trebuchet MS Bold Italics"/>
                </a:rPr>
                <a:t>+29</a:t>
              </a:r>
              <a:r>
                <a:rPr lang="en-US" b="true" sz="5199" i="true">
                  <a:solidFill>
                    <a:srgbClr val="434343"/>
                  </a:solidFill>
                  <a:latin typeface="Trebuchet MS Bold Italics"/>
                  <a:ea typeface="Trebuchet MS Bold Italics"/>
                  <a:cs typeface="Trebuchet MS Bold Italics"/>
                  <a:sym typeface="Trebuchet MS Bold Italics"/>
                </a:rPr>
                <a:t>%</a:t>
              </a:r>
            </a:p>
            <a:p>
              <a:pPr algn="l">
                <a:lnSpc>
                  <a:spcPts val="3839"/>
                </a:lnSpc>
              </a:pPr>
              <a:r>
                <a:rPr lang="en-US" b="true" sz="3199" i="true">
                  <a:solidFill>
                    <a:srgbClr val="3F3F3F"/>
                  </a:solidFill>
                  <a:latin typeface="Trebuchet MS Bold Italics"/>
                  <a:ea typeface="Trebuchet MS Bold Italics"/>
                  <a:cs typeface="Trebuchet MS Bold Italics"/>
                  <a:sym typeface="Trebuchet MS Bold Italics"/>
                </a:rPr>
                <a:t>Augmentation moyenne de production (accès intrants via crédit)</a:t>
              </a:r>
            </a:p>
          </p:txBody>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4140">
            <a:off x="650110" y="9570596"/>
            <a:ext cx="11861930" cy="9525"/>
            <a:chOff x="0" y="0"/>
            <a:chExt cx="15815907" cy="12700"/>
          </a:xfrm>
        </p:grpSpPr>
        <p:sp>
          <p:nvSpPr>
            <p:cNvPr name="Freeform 3" id="3"/>
            <p:cNvSpPr/>
            <p:nvPr/>
          </p:nvSpPr>
          <p:spPr>
            <a:xfrm flipH="false" flipV="false" rot="0">
              <a:off x="0" y="0"/>
              <a:ext cx="15815945" cy="12700"/>
            </a:xfrm>
            <a:custGeom>
              <a:avLst/>
              <a:gdLst/>
              <a:ahLst/>
              <a:cxnLst/>
              <a:rect r="r" b="b" t="t" l="l"/>
              <a:pathLst>
                <a:path h="12700" w="15815945">
                  <a:moveTo>
                    <a:pt x="6350" y="0"/>
                  </a:moveTo>
                  <a:lnTo>
                    <a:pt x="15809595" y="0"/>
                  </a:lnTo>
                  <a:cubicBezTo>
                    <a:pt x="15813151" y="0"/>
                    <a:pt x="15815945" y="2794"/>
                    <a:pt x="15815945" y="6350"/>
                  </a:cubicBezTo>
                  <a:cubicBezTo>
                    <a:pt x="15815945" y="9906"/>
                    <a:pt x="15813151" y="12700"/>
                    <a:pt x="15809595" y="12700"/>
                  </a:cubicBezTo>
                  <a:lnTo>
                    <a:pt x="6350" y="12700"/>
                  </a:lnTo>
                  <a:cubicBezTo>
                    <a:pt x="2794" y="12700"/>
                    <a:pt x="0" y="9906"/>
                    <a:pt x="0" y="6350"/>
                  </a:cubicBezTo>
                  <a:cubicBezTo>
                    <a:pt x="0" y="2794"/>
                    <a:pt x="2794" y="0"/>
                    <a:pt x="6350" y="0"/>
                  </a:cubicBezTo>
                  <a:close/>
                </a:path>
              </a:pathLst>
            </a:custGeom>
            <a:solidFill>
              <a:srgbClr val="284181"/>
            </a:solidFill>
          </p:spPr>
        </p:sp>
      </p:grpSp>
      <p:grpSp>
        <p:nvGrpSpPr>
          <p:cNvPr name="Group 4" id="4"/>
          <p:cNvGrpSpPr/>
          <p:nvPr/>
        </p:nvGrpSpPr>
        <p:grpSpPr>
          <a:xfrm rot="10020">
            <a:off x="12682004" y="9570596"/>
            <a:ext cx="4898631" cy="9525"/>
            <a:chOff x="0" y="0"/>
            <a:chExt cx="6531508" cy="12700"/>
          </a:xfrm>
        </p:grpSpPr>
        <p:sp>
          <p:nvSpPr>
            <p:cNvPr name="Freeform 5" id="5"/>
            <p:cNvSpPr/>
            <p:nvPr/>
          </p:nvSpPr>
          <p:spPr>
            <a:xfrm flipH="false" flipV="false" rot="0">
              <a:off x="0" y="0"/>
              <a:ext cx="6531483" cy="12700"/>
            </a:xfrm>
            <a:custGeom>
              <a:avLst/>
              <a:gdLst/>
              <a:ahLst/>
              <a:cxnLst/>
              <a:rect r="r" b="b" t="t" l="l"/>
              <a:pathLst>
                <a:path h="12700" w="6531483">
                  <a:moveTo>
                    <a:pt x="6350" y="0"/>
                  </a:moveTo>
                  <a:lnTo>
                    <a:pt x="6525133" y="0"/>
                  </a:lnTo>
                  <a:cubicBezTo>
                    <a:pt x="6528689" y="0"/>
                    <a:pt x="6531483" y="2794"/>
                    <a:pt x="6531483" y="6350"/>
                  </a:cubicBezTo>
                  <a:cubicBezTo>
                    <a:pt x="6531483" y="9906"/>
                    <a:pt x="6528689" y="12700"/>
                    <a:pt x="6525133" y="12700"/>
                  </a:cubicBezTo>
                  <a:lnTo>
                    <a:pt x="6350" y="12700"/>
                  </a:lnTo>
                  <a:cubicBezTo>
                    <a:pt x="2794" y="12700"/>
                    <a:pt x="0" y="9906"/>
                    <a:pt x="0" y="6350"/>
                  </a:cubicBezTo>
                  <a:cubicBezTo>
                    <a:pt x="0" y="2794"/>
                    <a:pt x="2794" y="0"/>
                    <a:pt x="6350" y="0"/>
                  </a:cubicBezTo>
                  <a:close/>
                </a:path>
              </a:pathLst>
            </a:custGeom>
            <a:solidFill>
              <a:srgbClr val="00BFDF"/>
            </a:solidFill>
          </p:spPr>
        </p:sp>
      </p:grpSp>
      <p:sp>
        <p:nvSpPr>
          <p:cNvPr name="TextBox 6" id="6"/>
          <p:cNvSpPr txBox="true"/>
          <p:nvPr/>
        </p:nvSpPr>
        <p:spPr>
          <a:xfrm rot="0">
            <a:off x="681361" y="9781699"/>
            <a:ext cx="960149" cy="190500"/>
          </a:xfrm>
          <a:prstGeom prst="rect">
            <a:avLst/>
          </a:prstGeom>
        </p:spPr>
        <p:txBody>
          <a:bodyPr anchor="t" rtlCol="false" tIns="0" lIns="0" bIns="0" rIns="0">
            <a:spAutoFit/>
          </a:bodyPr>
          <a:lstStyle/>
          <a:p>
            <a:pPr algn="l">
              <a:lnSpc>
                <a:spcPts val="1380"/>
              </a:lnSpc>
            </a:pPr>
            <a:r>
              <a:rPr lang="en-US" sz="1150">
                <a:solidFill>
                  <a:srgbClr val="595959"/>
                </a:solidFill>
                <a:latin typeface="Trebuchet MS"/>
                <a:ea typeface="Trebuchet MS"/>
                <a:cs typeface="Trebuchet MS"/>
                <a:sym typeface="Trebuchet MS"/>
              </a:rPr>
              <a:t>‹#›</a:t>
            </a:r>
          </a:p>
        </p:txBody>
      </p:sp>
      <p:sp>
        <p:nvSpPr>
          <p:cNvPr name="TextBox 7" id="7"/>
          <p:cNvSpPr txBox="true"/>
          <p:nvPr/>
        </p:nvSpPr>
        <p:spPr>
          <a:xfrm rot="0">
            <a:off x="603371" y="401955"/>
            <a:ext cx="10411568" cy="472440"/>
          </a:xfrm>
          <a:prstGeom prst="rect">
            <a:avLst/>
          </a:prstGeom>
        </p:spPr>
        <p:txBody>
          <a:bodyPr anchor="t" rtlCol="false" tIns="0" lIns="0" bIns="0" rIns="0">
            <a:spAutoFit/>
          </a:bodyPr>
          <a:lstStyle/>
          <a:p>
            <a:pPr algn="l">
              <a:lnSpc>
                <a:spcPts val="3779"/>
              </a:lnSpc>
            </a:pPr>
            <a:r>
              <a:rPr lang="en-US" sz="3499" b="true">
                <a:solidFill>
                  <a:srgbClr val="284181"/>
                </a:solidFill>
                <a:latin typeface="Trebuchet MS Bold"/>
                <a:ea typeface="Trebuchet MS Bold"/>
                <a:cs typeface="Trebuchet MS Bold"/>
                <a:sym typeface="Trebuchet MS Bold"/>
              </a:rPr>
              <a:t>DÉFIS ET CARTOGRAPHIE DES PARTIES PRENANTES</a:t>
            </a:r>
          </a:p>
        </p:txBody>
      </p:sp>
      <p:graphicFrame>
        <p:nvGraphicFramePr>
          <p:cNvPr name="Table 8" id="8"/>
          <p:cNvGraphicFramePr>
            <a:graphicFrameLocks noGrp="true"/>
          </p:cNvGraphicFramePr>
          <p:nvPr/>
        </p:nvGraphicFramePr>
        <p:xfrm>
          <a:off x="650108" y="1347311"/>
          <a:ext cx="16789400" cy="8534400"/>
        </p:xfrm>
        <a:graphic>
          <a:graphicData uri="http://schemas.openxmlformats.org/drawingml/2006/table">
            <a:tbl>
              <a:tblPr/>
              <a:tblGrid>
                <a:gridCol w="5778573"/>
                <a:gridCol w="5759604"/>
                <a:gridCol w="5251224"/>
              </a:tblGrid>
              <a:tr h="1045393">
                <a:tc>
                  <a:txBody>
                    <a:bodyPr anchor="t" rtlCol="false"/>
                    <a:lstStyle/>
                    <a:p>
                      <a:pPr algn="ctr">
                        <a:lnSpc>
                          <a:spcPts val="2520"/>
                        </a:lnSpc>
                        <a:defRPr/>
                      </a:pPr>
                      <a:r>
                        <a:rPr lang="en-US" sz="2100">
                          <a:solidFill>
                            <a:srgbClr val="FFFFFF"/>
                          </a:solidFill>
                          <a:latin typeface="Trebuchet MS"/>
                          <a:ea typeface="Trebuchet MS"/>
                          <a:cs typeface="Trebuchet MS"/>
                          <a:sym typeface="Trebuchet MS"/>
                        </a:rPr>
                        <a:t>Challenges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c>
                  <a:txBody>
                    <a:bodyPr anchor="t" rtlCol="false"/>
                    <a:lstStyle/>
                    <a:p>
                      <a:pPr algn="ctr">
                        <a:lnSpc>
                          <a:spcPts val="2640"/>
                        </a:lnSpc>
                        <a:defRPr/>
                      </a:pPr>
                      <a:r>
                        <a:rPr lang="en-US" sz="2200">
                          <a:solidFill>
                            <a:srgbClr val="FFFFFF"/>
                          </a:solidFill>
                          <a:latin typeface="Trebuchet MS"/>
                          <a:ea typeface="Trebuchet MS"/>
                          <a:cs typeface="Trebuchet MS"/>
                          <a:sym typeface="Trebuchet MS"/>
                        </a:rPr>
                        <a:t>Solution</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c>
                  <a:txBody>
                    <a:bodyPr anchor="t" rtlCol="false"/>
                    <a:lstStyle/>
                    <a:p>
                      <a:pPr algn="ctr">
                        <a:lnSpc>
                          <a:spcPts val="2760"/>
                        </a:lnSpc>
                        <a:defRPr/>
                      </a:pPr>
                      <a:r>
                        <a:rPr lang="en-US" sz="2300">
                          <a:solidFill>
                            <a:srgbClr val="FFFFFF"/>
                          </a:solidFill>
                          <a:latin typeface="Trebuchet MS"/>
                          <a:ea typeface="Trebuchet MS"/>
                          <a:cs typeface="Trebuchet MS"/>
                          <a:sym typeface="Trebuchet MS"/>
                        </a:rPr>
                        <a:t>Stakeholder</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r>
              <a:tr h="1068126">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 Adoption par les collectionneurs : Résistance au changement des pratiques informelles établies</a:t>
                      </a:r>
                      <a:endParaRPr lang="en-US" sz="1100"/>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Programme de formation et d'incitation financière pour les premiers adoptants. Démonstration des gains de transparence et de traçabilité</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Sociétés cotonnières (SONAPRA), Coopératives agricoles, Ministère de l'Agriculture</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r>
              <a:tr h="1260760">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Connectivité limitée : Zones rurales avec accès internet instable ou inexistant</a:t>
                      </a:r>
                      <a:endParaRPr lang="en-US" sz="1100"/>
                    </a:p>
                    <a:p>
                      <a:pPr algn="l">
                        <a:lnSpc>
                          <a:spcPts val="2100"/>
                        </a:lnSpc>
                      </a:pPr>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Déploiement de la solution offline-first via USSD et PWA. Partenariat avec opérateurs télécoms pour améliorer la couverture.</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MTN Benin, Moov Africa, Ministère du Numérique et de la Digitalisation</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r h="1377839">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Réglementation des données : Conformité avec les lois sur la protection des données biométriques</a:t>
                      </a:r>
                      <a:endParaRPr lang="en-US" sz="1100"/>
                    </a:p>
                    <a:p>
                      <a:pPr algn="l">
                        <a:lnSpc>
                          <a:spcPts val="2100"/>
                        </a:lnSpc>
                      </a:pPr>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Collaboration avec les autorités pour garantir le respect du Code du Numérique. Audits de sécurité réguliers.</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APDP (Autorité de Protection des Données Personnelles), ARCEP Bénin</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r h="1260760">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Intégration Mobile Money : Accords techniques et commerciaux avec les opérateurs de paiement</a:t>
                      </a:r>
                      <a:endParaRPr lang="en-US" sz="1100"/>
                    </a:p>
                    <a:p>
                      <a:pPr algn="l">
                        <a:lnSpc>
                          <a:spcPts val="2100"/>
                        </a:lnSpc>
                      </a:pPr>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Partenariats stratégiques avec les plateformes Mobile Money existantes. API standardisées pour l'interopérabilité.</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MTN Mobile Money, Moov Money, BCEAO (Banque Centrale)</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r h="1260760">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Financement initial : Coûts de déploiement de l'infrastructure et formation des utilisateurs</a:t>
                      </a:r>
                      <a:endParaRPr lang="en-US" sz="1100"/>
                    </a:p>
                    <a:p>
                      <a:pPr algn="l">
                        <a:lnSpc>
                          <a:spcPts val="2100"/>
                        </a:lnSpc>
                      </a:pPr>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Recherche de subventions auprès d'organisations de développement. Modèle freemium avec frais minimes par transaction.</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Banque Mondiale, AFD, USAID, Fondations tech (Gates Foundation)</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r h="1260760">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Confiance des banques : Acceptation des credentials vérifiables comme preuves de revenus</a:t>
                      </a:r>
                      <a:endParaRPr lang="en-US" sz="1100"/>
                    </a:p>
                    <a:p>
                      <a:pPr algn="l">
                        <a:lnSpc>
                          <a:spcPts val="2100"/>
                        </a:lnSpc>
                      </a:pPr>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040"/>
                        </a:lnSpc>
                        <a:defRPr/>
                      </a:pPr>
                      <a:r>
                        <a:rPr lang="en-US" sz="1700">
                          <a:solidFill>
                            <a:srgbClr val="595959"/>
                          </a:solidFill>
                          <a:latin typeface="Trebuchet MS"/>
                          <a:ea typeface="Trebuchet MS"/>
                          <a:cs typeface="Trebuchet MS"/>
                          <a:sym typeface="Trebuchet MS"/>
                        </a:rPr>
                        <a:t>Pilotes avec institutions financières partenaires. Certification des credentials par des auditeurs indépendants.</a:t>
                      </a:r>
                      <a:endParaRPr lang="en-US" sz="1100"/>
                    </a:p>
                    <a:p>
                      <a:pPr algn="l">
                        <a:lnSpc>
                          <a:spcPts val="204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100"/>
                        </a:lnSpc>
                        <a:defRPr/>
                      </a:pPr>
                      <a:r>
                        <a:rPr lang="en-US" sz="1750">
                          <a:solidFill>
                            <a:srgbClr val="595959"/>
                          </a:solidFill>
                          <a:latin typeface="Trebuchet MS"/>
                          <a:ea typeface="Trebuchet MS"/>
                          <a:cs typeface="Trebuchet MS"/>
                          <a:sym typeface="Trebuchet MS"/>
                        </a:rPr>
                        <a:t>Banques commerciales (BIBE, BOA), Institutions de microfinance, Association Professionnelle des Banques</a:t>
                      </a:r>
                      <a:endParaRPr lang="en-US" sz="1100"/>
                    </a:p>
                    <a:p>
                      <a:pPr algn="l">
                        <a:lnSpc>
                          <a:spcPts val="2100"/>
                        </a:lnSpc>
                      </a:pPr>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7600950" cy="512064"/>
          </a:xfrm>
          <a:prstGeom prst="rect">
            <a:avLst/>
          </a:prstGeom>
        </p:spPr>
        <p:txBody>
          <a:bodyPr anchor="t" rtlCol="false" tIns="0" lIns="0" bIns="0" rIns="0">
            <a:spAutoFit/>
          </a:bodyPr>
          <a:lstStyle/>
          <a:p>
            <a:pPr algn="l">
              <a:lnSpc>
                <a:spcPts val="3888"/>
              </a:lnSpc>
            </a:pPr>
            <a:r>
              <a:rPr lang="en-US" sz="3600" b="true">
                <a:solidFill>
                  <a:srgbClr val="284181"/>
                </a:solidFill>
                <a:latin typeface="Trebuchet MS Bold"/>
                <a:ea typeface="Trebuchet MS Bold"/>
                <a:cs typeface="Trebuchet MS Bold"/>
                <a:sym typeface="Trebuchet MS Bold"/>
              </a:rPr>
              <a:t>STRATÉGIE DE COMMERCIALISATION</a:t>
            </a:r>
          </a:p>
        </p:txBody>
      </p:sp>
      <p:sp>
        <p:nvSpPr>
          <p:cNvPr name="TextBox 7" id="7"/>
          <p:cNvSpPr txBox="true"/>
          <p:nvPr/>
        </p:nvSpPr>
        <p:spPr>
          <a:xfrm rot="0">
            <a:off x="404440" y="1405712"/>
            <a:ext cx="17171422" cy="7077075"/>
          </a:xfrm>
          <a:prstGeom prst="rect">
            <a:avLst/>
          </a:prstGeom>
        </p:spPr>
        <p:txBody>
          <a:bodyPr anchor="t" rtlCol="false" tIns="0" lIns="0" bIns="0" rIns="0">
            <a:spAutoFit/>
          </a:bodyPr>
          <a:lstStyle/>
          <a:p>
            <a:pPr algn="l" marL="664774" indent="-332387" lvl="1">
              <a:lnSpc>
                <a:spcPts val="3359"/>
              </a:lnSpc>
              <a:buFont typeface="Arial"/>
              <a:buChar char="•"/>
            </a:pPr>
            <a:r>
              <a:rPr lang="en-US" b="true" sz="2799">
                <a:solidFill>
                  <a:srgbClr val="284181"/>
                </a:solidFill>
                <a:latin typeface="Trebuchet MS Bold"/>
                <a:ea typeface="Trebuchet MS Bold"/>
                <a:cs typeface="Trebuchet MS Bold"/>
                <a:sym typeface="Trebuchet MS Bold"/>
              </a:rPr>
              <a:t>Proposition de valeur :</a:t>
            </a:r>
          </a:p>
          <a:p>
            <a:pPr algn="just">
              <a:lnSpc>
                <a:spcPts val="2999"/>
              </a:lnSpc>
            </a:pPr>
            <a:r>
              <a:rPr lang="en-US" sz="2499">
                <a:solidFill>
                  <a:srgbClr val="2D2D2D"/>
                </a:solidFill>
                <a:latin typeface="Trebuchet MS"/>
                <a:ea typeface="Trebuchet MS"/>
                <a:cs typeface="Trebuchet MS"/>
                <a:sym typeface="Trebuchet MS"/>
              </a:rPr>
              <a:t>CottonPay donne aux producteurs de coton une preuve numérique infalsifiable de chaque livraison, transformant leur travail invisible en un historique économique certifié qui leur ouvre l'accès au crédit formel sans changer leurs habitudes au point de collecte.</a:t>
            </a:r>
          </a:p>
          <a:p>
            <a:pPr algn="just" marL="593548" indent="-296774" lvl="1">
              <a:lnSpc>
                <a:spcPts val="2999"/>
              </a:lnSpc>
            </a:pPr>
          </a:p>
          <a:p>
            <a:pPr algn="just" marL="664774" indent="-332387" lvl="1">
              <a:lnSpc>
                <a:spcPts val="3359"/>
              </a:lnSpc>
              <a:buFont typeface="Arial"/>
              <a:buChar char="•"/>
            </a:pPr>
            <a:r>
              <a:rPr lang="en-US" b="true" sz="2799">
                <a:solidFill>
                  <a:srgbClr val="284181"/>
                </a:solidFill>
                <a:latin typeface="Trebuchet MS Bold"/>
                <a:ea typeface="Trebuchet MS Bold"/>
                <a:cs typeface="Trebuchet MS Bold"/>
                <a:sym typeface="Trebuchet MS Bold"/>
              </a:rPr>
              <a:t>Canaux de distribution :</a:t>
            </a:r>
            <a:r>
              <a:rPr lang="en-US" b="true" sz="2799">
                <a:solidFill>
                  <a:srgbClr val="5A5A5A"/>
                </a:solidFill>
                <a:latin typeface="Trebuchet MS Bold"/>
                <a:ea typeface="Trebuchet MS Bold"/>
                <a:cs typeface="Trebuchet MS Bold"/>
                <a:sym typeface="Trebuchet MS Bold"/>
              </a:rPr>
              <a:t> </a:t>
            </a:r>
          </a:p>
          <a:p>
            <a:pPr algn="just" marL="1345405" indent="-448468" lvl="2">
              <a:lnSpc>
                <a:spcPts val="2999"/>
              </a:lnSpc>
              <a:buFont typeface="Arial"/>
              <a:buChar char="⚬"/>
            </a:pPr>
            <a:r>
              <a:rPr lang="en-US" sz="2499">
                <a:solidFill>
                  <a:srgbClr val="2D2D2D"/>
                </a:solidFill>
                <a:latin typeface="Trebuchet MS"/>
                <a:ea typeface="Trebuchet MS"/>
                <a:cs typeface="Trebuchet MS"/>
                <a:sym typeface="Trebuchet MS"/>
              </a:rPr>
              <a:t>Déploiement via les CVPC existantes : la structure coopérative est déjà en place dans chaque village cotonnier. CottonPay s'intègre directement dans le processus de collecte actuel, sans intermédiaire supplémentaire.</a:t>
            </a:r>
          </a:p>
          <a:p>
            <a:pPr algn="just" marL="1345405" indent="-448468" lvl="2">
              <a:lnSpc>
                <a:spcPts val="2999"/>
              </a:lnSpc>
              <a:buFont typeface="Arial"/>
              <a:buChar char="⚬"/>
            </a:pPr>
            <a:r>
              <a:rPr lang="en-US" sz="2499">
                <a:solidFill>
                  <a:srgbClr val="2D2D2D"/>
                </a:solidFill>
                <a:latin typeface="Trebuchet MS"/>
                <a:ea typeface="Trebuchet MS"/>
                <a:cs typeface="Trebuchet MS"/>
                <a:sym typeface="Trebuchet MS"/>
              </a:rPr>
              <a:t> L'AIC, en tant que coordinateur national de la filière, est le canal naturel pour le déploiement à l'échelle.</a:t>
            </a:r>
          </a:p>
          <a:p>
            <a:pPr algn="just" marL="1345405" indent="-448468" lvl="2">
              <a:lnSpc>
                <a:spcPts val="2999"/>
              </a:lnSpc>
              <a:buFont typeface="Arial"/>
              <a:buChar char="⚬"/>
            </a:pPr>
            <a:r>
              <a:rPr lang="en-US" sz="2499">
                <a:solidFill>
                  <a:srgbClr val="2D2D2D"/>
                </a:solidFill>
                <a:latin typeface="Trebuchet MS"/>
                <a:ea typeface="Trebuchet MS"/>
                <a:cs typeface="Trebuchet MS"/>
                <a:sym typeface="Trebuchet MS"/>
              </a:rPr>
              <a:t>Intégration avec l'infrastructure d'identité nationale (ANIP) pour une authentification fiable.</a:t>
            </a:r>
          </a:p>
          <a:p>
            <a:pPr algn="just" marL="1345405" indent="-448468" lvl="2">
              <a:lnSpc>
                <a:spcPts val="2999"/>
              </a:lnSpc>
              <a:buFont typeface="Arial"/>
              <a:buChar char="⚬"/>
            </a:pPr>
            <a:r>
              <a:rPr lang="en-US" sz="2499">
                <a:solidFill>
                  <a:srgbClr val="2D2D2D"/>
                </a:solidFill>
                <a:latin typeface="Trebuchet MS"/>
                <a:ea typeface="Trebuchet MS"/>
                <a:cs typeface="Trebuchet MS"/>
                <a:sym typeface="Trebuchet MS"/>
              </a:rPr>
              <a:t>Messages produits et tactiques marketing destinés aux utilisateurs : </a:t>
            </a:r>
          </a:p>
          <a:p>
            <a:pPr algn="just" marL="1345405" indent="-448468" lvl="2">
              <a:lnSpc>
                <a:spcPts val="2999"/>
              </a:lnSpc>
            </a:pPr>
          </a:p>
          <a:p>
            <a:pPr algn="just" marL="2056816" indent="-514204" lvl="3">
              <a:lnSpc>
                <a:spcPts val="2819"/>
              </a:lnSpc>
              <a:buFont typeface="Arial"/>
              <a:buChar char="￭"/>
            </a:pPr>
            <a:r>
              <a:rPr lang="en-US" sz="2349">
                <a:solidFill>
                  <a:srgbClr val="2D2D2D"/>
                </a:solidFill>
                <a:latin typeface="Trebuchet MS"/>
                <a:ea typeface="Trebuchet MS"/>
                <a:cs typeface="Trebuchet MS"/>
                <a:sym typeface="Trebuchet MS"/>
              </a:rPr>
              <a:t>"Votre coton, votre preuve, votre avenir" - Message centré sur la propriété et l'autonomisation. </a:t>
            </a:r>
          </a:p>
          <a:p>
            <a:pPr algn="just" marL="2188102" indent="-547025" lvl="3">
              <a:lnSpc>
                <a:spcPts val="2999"/>
              </a:lnSpc>
            </a:pPr>
          </a:p>
          <a:p>
            <a:pPr algn="just" marL="2056816" indent="-514204" lvl="3">
              <a:lnSpc>
                <a:spcPts val="2819"/>
              </a:lnSpc>
              <a:buFont typeface="Arial"/>
              <a:buChar char="￭"/>
            </a:pPr>
            <a:r>
              <a:rPr lang="en-US" sz="2349">
                <a:solidFill>
                  <a:srgbClr val="2D2D2D"/>
                </a:solidFill>
                <a:latin typeface="Trebuchet MS"/>
                <a:ea typeface="Trebuchet MS"/>
                <a:cs typeface="Trebuchet MS"/>
                <a:sym typeface="Trebuchet MS"/>
              </a:rPr>
              <a:t>Marketing tactiques incluent : démonstrations terrain lors des assemblées de coopératives, sessions de formation avec guides visuels pour utilisateurs analphabètes, spots radio en langues locales, et témoignages de coopératives pilotes montrant l'augmentation de l'accès au crédit.</a:t>
            </a:r>
          </a:p>
          <a:p>
            <a:pPr algn="l" marL="2188102" indent="-547025" lvl="3">
              <a:lnSpc>
                <a:spcPts val="299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grpSp>
        <p:nvGrpSpPr>
          <p:cNvPr name="Group 4" id="4"/>
          <p:cNvGrpSpPr/>
          <p:nvPr/>
        </p:nvGrpSpPr>
        <p:grpSpPr>
          <a:xfrm rot="0">
            <a:off x="2067324" y="1654444"/>
            <a:ext cx="14663531" cy="7602933"/>
            <a:chOff x="0" y="0"/>
            <a:chExt cx="20975307" cy="10875542"/>
          </a:xfrm>
        </p:grpSpPr>
        <p:sp>
          <p:nvSpPr>
            <p:cNvPr name="Freeform 5" id="5"/>
            <p:cNvSpPr/>
            <p:nvPr/>
          </p:nvSpPr>
          <p:spPr>
            <a:xfrm flipH="false" flipV="false" rot="0">
              <a:off x="0" y="0"/>
              <a:ext cx="20975307" cy="10875529"/>
            </a:xfrm>
            <a:custGeom>
              <a:avLst/>
              <a:gdLst/>
              <a:ahLst/>
              <a:cxnLst/>
              <a:rect r="r" b="b" t="t" l="l"/>
              <a:pathLst>
                <a:path h="10875529" w="20975307">
                  <a:moveTo>
                    <a:pt x="0" y="0"/>
                  </a:moveTo>
                  <a:lnTo>
                    <a:pt x="20975307" y="0"/>
                  </a:lnTo>
                  <a:lnTo>
                    <a:pt x="20975307" y="10875529"/>
                  </a:lnTo>
                  <a:lnTo>
                    <a:pt x="0" y="10875529"/>
                  </a:lnTo>
                  <a:lnTo>
                    <a:pt x="0" y="0"/>
                  </a:lnTo>
                  <a:close/>
                </a:path>
              </a:pathLst>
            </a:custGeom>
            <a:blipFill>
              <a:blip r:embed="rId2"/>
              <a:stretch>
                <a:fillRect l="0" t="-4123" r="0" b="-4123"/>
              </a:stretch>
            </a:blipFill>
          </p:spPr>
        </p:sp>
      </p:grpSp>
      <p:sp>
        <p:nvSpPr>
          <p:cNvPr name="TextBox 6" id="6"/>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‹N°›</a:t>
            </a:r>
          </a:p>
        </p:txBody>
      </p:sp>
      <p:sp>
        <p:nvSpPr>
          <p:cNvPr name="TextBox 7" id="7"/>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8" id="8"/>
          <p:cNvSpPr txBox="true"/>
          <p:nvPr/>
        </p:nvSpPr>
        <p:spPr>
          <a:xfrm rot="0">
            <a:off x="603371" y="201930"/>
            <a:ext cx="16928840" cy="920887"/>
          </a:xfrm>
          <a:prstGeom prst="rect">
            <a:avLst/>
          </a:prstGeom>
        </p:spPr>
        <p:txBody>
          <a:bodyPr anchor="t" rtlCol="false" tIns="0" lIns="0" bIns="0" rIns="0">
            <a:spAutoFit/>
          </a:bodyPr>
          <a:lstStyle/>
          <a:p>
            <a:pPr algn="l">
              <a:lnSpc>
                <a:spcPts val="5670"/>
              </a:lnSpc>
            </a:pPr>
            <a:r>
              <a:rPr lang="en-US" sz="3600" b="true">
                <a:solidFill>
                  <a:srgbClr val="284181"/>
                </a:solidFill>
                <a:latin typeface="Trebuchet MS Bold"/>
                <a:ea typeface="Trebuchet MS Bold"/>
                <a:cs typeface="Trebuchet MS Bold"/>
                <a:sym typeface="Trebuchet MS Bold"/>
              </a:rPr>
              <a:t>PROTOTYPE</a:t>
            </a:r>
          </a:p>
        </p:txBody>
      </p:sp>
      <p:sp>
        <p:nvSpPr>
          <p:cNvPr name="TextBox 9" id="9"/>
          <p:cNvSpPr txBox="true"/>
          <p:nvPr/>
        </p:nvSpPr>
        <p:spPr>
          <a:xfrm rot="0">
            <a:off x="7715717" y="1019175"/>
            <a:ext cx="2247751" cy="542925"/>
          </a:xfrm>
          <a:prstGeom prst="rect">
            <a:avLst/>
          </a:prstGeom>
        </p:spPr>
        <p:txBody>
          <a:bodyPr anchor="t" rtlCol="false" tIns="0" lIns="0" bIns="0" rIns="0">
            <a:spAutoFit/>
          </a:bodyPr>
          <a:lstStyle/>
          <a:p>
            <a:pPr algn="ctr">
              <a:lnSpc>
                <a:spcPts val="4265"/>
              </a:lnSpc>
              <a:spcBef>
                <a:spcPct val="0"/>
              </a:spcBef>
            </a:pPr>
            <a:r>
              <a:rPr lang="en-US" sz="3554" u="sng">
                <a:solidFill>
                  <a:srgbClr val="000000"/>
                </a:solidFill>
                <a:latin typeface="Trebuchet MS"/>
                <a:ea typeface="Trebuchet MS"/>
                <a:cs typeface="Trebuchet MS"/>
                <a:sym typeface="Trebuchet MS"/>
                <a:hlinkClick r:id="rId3" tooltip="https://www.youtube.com/watch?v=4Qb5R3kSnQI"/>
              </a:rPr>
              <a:t>Lien Video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700">
            <a:off x="681038" y="9575359"/>
            <a:ext cx="12025941" cy="0"/>
          </a:xfrm>
          <a:prstGeom prst="line">
            <a:avLst/>
          </a:prstGeom>
          <a:ln cap="rnd" w="9525">
            <a:solidFill>
              <a:srgbClr val="284181"/>
            </a:solidFill>
            <a:prstDash val="solid"/>
            <a:headEnd type="none" len="sm" w="sm"/>
            <a:tailEnd type="none" len="sm" w="sm"/>
          </a:ln>
        </p:spPr>
      </p:sp>
      <p:sp>
        <p:nvSpPr>
          <p:cNvPr name="AutoShape 3" id="3"/>
          <p:cNvSpPr/>
          <p:nvPr/>
        </p:nvSpPr>
        <p:spPr>
          <a:xfrm rot="-9780">
            <a:off x="12903117" y="9575359"/>
            <a:ext cx="3357534" cy="0"/>
          </a:xfrm>
          <a:prstGeom prst="line">
            <a:avLst/>
          </a:prstGeom>
          <a:ln cap="rnd" w="9525">
            <a:solidFill>
              <a:srgbClr val="00BFDF"/>
            </a:solidFill>
            <a:prstDash val="solid"/>
            <a:headEnd type="none" len="sm" w="sm"/>
            <a:tailEnd type="none" len="sm" w="sm"/>
          </a:ln>
        </p:spPr>
      </p:sp>
      <p:grpSp>
        <p:nvGrpSpPr>
          <p:cNvPr name="Group 4" id="4"/>
          <p:cNvGrpSpPr/>
          <p:nvPr/>
        </p:nvGrpSpPr>
        <p:grpSpPr>
          <a:xfrm rot="0">
            <a:off x="3139459" y="0"/>
            <a:ext cx="15166829" cy="9727178"/>
            <a:chOff x="0" y="0"/>
            <a:chExt cx="20222439" cy="12969570"/>
          </a:xfrm>
        </p:grpSpPr>
        <p:sp>
          <p:nvSpPr>
            <p:cNvPr name="Freeform 5" id="5"/>
            <p:cNvSpPr/>
            <p:nvPr/>
          </p:nvSpPr>
          <p:spPr>
            <a:xfrm flipH="false" flipV="false" rot="0">
              <a:off x="0" y="0"/>
              <a:ext cx="20222463" cy="12969621"/>
            </a:xfrm>
            <a:custGeom>
              <a:avLst/>
              <a:gdLst/>
              <a:ahLst/>
              <a:cxnLst/>
              <a:rect r="r" b="b" t="t" l="l"/>
              <a:pathLst>
                <a:path h="12969621" w="20222463">
                  <a:moveTo>
                    <a:pt x="0" y="0"/>
                  </a:moveTo>
                  <a:lnTo>
                    <a:pt x="20222463" y="0"/>
                  </a:lnTo>
                  <a:lnTo>
                    <a:pt x="20222463" y="12969621"/>
                  </a:lnTo>
                  <a:lnTo>
                    <a:pt x="0" y="12969621"/>
                  </a:lnTo>
                  <a:lnTo>
                    <a:pt x="0" y="0"/>
                  </a:lnTo>
                  <a:close/>
                </a:path>
              </a:pathLst>
            </a:custGeom>
            <a:blipFill>
              <a:blip r:embed="rId2"/>
              <a:stretch>
                <a:fillRect l="0" t="0" r="-351" b="0"/>
              </a:stretch>
            </a:blipFill>
          </p:spPr>
        </p:sp>
      </p:grpSp>
      <p:grpSp>
        <p:nvGrpSpPr>
          <p:cNvPr name="Group 6" id="6"/>
          <p:cNvGrpSpPr/>
          <p:nvPr/>
        </p:nvGrpSpPr>
        <p:grpSpPr>
          <a:xfrm rot="0">
            <a:off x="37338" y="0"/>
            <a:ext cx="18268950" cy="10287000"/>
            <a:chOff x="0" y="0"/>
            <a:chExt cx="24358600" cy="13716000"/>
          </a:xfrm>
        </p:grpSpPr>
        <p:sp>
          <p:nvSpPr>
            <p:cNvPr name="Freeform 7" id="7"/>
            <p:cNvSpPr/>
            <p:nvPr/>
          </p:nvSpPr>
          <p:spPr>
            <a:xfrm flipH="false" flipV="false" rot="0">
              <a:off x="0" y="0"/>
              <a:ext cx="24358600" cy="13716000"/>
            </a:xfrm>
            <a:custGeom>
              <a:avLst/>
              <a:gdLst/>
              <a:ahLst/>
              <a:cxnLst/>
              <a:rect r="r" b="b" t="t" l="l"/>
              <a:pathLst>
                <a:path h="13716000" w="24358600">
                  <a:moveTo>
                    <a:pt x="0" y="0"/>
                  </a:moveTo>
                  <a:lnTo>
                    <a:pt x="24358600" y="0"/>
                  </a:lnTo>
                  <a:lnTo>
                    <a:pt x="24358600" y="13716000"/>
                  </a:lnTo>
                  <a:lnTo>
                    <a:pt x="0" y="13716000"/>
                  </a:lnTo>
                  <a:lnTo>
                    <a:pt x="0" y="0"/>
                  </a:lnTo>
                  <a:close/>
                </a:path>
              </a:pathLst>
            </a:custGeom>
            <a:blipFill>
              <a:blip r:embed="rId3"/>
              <a:stretch>
                <a:fillRect l="-13" t="0" r="-13" b="0"/>
              </a:stretch>
            </a:blipFill>
          </p:spPr>
        </p:sp>
      </p:grpSp>
      <p:grpSp>
        <p:nvGrpSpPr>
          <p:cNvPr name="Group 8" id="8"/>
          <p:cNvGrpSpPr/>
          <p:nvPr/>
        </p:nvGrpSpPr>
        <p:grpSpPr>
          <a:xfrm rot="0">
            <a:off x="15338736" y="8296989"/>
            <a:ext cx="2781833" cy="1593980"/>
            <a:chOff x="0" y="0"/>
            <a:chExt cx="3709111" cy="2125307"/>
          </a:xfrm>
        </p:grpSpPr>
        <p:sp>
          <p:nvSpPr>
            <p:cNvPr name="Freeform 9" id="9"/>
            <p:cNvSpPr/>
            <p:nvPr/>
          </p:nvSpPr>
          <p:spPr>
            <a:xfrm flipH="false" flipV="false" rot="0">
              <a:off x="0" y="0"/>
              <a:ext cx="3709162" cy="2125345"/>
            </a:xfrm>
            <a:custGeom>
              <a:avLst/>
              <a:gdLst/>
              <a:ahLst/>
              <a:cxnLst/>
              <a:rect r="r" b="b" t="t" l="l"/>
              <a:pathLst>
                <a:path h="2125345" w="3709162">
                  <a:moveTo>
                    <a:pt x="0" y="0"/>
                  </a:moveTo>
                  <a:lnTo>
                    <a:pt x="3709162" y="0"/>
                  </a:lnTo>
                  <a:lnTo>
                    <a:pt x="3709162" y="2125345"/>
                  </a:lnTo>
                  <a:lnTo>
                    <a:pt x="0" y="2125345"/>
                  </a:lnTo>
                  <a:close/>
                </a:path>
              </a:pathLst>
            </a:custGeom>
            <a:solidFill>
              <a:srgbClr val="FFFFFF"/>
            </a:solidFill>
          </p:spPr>
        </p:sp>
      </p:grpSp>
      <p:grpSp>
        <p:nvGrpSpPr>
          <p:cNvPr name="Group 10" id="10"/>
          <p:cNvGrpSpPr/>
          <p:nvPr/>
        </p:nvGrpSpPr>
        <p:grpSpPr>
          <a:xfrm rot="0">
            <a:off x="512997" y="7206339"/>
            <a:ext cx="8957567" cy="897953"/>
            <a:chOff x="0" y="0"/>
            <a:chExt cx="11943423" cy="1197270"/>
          </a:xfrm>
        </p:grpSpPr>
        <p:sp>
          <p:nvSpPr>
            <p:cNvPr name="Freeform 11" id="11"/>
            <p:cNvSpPr/>
            <p:nvPr/>
          </p:nvSpPr>
          <p:spPr>
            <a:xfrm flipH="false" flipV="false" rot="0">
              <a:off x="0" y="0"/>
              <a:ext cx="11943428" cy="1197272"/>
            </a:xfrm>
            <a:custGeom>
              <a:avLst/>
              <a:gdLst/>
              <a:ahLst/>
              <a:cxnLst/>
              <a:rect r="r" b="b" t="t" l="l"/>
              <a:pathLst>
                <a:path h="1197272" w="11943428">
                  <a:moveTo>
                    <a:pt x="0" y="0"/>
                  </a:moveTo>
                  <a:lnTo>
                    <a:pt x="11943428" y="0"/>
                  </a:lnTo>
                  <a:lnTo>
                    <a:pt x="11943428" y="1197272"/>
                  </a:lnTo>
                  <a:lnTo>
                    <a:pt x="0" y="1197272"/>
                  </a:lnTo>
                  <a:close/>
                </a:path>
              </a:pathLst>
            </a:custGeom>
            <a:blipFill>
              <a:blip r:embed="rId4">
                <a:alphaModFix amt="0"/>
              </a:blip>
              <a:stretch>
                <a:fillRect l="0" t="-149123" r="0" b="-139623"/>
              </a:stretch>
            </a:blipFill>
          </p:spPr>
        </p:sp>
        <p:sp>
          <p:nvSpPr>
            <p:cNvPr name="TextBox 12" id="12"/>
            <p:cNvSpPr txBox="true"/>
            <p:nvPr/>
          </p:nvSpPr>
          <p:spPr>
            <a:xfrm>
              <a:off x="0" y="38100"/>
              <a:ext cx="11943423" cy="1159170"/>
            </a:xfrm>
            <a:prstGeom prst="rect">
              <a:avLst/>
            </a:prstGeom>
          </p:spPr>
          <p:txBody>
            <a:bodyPr anchor="b" rtlCol="false" tIns="0" lIns="0" bIns="0" rIns="0"/>
            <a:lstStyle/>
            <a:p>
              <a:pPr algn="l">
                <a:lnSpc>
                  <a:spcPts val="5248"/>
                </a:lnSpc>
              </a:pPr>
              <a:r>
                <a:rPr lang="en-US" sz="4859" b="true">
                  <a:solidFill>
                    <a:srgbClr val="284181"/>
                  </a:solidFill>
                  <a:latin typeface="Trebuchet MS Bold"/>
                  <a:ea typeface="Trebuchet MS Bold"/>
                  <a:cs typeface="Trebuchet MS Bold"/>
                  <a:sym typeface="Trebuchet MS Bold"/>
                </a:rPr>
                <a:t>MERCI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DAHI3pbCxyw</dc:identifier>
  <dcterms:modified xsi:type="dcterms:W3CDTF">2011-08-01T06:04:30Z</dcterms:modified>
  <cp:revision>1</cp:revision>
  <dc:title>EVOLUTICS</dc:title>
</cp:coreProperties>
</file>